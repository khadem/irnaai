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9" r:id="rId2"/>
    <p:sldId id="268" r:id="rId3"/>
    <p:sldId id="310" r:id="rId4"/>
    <p:sldId id="282" r:id="rId5"/>
    <p:sldId id="336" r:id="rId6"/>
    <p:sldId id="339" r:id="rId7"/>
    <p:sldId id="340" r:id="rId8"/>
    <p:sldId id="342" r:id="rId9"/>
    <p:sldId id="348" r:id="rId10"/>
    <p:sldId id="346" r:id="rId11"/>
    <p:sldId id="341" r:id="rId12"/>
    <p:sldId id="343" r:id="rId13"/>
    <p:sldId id="347" r:id="rId14"/>
    <p:sldId id="344" r:id="rId15"/>
    <p:sldId id="345" r:id="rId16"/>
    <p:sldId id="332" r:id="rId17"/>
    <p:sldId id="335" r:id="rId18"/>
    <p:sldId id="309" r:id="rId19"/>
    <p:sldId id="290" r:id="rId20"/>
    <p:sldId id="267" r:id="rId21"/>
  </p:sldIdLst>
  <p:sldSz cx="24382413" cy="13716000"/>
  <p:notesSz cx="9144000" cy="6858000"/>
  <p:defaultTextStyle>
    <a:defPPr>
      <a:defRPr lang="fa-IR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3"/>
    <a:srgbClr val="CE7E42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3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584BE07-979B-4FA0-9B38-E292101A23E7}" type="datetimeFigureOut">
              <a:rPr lang="fa-IR" smtClean="0"/>
              <a:t>29/04/1447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B7AA89C-E3E8-4575-B91A-838C281437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28512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imia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634" y="4415090"/>
            <a:ext cx="15820845" cy="18610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8000" b="1">
                <a:solidFill>
                  <a:schemeClr val="bg1"/>
                </a:solidFill>
                <a:latin typeface="B Yekan" panose="00000400000000000000" pitchFamily="2" charset="-78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34" y="5825715"/>
            <a:ext cx="15820845" cy="12670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B Yekan" panose="00000400000000000000" pitchFamily="2" charset="-78"/>
                <a:cs typeface="+mj-cs"/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358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ounc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76710" y="2529544"/>
            <a:ext cx="14130164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a-IR" dirty="0"/>
              <a:t>اعلان سلب مسئولیت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63020" y="10481076"/>
            <a:ext cx="2257933" cy="1224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727209" y="2541797"/>
            <a:ext cx="1059890" cy="901517"/>
          </a:xfrm>
          <a:prstGeom prst="rect">
            <a:avLst/>
          </a:prstGeom>
        </p:spPr>
      </p:pic>
      <p:sp>
        <p:nvSpPr>
          <p:cNvPr id="7" name="Title Placeholder 1"/>
          <p:cNvSpPr txBox="1">
            <a:spLocks/>
          </p:cNvSpPr>
          <p:nvPr userDrawn="1"/>
        </p:nvSpPr>
        <p:spPr>
          <a:xfrm>
            <a:off x="1276709" y="4063028"/>
            <a:ext cx="15510391" cy="37028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4700" b="1" kern="1200">
                <a:solidFill>
                  <a:schemeClr val="bg1"/>
                </a:solidFill>
                <a:latin typeface="+mj-lt"/>
                <a:ea typeface="+mj-ea"/>
                <a:cs typeface="B Yekan" panose="00000400000000000000" pitchFamily="2" charset="-78"/>
              </a:defRPr>
            </a:lvl1pPr>
          </a:lstStyle>
          <a:p>
            <a:pPr algn="just"/>
            <a:r>
              <a:rPr lang="fa-IR" sz="3600" b="0" dirty="0"/>
              <a:t>محتوای گزارش تهیه شده، صرفا جهت بررسی بوده و شرکت تامین سرمایه</a:t>
            </a:r>
            <a:r>
              <a:rPr lang="fa-IR" sz="3600" b="0" baseline="0" dirty="0"/>
              <a:t> کیمیا</a:t>
            </a:r>
            <a:r>
              <a:rPr lang="fa-IR" sz="3600" b="0" dirty="0"/>
              <a:t> هیچگونه مسئولیتی در قبال معاملات انجام شده با اتکاء بر اطلاعات این گزارش بر عهده ندارد.</a:t>
            </a:r>
          </a:p>
          <a:p>
            <a:pPr algn="just"/>
            <a:r>
              <a:rPr lang="fa-IR" sz="3600" b="0" dirty="0"/>
              <a:t>محتوای این گزارش به تنهایی نمی</a:t>
            </a:r>
            <a:r>
              <a:rPr lang="fa-IR" sz="3600" b="0" baseline="0" dirty="0"/>
              <a:t>‌</a:t>
            </a:r>
            <a:r>
              <a:rPr lang="fa-IR" sz="3600" b="0" dirty="0"/>
              <a:t>تواند به عنوان ارائه راه‌حل سرمایه‌گذاری، پیشنهاد معامله، ایجاب برای خرید و فروش هرگونه اوراق بهادار و یا سایر ابزارهای مالی و یا ترغیب به اتخاذ هرگونه تصمیم مالی و تجاری تلقی گردد.</a:t>
            </a:r>
            <a:endParaRPr lang="en-US" sz="3600" b="0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311214" y="8210690"/>
            <a:ext cx="15510391" cy="15977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4700" b="1" kern="1200">
                <a:solidFill>
                  <a:schemeClr val="bg1"/>
                </a:solidFill>
                <a:latin typeface="+mj-lt"/>
                <a:ea typeface="+mj-ea"/>
                <a:cs typeface="B Yekan" panose="00000400000000000000" pitchFamily="2" charset="-78"/>
              </a:defRPr>
            </a:lvl1pPr>
          </a:lstStyle>
          <a:p>
            <a:pPr algn="just"/>
            <a:r>
              <a:rPr lang="fa-IR" sz="3600" b="0" dirty="0"/>
              <a:t>اطلاعات و مفروضات این گزارش می‌تواند در هر لحظه با توجه به مفروضات تحلیل تغییر کند و این شرکت هیچگونه مسئولیتی در قبال عدم بروزرسانی این اطلاعات به عهده ندارد.</a:t>
            </a:r>
            <a:endParaRPr lang="en-US" sz="3600" b="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311214" y="3959510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276708" y="7965046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363020" y="10031479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5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cs typeface="B Koodak" panose="000007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024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4400" y="6026727"/>
            <a:ext cx="15323127" cy="515389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cs typeface="B Yeka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33600" y="2784764"/>
            <a:ext cx="20061382" cy="3241964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2975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 or char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1309" y="2784764"/>
            <a:ext cx="10681855" cy="845127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954000" y="2784763"/>
            <a:ext cx="92409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9626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983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Titr+pic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4" name="Rounded Rectangle 3"/>
          <p:cNvSpPr/>
          <p:nvPr userDrawn="1"/>
        </p:nvSpPr>
        <p:spPr>
          <a:xfrm>
            <a:off x="1663591" y="1529015"/>
            <a:ext cx="21029831" cy="225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6" y="1841869"/>
            <a:ext cx="19908982" cy="169104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50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814944" y="4045236"/>
            <a:ext cx="20754111" cy="7149234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970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7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full pag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24391242" cy="13716000"/>
          </a:xfrm>
          <a:custGeom>
            <a:avLst/>
            <a:gdLst>
              <a:gd name="connsiteX0" fmla="*/ 6770616 w 24391242"/>
              <a:gd name="connsiteY0" fmla="*/ 3365604 h 13716000"/>
              <a:gd name="connsiteX1" fmla="*/ 6770616 w 24391242"/>
              <a:gd name="connsiteY1" fmla="*/ 9826070 h 13716000"/>
              <a:gd name="connsiteX2" fmla="*/ 16829016 w 24391242"/>
              <a:gd name="connsiteY2" fmla="*/ 9826070 h 13716000"/>
              <a:gd name="connsiteX3" fmla="*/ 16829016 w 24391242"/>
              <a:gd name="connsiteY3" fmla="*/ 3365604 h 13716000"/>
              <a:gd name="connsiteX4" fmla="*/ 0 w 24391242"/>
              <a:gd name="connsiteY4" fmla="*/ 0 h 13716000"/>
              <a:gd name="connsiteX5" fmla="*/ 24391242 w 24391242"/>
              <a:gd name="connsiteY5" fmla="*/ 0 h 13716000"/>
              <a:gd name="connsiteX6" fmla="*/ 24391242 w 24391242"/>
              <a:gd name="connsiteY6" fmla="*/ 13716000 h 13716000"/>
              <a:gd name="connsiteX7" fmla="*/ 0 w 24391242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91242" h="13716000">
                <a:moveTo>
                  <a:pt x="6770616" y="3365604"/>
                </a:moveTo>
                <a:lnTo>
                  <a:pt x="6770616" y="9826070"/>
                </a:lnTo>
                <a:lnTo>
                  <a:pt x="16829016" y="9826070"/>
                </a:lnTo>
                <a:lnTo>
                  <a:pt x="16829016" y="3365604"/>
                </a:lnTo>
                <a:close/>
                <a:moveTo>
                  <a:pt x="0" y="0"/>
                </a:moveTo>
                <a:lnTo>
                  <a:pt x="24391242" y="0"/>
                </a:lnTo>
                <a:lnTo>
                  <a:pt x="24391242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anchor="ctr" anchorCtr="1">
            <a:noAutofit/>
          </a:bodyPr>
          <a:lstStyle/>
          <a:p>
            <a:endParaRPr lang="fa-IR" dirty="0"/>
          </a:p>
        </p:txBody>
      </p:sp>
      <p:sp>
        <p:nvSpPr>
          <p:cNvPr id="13" name="Slide Number Placeholder 5" hidden="1"/>
          <p:cNvSpPr txBox="1">
            <a:spLocks/>
          </p:cNvSpPr>
          <p:nvPr userDrawn="1"/>
        </p:nvSpPr>
        <p:spPr>
          <a:xfrm>
            <a:off x="376686" y="125373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r" defTabSz="1828709" rtl="0" eaLnBrk="1" latinLnBrk="0" hangingPunct="1">
              <a:defRPr sz="2400" kern="1200">
                <a:solidFill>
                  <a:srgbClr val="164193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773" y="3373438"/>
            <a:ext cx="10058400" cy="64604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993467" y="5607218"/>
            <a:ext cx="9464960" cy="1128523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45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993466" y="4554527"/>
            <a:ext cx="9465733" cy="1000125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44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half pag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60520" y="793630"/>
            <a:ext cx="15748981" cy="12321519"/>
          </a:xfrm>
          <a:custGeom>
            <a:avLst/>
            <a:gdLst>
              <a:gd name="connsiteX0" fmla="*/ 0 w 15748981"/>
              <a:gd name="connsiteY0" fmla="*/ 0 h 12321519"/>
              <a:gd name="connsiteX1" fmla="*/ 15748981 w 15748981"/>
              <a:gd name="connsiteY1" fmla="*/ 0 h 12321519"/>
              <a:gd name="connsiteX2" fmla="*/ 15748981 w 15748981"/>
              <a:gd name="connsiteY2" fmla="*/ 2169704 h 12321519"/>
              <a:gd name="connsiteX3" fmla="*/ 13181362 w 15748981"/>
              <a:gd name="connsiteY3" fmla="*/ 2169704 h 12321519"/>
              <a:gd name="connsiteX4" fmla="*/ 13181362 w 15748981"/>
              <a:gd name="connsiteY4" fmla="*/ 10336895 h 12321519"/>
              <a:gd name="connsiteX5" fmla="*/ 15748981 w 15748981"/>
              <a:gd name="connsiteY5" fmla="*/ 10336895 h 12321519"/>
              <a:gd name="connsiteX6" fmla="*/ 15748981 w 15748981"/>
              <a:gd name="connsiteY6" fmla="*/ 12321519 h 12321519"/>
              <a:gd name="connsiteX7" fmla="*/ 0 w 15748981"/>
              <a:gd name="connsiteY7" fmla="*/ 12321519 h 1232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48981" h="12321519">
                <a:moveTo>
                  <a:pt x="0" y="0"/>
                </a:moveTo>
                <a:lnTo>
                  <a:pt x="15748981" y="0"/>
                </a:lnTo>
                <a:lnTo>
                  <a:pt x="15748981" y="2169704"/>
                </a:lnTo>
                <a:lnTo>
                  <a:pt x="13181362" y="2169704"/>
                </a:lnTo>
                <a:lnTo>
                  <a:pt x="13181362" y="10336895"/>
                </a:lnTo>
                <a:lnTo>
                  <a:pt x="15748981" y="10336895"/>
                </a:lnTo>
                <a:lnTo>
                  <a:pt x="15748981" y="12321519"/>
                </a:lnTo>
                <a:lnTo>
                  <a:pt x="0" y="1232151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fa-IR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00600" y="11273519"/>
            <a:ext cx="1864358" cy="714972"/>
          </a:xfrm>
          <a:prstGeom prst="rect">
            <a:avLst/>
          </a:prstGeom>
        </p:spPr>
      </p:pic>
      <p:sp>
        <p:nvSpPr>
          <p:cNvPr id="10" name="Slide Number Placeholder 5" hidden="1"/>
          <p:cNvSpPr txBox="1">
            <a:spLocks/>
          </p:cNvSpPr>
          <p:nvPr userDrawn="1"/>
        </p:nvSpPr>
        <p:spPr>
          <a:xfrm>
            <a:off x="376686" y="125373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r" defTabSz="1828709" rtl="0" eaLnBrk="1" latinLnBrk="0" hangingPunct="1">
              <a:defRPr sz="2400" kern="1200">
                <a:solidFill>
                  <a:srgbClr val="164193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139" y="2963333"/>
            <a:ext cx="9607416" cy="8183033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948140" y="6250685"/>
            <a:ext cx="9464960" cy="1128523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45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948138" y="5386556"/>
            <a:ext cx="9464962" cy="864129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  <a:lvl3pPr marL="1162823" indent="0">
              <a:buNone/>
              <a:defRPr/>
            </a:lvl3pPr>
            <a:lvl4pPr marL="2026823" indent="0">
              <a:buNone/>
              <a:defRPr/>
            </a:lvl4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352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no 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180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 or table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4400" y="6026727"/>
            <a:ext cx="15323127" cy="515389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33600" y="2784764"/>
            <a:ext cx="20061382" cy="3241964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67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table or chart (2 column)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1309" y="2784764"/>
            <a:ext cx="10681855" cy="845127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954000" y="2784763"/>
            <a:ext cx="92409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8569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877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Titr+pic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4" name="Rounded Rectangle 3"/>
          <p:cNvSpPr/>
          <p:nvPr userDrawn="1"/>
        </p:nvSpPr>
        <p:spPr>
          <a:xfrm>
            <a:off x="1663591" y="1529015"/>
            <a:ext cx="21029831" cy="225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6" y="1841869"/>
            <a:ext cx="19908982" cy="169104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50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814944" y="4045236"/>
            <a:ext cx="20754111" cy="7149234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7308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217333" y="5979288"/>
            <a:ext cx="6036205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sz="5200" baseline="0"/>
            </a:lvl1pPr>
          </a:lstStyle>
          <a:p>
            <a:r>
              <a:rPr lang="fa-IR" dirty="0"/>
              <a:t>با تشکر از توجه شما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920379" y="5741508"/>
            <a:ext cx="0" cy="148742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6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 amt="46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784762"/>
            <a:ext cx="20061382" cy="8451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a-IR" noProof="0" dirty="0" err="1"/>
              <a:t>سرفصل‌های</a:t>
            </a:r>
            <a:r>
              <a:rPr lang="fa-IR" noProof="0" dirty="0"/>
              <a:t> مورد نظر</a:t>
            </a:r>
          </a:p>
          <a:p>
            <a:pPr lvl="1"/>
            <a:r>
              <a:rPr lang="fa-IR" noProof="0" dirty="0"/>
              <a:t>گزینه اول</a:t>
            </a:r>
          </a:p>
          <a:p>
            <a:pPr lvl="2"/>
            <a:r>
              <a:rPr lang="fa-IR" noProof="0" dirty="0"/>
              <a:t>موضوع دوم</a:t>
            </a:r>
          </a:p>
          <a:p>
            <a:pPr lvl="3"/>
            <a:r>
              <a:rPr lang="fa-IR" noProof="0" dirty="0"/>
              <a:t>موضوع سوم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4286" y="123849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164193"/>
                </a:solidFill>
                <a:cs typeface="B Yekan" panose="00000400000000000000" pitchFamily="2" charset="-78"/>
              </a:defRPr>
            </a:lvl1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676291" y="928133"/>
            <a:ext cx="21945709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a-IR" noProof="0" dirty="0"/>
              <a:t>عنوان اسلاید</a:t>
            </a:r>
          </a:p>
        </p:txBody>
      </p:sp>
    </p:spTree>
    <p:extLst>
      <p:ext uri="{BB962C8B-B14F-4D97-AF65-F5344CB8AC3E}">
        <p14:creationId xmlns:p14="http://schemas.microsoft.com/office/powerpoint/2010/main" val="83535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4" r:id="rId4"/>
    <p:sldLayoutId id="2147483665" r:id="rId5"/>
    <p:sldLayoutId id="2147483666" r:id="rId6"/>
    <p:sldLayoutId id="2147483663" r:id="rId7"/>
    <p:sldLayoutId id="2147483671" r:id="rId8"/>
    <p:sldLayoutId id="2147483672" r:id="rId9"/>
    <p:sldLayoutId id="2147483668" r:id="rId10"/>
    <p:sldLayoutId id="2147483674" r:id="rId11"/>
    <p:sldLayoutId id="2147483675" r:id="rId12"/>
    <p:sldLayoutId id="2147483676" r:id="rId13"/>
    <p:sldLayoutId id="2147483673" r:id="rId14"/>
    <p:sldLayoutId id="2147483669" r:id="rId15"/>
  </p:sldLayoutIdLst>
  <p:hf hdr="0" dt="0"/>
  <p:txStyles>
    <p:titleStyle>
      <a:lvl1pPr marL="685800" indent="-685800" algn="r" defTabSz="1828709" rtl="1" eaLnBrk="1" latinLnBrk="0" hangingPunct="1">
        <a:lnSpc>
          <a:spcPct val="90000"/>
        </a:lnSpc>
        <a:spcBef>
          <a:spcPct val="0"/>
        </a:spcBef>
        <a:buSzPct val="80000"/>
        <a:buFontTx/>
        <a:buBlip>
          <a:blip r:embed="rId18"/>
        </a:buBlip>
        <a:defRPr sz="4700" b="1" kern="1200" baseline="0">
          <a:solidFill>
            <a:srgbClr val="164193"/>
          </a:solidFill>
          <a:latin typeface="+mj-lt"/>
          <a:ea typeface="+mj-ea"/>
          <a:cs typeface="B Koodak" panose="00000700000000000000" pitchFamily="2" charset="-78"/>
        </a:defRPr>
      </a:lvl1pPr>
    </p:titleStyle>
    <p:bodyStyle>
      <a:lvl1pPr marL="0" indent="0" algn="just" defTabSz="1828709" rtl="1" eaLnBrk="1" latinLnBrk="0" hangingPunct="1">
        <a:lnSpc>
          <a:spcPct val="150000"/>
        </a:lnSpc>
        <a:spcBef>
          <a:spcPts val="0"/>
        </a:spcBef>
        <a:buFontTx/>
        <a:buNone/>
        <a:defRPr sz="3000" b="1" kern="1200">
          <a:solidFill>
            <a:srgbClr val="164193"/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1pPr>
      <a:lvl2pPr marL="540000" indent="0" algn="just" defTabSz="1828709" rtl="1" eaLnBrk="1" latinLnBrk="0" hangingPunct="1">
        <a:lnSpc>
          <a:spcPct val="150000"/>
        </a:lnSpc>
        <a:spcBef>
          <a:spcPts val="0"/>
        </a:spcBef>
        <a:buFontTx/>
        <a:buNone/>
        <a:defRPr sz="3000" kern="1200">
          <a:solidFill>
            <a:schemeClr val="tx1">
              <a:lumMod val="65000"/>
              <a:lumOff val="35000"/>
            </a:schemeClr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2pPr>
      <a:lvl3pPr marL="1620000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rgbClr val="CE7E42"/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3pPr>
      <a:lvl4pPr marL="2484000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4pPr>
      <a:lvl5pPr marL="4114594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IRANYekan" panose="020B0506030804020204" pitchFamily="34" charset="-78"/>
          <a:ea typeface="+mn-ea"/>
          <a:cs typeface="IRANYekan" panose="020B0506030804020204" pitchFamily="34" charset="-78"/>
        </a:defRPr>
      </a:lvl5pPr>
      <a:lvl6pPr marL="5028949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mstudio.ai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khadem/IrnaAI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zapier.com/" TargetMode="External"/><Relationship Id="rId2" Type="http://schemas.openxmlformats.org/officeDocument/2006/relationships/hyperlink" Target="https://ai.rating.community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n8n.io/" TargetMode="External"/><Relationship Id="rId4" Type="http://schemas.openxmlformats.org/officeDocument/2006/relationships/hyperlink" Target="https://www.make.com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solidFill>
                  <a:srgbClr val="164193"/>
                </a:solidFill>
              </a:rPr>
              <a:t>کاربردهای هوش مصنوعی در خبرنگاری</a:t>
            </a:r>
            <a:br>
              <a:rPr lang="fa-IR" dirty="0">
                <a:solidFill>
                  <a:srgbClr val="164193"/>
                </a:solidFill>
              </a:rPr>
            </a:br>
            <a:r>
              <a:rPr lang="fa-IR" sz="5400" dirty="0">
                <a:solidFill>
                  <a:srgbClr val="164193"/>
                </a:solidFill>
              </a:rPr>
              <a:t>جلسه پنجم: آینده خبرنگاری هوشمند + </a:t>
            </a:r>
            <a:r>
              <a:rPr lang="fa-IR" sz="5400">
                <a:solidFill>
                  <a:srgbClr val="164193"/>
                </a:solidFill>
              </a:rPr>
              <a:t>کارگاه عملی</a:t>
            </a:r>
            <a:endParaRPr lang="fa-IR" sz="5400" dirty="0">
              <a:solidFill>
                <a:srgbClr val="164193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33" y="7011048"/>
            <a:ext cx="15820845" cy="1267064"/>
          </a:xfrm>
        </p:spPr>
        <p:txBody>
          <a:bodyPr>
            <a:normAutofit fontScale="70000" lnSpcReduction="20000"/>
          </a:bodyPr>
          <a:lstStyle/>
          <a:p>
            <a:r>
              <a:rPr lang="fa-IR" dirty="0">
                <a:solidFill>
                  <a:srgbClr val="CE7E42"/>
                </a:solidFill>
              </a:rPr>
              <a:t>مهر ماه 1404</a:t>
            </a:r>
          </a:p>
          <a:p>
            <a:r>
              <a:rPr lang="fa-IR" dirty="0">
                <a:solidFill>
                  <a:srgbClr val="CE7E42"/>
                </a:solidFill>
              </a:rPr>
              <a:t>مصطفی خادم المله</a:t>
            </a:r>
          </a:p>
        </p:txBody>
      </p:sp>
    </p:spTree>
    <p:extLst>
      <p:ext uri="{BB962C8B-B14F-4D97-AF65-F5344CB8AC3E}">
        <p14:creationId xmlns:p14="http://schemas.microsoft.com/office/powerpoint/2010/main" val="316975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32C7B-AD64-4B5B-A15F-159C00BF1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524" y="928133"/>
            <a:ext cx="14135364" cy="93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9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📌 مرور سریع دوره:</a:t>
            </a:r>
          </a:p>
          <a:p>
            <a:pPr marL="571500" indent="-571500">
              <a:buFontTx/>
              <a:buChar char="-"/>
            </a:pPr>
            <a:r>
              <a:rPr lang="fa-IR" sz="4000" b="0" dirty="0">
                <a:cs typeface="B Koodak" panose="00000700000000000000" pitchFamily="2" charset="-78"/>
              </a:rPr>
              <a:t>جلسه ۱ ←  مقدمه بر هوش مصنوعی و تحولات آن در رسانه</a:t>
            </a:r>
          </a:p>
          <a:p>
            <a:pPr marL="571500" indent="-571500">
              <a:buFontTx/>
              <a:buChar char="-"/>
            </a:pPr>
            <a:r>
              <a:rPr lang="fa-IR" sz="4000" b="0" dirty="0">
                <a:cs typeface="B Koodak" panose="00000700000000000000" pitchFamily="2" charset="-78"/>
              </a:rPr>
              <a:t>جلسه ۲ ←  جمع‌آوری و تحلیل اخبار با هوش مصنوعی</a:t>
            </a:r>
          </a:p>
          <a:p>
            <a:pPr marL="571500" indent="-571500">
              <a:buFontTx/>
              <a:buChar char="-"/>
            </a:pPr>
            <a:r>
              <a:rPr lang="fa-IR" sz="4000" b="0" dirty="0">
                <a:cs typeface="B Koodak" panose="00000700000000000000" pitchFamily="2" charset="-78"/>
              </a:rPr>
              <a:t>جلسه ۳ ←  تولید خودکار محتوا و نگارش هوشمند</a:t>
            </a:r>
          </a:p>
          <a:p>
            <a:pPr marL="571500" indent="-571500">
              <a:buFontTx/>
              <a:buChar char="-"/>
            </a:pPr>
            <a:r>
              <a:rPr lang="fa-IR" sz="4000" b="0" dirty="0">
                <a:cs typeface="B Koodak" panose="00000700000000000000" pitchFamily="2" charset="-78"/>
              </a:rPr>
              <a:t>جلسه ۴ ←  ویرایش، </a:t>
            </a:r>
            <a:r>
              <a:rPr lang="en-US" sz="4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Fact-Checking </a:t>
            </a:r>
            <a:r>
              <a:rPr lang="fa-IR" sz="4000" b="0" dirty="0">
                <a:cs typeface="B Koodak" panose="00000700000000000000" pitchFamily="2" charset="-78"/>
              </a:rPr>
              <a:t> و اخلاق</a:t>
            </a:r>
          </a:p>
          <a:p>
            <a:pPr marL="571500" indent="-571500">
              <a:buFontTx/>
              <a:buChar char="-"/>
            </a:pPr>
            <a:r>
              <a:rPr lang="fa-IR" sz="4000" b="0" dirty="0">
                <a:cs typeface="B Koodak" panose="00000700000000000000" pitchFamily="2" charset="-78"/>
              </a:rPr>
              <a:t>جلسه 5 ← جمع‌بندی و ساخت عامل هوشمند (</a:t>
            </a:r>
            <a:r>
              <a:rPr lang="en-US" sz="4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Agent</a:t>
            </a:r>
            <a:r>
              <a:rPr lang="fa-IR" sz="4000" b="0" dirty="0">
                <a:cs typeface="B Koodak" panose="00000700000000000000" pitchFamily="2" charset="-78"/>
              </a:rPr>
              <a:t>)</a:t>
            </a:r>
          </a:p>
          <a:p>
            <a:pPr marL="571500" indent="-571500">
              <a:buFontTx/>
              <a:buChar char="-"/>
            </a:pPr>
            <a:endParaRPr lang="fa-IR" sz="4000" b="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b="0" dirty="0">
              <a:cs typeface="B Koodak" panose="00000700000000000000" pitchFamily="2" charset="-78"/>
            </a:endParaRPr>
          </a:p>
          <a:p>
            <a:r>
              <a:rPr lang="fa-IR" sz="4000" b="0" dirty="0">
                <a:solidFill>
                  <a:srgbClr val="CE7E42"/>
                </a:solidFill>
                <a:cs typeface="B Koodak" panose="00000700000000000000" pitchFamily="2" charset="-78"/>
              </a:rPr>
              <a:t>🎯 امروز:</a:t>
            </a:r>
            <a:r>
              <a:rPr lang="fa-IR" sz="4000" b="0" dirty="0">
                <a:cs typeface="B Koodak" panose="00000700000000000000" pitchFamily="2" charset="-78"/>
              </a:rPr>
              <a:t> ترکیب همه این مهارت‌ها در یک پروژه عملی + نگاه به آینده!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193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🔮 پیش‌بینی‌های کلیدی: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خبرنگاران = مدیران داده + </a:t>
            </a:r>
            <a:r>
              <a:rPr lang="fa-IR" sz="4000" dirty="0" err="1">
                <a:cs typeface="B Koodak" panose="00000700000000000000" pitchFamily="2" charset="-78"/>
              </a:rPr>
              <a:t>روایت‌گران</a:t>
            </a:r>
            <a:r>
              <a:rPr lang="fa-IR" sz="4000" dirty="0">
                <a:cs typeface="B Koodak" panose="00000700000000000000" pitchFamily="2" charset="-78"/>
              </a:rPr>
              <a:t> هوشمند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اخبار </a:t>
            </a:r>
            <a:r>
              <a:rPr lang="fa-IR" sz="4000" dirty="0" err="1">
                <a:cs typeface="B Koodak" panose="00000700000000000000" pitchFamily="2" charset="-78"/>
              </a:rPr>
              <a:t>شخصی‌سازی‌شده</a:t>
            </a:r>
            <a:r>
              <a:rPr lang="fa-IR" sz="4000" dirty="0">
                <a:cs typeface="B Koodak" panose="00000700000000000000" pitchFamily="2" charset="-78"/>
              </a:rPr>
              <a:t> برای هر مخاطب</a:t>
            </a:r>
            <a:endParaRPr lang="en-US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استفاده بیش‌تر از تصاویر و </a:t>
            </a:r>
            <a:r>
              <a:rPr lang="fa-IR" sz="4000" dirty="0" err="1">
                <a:cs typeface="B Koodak" panose="00000700000000000000" pitchFamily="2" charset="-78"/>
              </a:rPr>
              <a:t>ویدئوها</a:t>
            </a:r>
            <a:r>
              <a:rPr lang="fa-IR" sz="4000" dirty="0">
                <a:cs typeface="B Koodak" panose="00000700000000000000" pitchFamily="2" charset="-78"/>
              </a:rPr>
              <a:t> و نمودارهای تولید شده با هوش مصنوعی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افزایش نقش “ویراستار هوش مصنوعی” در تیم‌های خبری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ظهور “خبرنگار </a:t>
            </a:r>
            <a:r>
              <a:rPr lang="fa-IR" sz="4000" dirty="0" err="1">
                <a:cs typeface="B Koodak" panose="00000700000000000000" pitchFamily="2" charset="-78"/>
              </a:rPr>
              <a:t>هیبریدی</a:t>
            </a:r>
            <a:r>
              <a:rPr lang="fa-IR" sz="4000" dirty="0">
                <a:cs typeface="B Koodak" panose="00000700000000000000" pitchFamily="2" charset="-78"/>
              </a:rPr>
              <a:t>”: انسان + هوش مصنوعی +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داده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نکته:</a:t>
            </a:r>
            <a:r>
              <a:rPr lang="fa-IR" sz="4000" dirty="0">
                <a:cs typeface="B Koodak" panose="00000700000000000000" pitchFamily="2" charset="-78"/>
              </a:rPr>
              <a:t> خبرنگاری که از هوش مصنوعی استفاده نکند، در رقابت عقب خواهد ماند!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FE56F-8BD7-4ABE-81F2-8355AEA38838}"/>
              </a:ext>
            </a:extLst>
          </p:cNvPr>
          <p:cNvSpPr txBox="1"/>
          <p:nvPr/>
        </p:nvSpPr>
        <p:spPr>
          <a:xfrm>
            <a:off x="4080933" y="4978400"/>
            <a:ext cx="7093531" cy="56726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6609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🗺️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مراحل تحول دیجیتال یک خبرگزاری: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آموزش و آشنا شدن خبرنگاران با ابزارهای هوش مصنوعی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شناسایی فرآیندهای تکراری (جمع‌آوری، گزارش‌های مالی، ویراستاری اولیه)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توسعه و پیاده‌سازی ابزارهای هوشمند در بخش‌های منتخب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۴. ارزیابی نتایج — بهبود مستمر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۵. گسترش به تمام بخش‌ها — تبدیل به خبرگزاری هوشمند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en-US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شروع کوچک — تأثیر بزرگ!</a:t>
            </a:r>
            <a:endParaRPr lang="fa-IR" sz="4000" dirty="0"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832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👥 شغل‌های جدید در خبرنگاری هوشمند: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ویراستار هوش مصنوعی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Editor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مدیر داده خبری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News Data Manager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متخصص اخلاق هوش مصنوعی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AI Ethics Officer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طراح تجربه خبری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News UX Designer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توسعه‌دهنده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Prompt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های خبری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Prompt Engineer for Media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نکته: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شما می‌توانید هر یک از این نقش‌ها را در سازمان خود ایجاد کنید!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6747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مهارت‌های آینده خبرنگار:</a:t>
            </a:r>
          </a:p>
          <a:p>
            <a:pPr algn="ctr"/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خبرنگاری + داده + فناوری + اخلاق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توانایی کار با ابزارهای هوش مصنوعی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درک مفاهیم داده و تجسم آن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نوشتن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Prompt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های مؤثر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ویرایش و تأیید نهایی اخبار با در نظر گرفتن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مسئولیت‌های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اخلاقی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همکاری با تیم‌های فنی و خبری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تبدیل شدن به “خبرنگار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هیبریدی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” — انسانی با قدرت ماشین هوشمند!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211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معرفی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LM Studio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 rtl="0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 rtl="0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 rtl="0"/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We aim to build delightful and potent creation tools for AI. LM Studio lets users run open-source language models on their machines via a user-friendly interface without any cloud reliance or usage fees. It supports document-based RAG, local APIs, and SDKs for developers, making it ideal for learners, prototype builders, and privacy-sensitive professionals.</a:t>
            </a:r>
          </a:p>
          <a:p>
            <a:pPr algn="l" rtl="0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2"/>
              </a:rPr>
              <a:t>https://lmstudio.ai/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r" rtl="0"/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اجرای مدل‌های زبانی بزرگ روی دستگاه خودتان.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97836-8137-455B-8590-462DD2C4B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388" y="2361429"/>
            <a:ext cx="123063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07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معرفی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LM Studio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 rtl="0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 rtl="0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 rtl="0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r" rtl="0"/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9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97836-8137-455B-8590-462DD2C4B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388" y="2361429"/>
            <a:ext cx="12306300" cy="3752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5AD71B-00E1-4F58-BDF6-E07C58BBC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506" y="5462058"/>
            <a:ext cx="10620375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عامل هوش مصنوعی (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Agent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)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واگذاری کارهای سخت و تکراری به ماشین هوشمند!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10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FC231-1E2F-4EFC-A95A-DDFEF071CC17}"/>
              </a:ext>
            </a:extLst>
          </p:cNvPr>
          <p:cNvSpPr/>
          <p:nvPr/>
        </p:nvSpPr>
        <p:spPr>
          <a:xfrm>
            <a:off x="11324937" y="4436532"/>
            <a:ext cx="1067146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a-IR" sz="4000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</a:t>
            </a:r>
            <a:r>
              <a:rPr lang="en-US" sz="4000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An AI agent is more than simple “one-shot prompting.”</a:t>
            </a:r>
          </a:p>
          <a:p>
            <a:pPr algn="l"/>
            <a:endParaRPr lang="en-US" sz="4000" dirty="0">
              <a:solidFill>
                <a:srgbClr val="164193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✅ </a:t>
            </a:r>
            <a:r>
              <a:rPr lang="en-US" sz="4000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4000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True AI agents involve workflows where the AI plans, revises, uses tools, and reasons sometimes with little or no human prompting at each step.</a:t>
            </a:r>
            <a:endParaRPr lang="fa-IR" sz="4000" dirty="0">
              <a:solidFill>
                <a:srgbClr val="164193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algn="l"/>
            <a:endParaRPr lang="fa-IR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537A3F-A970-4602-BBF4-B1A59E0C35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540" y="3928533"/>
            <a:ext cx="6519333" cy="6519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05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ابزارهای توسعه فرآیند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توسعه از طریق برنامه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نویسی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rtl="0"/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LangChain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-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AutoGen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(Microsoft) –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LangGraph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–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CrewAI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-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OpenAI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Agents SDK</a:t>
            </a:r>
          </a:p>
          <a:p>
            <a:pPr rtl="0"/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توسعه بدون برنامه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نویسی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rtl="0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Zapier – Make – n8n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انتخاب یک ابزار ساده و کار راه انداز!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11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2982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معرفی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n8n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ابزاری قدرتمند و متن باز برای اتوماسیون فرآیندها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ساخت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گردش‌کارهای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حرفه‌ای بدون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کدنویسی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قابلیت نصب روی رایانه شخصی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امنیت بالا و پشتیبانی از بیش از 4۰۰ سرویس و ابزار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ارتباط سریع و ساده با ابزارهای هوش مصنوعی مانند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GPT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و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Grok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Gemini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و ...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کاربردهای گسترده در کسب‌وکار،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مارکتینگ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DevOps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و تولید محتوا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تجربه کار با محیط طراحی فرآیند و ارتباط با ابزارهای هوش مصنوعی!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12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97093-15A4-4837-8C1D-3DFAE28196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31" y="2998540"/>
            <a:ext cx="5991369" cy="23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57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معرفی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n8n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نمونه یک فرآیند: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97093-15A4-4837-8C1D-3DFAE28196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31" y="2998540"/>
            <a:ext cx="5991369" cy="23950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187DED-1159-4A4A-AB8B-4B497D866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472" y="5393572"/>
            <a:ext cx="16391467" cy="65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0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پروژه – دستیار سازمانی ایرنا</a:t>
            </a:r>
            <a:endParaRPr lang="en-US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سازمان را معرفی کنیم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آشنایی با نحوه کار حافظه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آشنایی با روال ارتباط با ابزارهای هوش مصنوعی</a:t>
            </a:r>
          </a:p>
          <a:p>
            <a:pPr marL="571500" indent="-571500">
              <a:buFontTx/>
              <a:buChar char="-"/>
            </a:pP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شفارشی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سازی و انتشار صفحه چت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بات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تجربه ساخت اولین چت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بات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95134-BF5D-4CD4-8594-7A466778D0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98"/>
          <a:stretch/>
        </p:blipFill>
        <p:spPr>
          <a:xfrm>
            <a:off x="2781300" y="3806113"/>
            <a:ext cx="5299696" cy="606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53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پروژه –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IrnaKids</a:t>
            </a:r>
            <a:endParaRPr lang="en-US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ایده: یک خبرگزاری ویژه کودکان براساس اخبار ایرنا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بازنویسی اخبار برای کودکان رده سنی 7 – 13 سال</a:t>
            </a:r>
          </a:p>
          <a:p>
            <a:pPr marL="571500" indent="-571500">
              <a:buFontTx/>
              <a:buChar char="-"/>
            </a:pP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آماده‌سازی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متن خبر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درج نکات مهم در مورد خبر ارسالی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ایجاد خروجی ویژه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تلگرام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ایجاد خروجی ویژه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توئیتر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بررسی عملی مراحل اجرای یک ایده!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E55D8D-0234-4EED-98D4-03ACFDCC81B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CDE4F2"/>
              </a:clrFrom>
              <a:clrTo>
                <a:srgbClr val="CDE4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456" y="2451100"/>
            <a:ext cx="6426200" cy="963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18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📚 منابع پیشنهادی: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کتاب :</a:t>
            </a:r>
          </a:p>
          <a:p>
            <a:pPr marL="571500" indent="-571500" rtl="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+ Journalism by Mike Reilley, Samantha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Sunne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Journalist’s Toolbox by Mike Reilley</a:t>
            </a:r>
          </a:p>
          <a:p>
            <a:pPr marL="571500" indent="-571500" rtl="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Agents in Action by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Micheal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Lanham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نکته: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هر روز چند دقیقه را به مطالعه در حوزه هوش مصنوعی اختصاص دهید!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347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نظرسنجی: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کیفیت مطالب ارائه شده در این دوره چطور بود؟ 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2. مطالب دوره را چقدر کاربردی ارزیابی می‌کنید؟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زمان‌بندی ارائه مطالب در این دوره چطور بود؟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ابزارهای معرفی شده را چقدر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می‌پسندید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؟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4. برای بهبود این دوره پیشنهاد یا انتقادهای مورد نظرتان را مطرح کنید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تبدیل شدن به خبرنگار مجهز به هوش مصنوعی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7142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✅</a:t>
            </a:r>
            <a:r>
              <a:rPr lang="ko-KR" altLang="en-US" sz="6200" dirty="0">
                <a:solidFill>
                  <a:srgbClr val="CE7E42"/>
                </a:solidFill>
                <a:cs typeface="B Koodak" panose="00000700000000000000" pitchFamily="2" charset="-78"/>
              </a:rPr>
              <a:t> </a:t>
            </a:r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دسترسی </a:t>
            </a:r>
            <a:r>
              <a:rPr lang="fa-IR" sz="6200">
                <a:solidFill>
                  <a:srgbClr val="CE7E42"/>
                </a:solidFill>
                <a:cs typeface="B Koodak" panose="00000700000000000000" pitchFamily="2" charset="-78"/>
              </a:rPr>
              <a:t>به منابع:</a:t>
            </a:r>
            <a:endParaRPr lang="fa-IR" sz="62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r>
              <a:rPr lang="en-US" sz="6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https://github.com/khadem/IrnaAI</a:t>
            </a:r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endParaRPr lang="fa-IR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18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1633C1-3DA7-4DA7-AC74-527A9ECE8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2657" y="4687237"/>
            <a:ext cx="4927293" cy="49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13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✅ پیوندها: </a:t>
            </a:r>
            <a:endParaRPr lang="fa-IR" sz="6200" dirty="0">
              <a:cs typeface="B Koodak" panose="00000700000000000000" pitchFamily="2" charset="-78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https://ai.rating.community/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https://zapier.com/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https://www.make.com/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https://n8n.io/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19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latin typeface="w_Dabestan Pro" panose="02000500000000020004" pitchFamily="2" charset="-78"/>
                <a:cs typeface="+mj-cs"/>
              </a:rPr>
              <a:t>کاربردهای هوش مصنوعی در خبرنگاری</a:t>
            </a:r>
          </a:p>
        </p:txBody>
      </p:sp>
    </p:spTree>
    <p:extLst>
      <p:ext uri="{BB962C8B-B14F-4D97-AF65-F5344CB8AC3E}">
        <p14:creationId xmlns:p14="http://schemas.microsoft.com/office/powerpoint/2010/main" val="66808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979288"/>
            <a:ext cx="9253538" cy="926021"/>
          </a:xfrm>
        </p:spPr>
        <p:txBody>
          <a:bodyPr/>
          <a:lstStyle/>
          <a:p>
            <a:r>
              <a:rPr lang="fa-IR" dirty="0">
                <a:solidFill>
                  <a:srgbClr val="CE7E42"/>
                </a:solidFill>
              </a:rPr>
              <a:t>با تشکر از توجه شما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AB109B-1441-4D04-9FAC-1EB6C0AD62E4}"/>
              </a:ext>
            </a:extLst>
          </p:cNvPr>
          <p:cNvSpPr txBox="1">
            <a:spLocks/>
          </p:cNvSpPr>
          <p:nvPr/>
        </p:nvSpPr>
        <p:spPr>
          <a:xfrm>
            <a:off x="10761133" y="5979288"/>
            <a:ext cx="6036205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endParaRPr lang="fa-I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70301F-832D-4961-AD16-5D41E861AB36}"/>
              </a:ext>
            </a:extLst>
          </p:cNvPr>
          <p:cNvSpPr txBox="1">
            <a:spLocks/>
          </p:cNvSpPr>
          <p:nvPr/>
        </p:nvSpPr>
        <p:spPr>
          <a:xfrm>
            <a:off x="10761133" y="6129276"/>
            <a:ext cx="9253538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pPr algn="l"/>
            <a:r>
              <a:rPr lang="fa-IR" sz="4800" dirty="0"/>
              <a:t>کاربردهای</a:t>
            </a:r>
          </a:p>
          <a:p>
            <a:pPr algn="l"/>
            <a:r>
              <a:rPr lang="fa-IR" sz="4800" dirty="0"/>
              <a:t> هوش مصنوعی</a:t>
            </a:r>
          </a:p>
          <a:p>
            <a:pPr algn="l"/>
            <a:r>
              <a:rPr lang="fa-IR" sz="4800" dirty="0"/>
              <a:t> در روزنامه نگاری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FB9BAA-1476-4F60-AEE1-62A744CDF91D}"/>
              </a:ext>
            </a:extLst>
          </p:cNvPr>
          <p:cNvSpPr txBox="1">
            <a:spLocks/>
          </p:cNvSpPr>
          <p:nvPr/>
        </p:nvSpPr>
        <p:spPr>
          <a:xfrm>
            <a:off x="5334001" y="8654756"/>
            <a:ext cx="9253538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pPr algn="ctr"/>
            <a:r>
              <a:rPr lang="en-US" sz="3200" dirty="0"/>
              <a:t>mostafa.khadem@live.com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35290586"/>
      </p:ext>
    </p:extLst>
  </p:cSld>
  <p:clrMapOvr>
    <a:masterClrMapping/>
  </p:clrMapOvr>
</p:sld>
</file>

<file path=ppt/theme/theme1.xml><?xml version="1.0" encoding="utf-8"?>
<a:theme xmlns:a="http://schemas.openxmlformats.org/drawingml/2006/main" name="Kimia inside">
  <a:themeElements>
    <a:clrScheme name="kimia co.">
      <a:dk1>
        <a:sysClr val="windowText" lastClr="000000"/>
      </a:dk1>
      <a:lt1>
        <a:sysClr val="window" lastClr="FFFFFF"/>
      </a:lt1>
      <a:dk2>
        <a:srgbClr val="6E6E6E"/>
      </a:dk2>
      <a:lt2>
        <a:srgbClr val="DDDDDD"/>
      </a:lt2>
      <a:accent1>
        <a:srgbClr val="164193"/>
      </a:accent1>
      <a:accent2>
        <a:srgbClr val="CE7E42"/>
      </a:accent2>
      <a:accent3>
        <a:srgbClr val="A5A5A5"/>
      </a:accent3>
      <a:accent4>
        <a:srgbClr val="DFAB84"/>
      </a:accent4>
      <a:accent5>
        <a:srgbClr val="738DBE"/>
      </a:accent5>
      <a:accent6>
        <a:srgbClr val="EED2BE"/>
      </a:accent6>
      <a:hlink>
        <a:srgbClr val="AAAAAA"/>
      </a:hlink>
      <a:folHlink>
        <a:srgbClr val="ADBCD9"/>
      </a:folHlink>
    </a:clrScheme>
    <a:fontScheme name="Custom 2">
      <a:majorFont>
        <a:latin typeface="Arial"/>
        <a:ea typeface=""/>
        <a:cs typeface="B Koodak"/>
      </a:majorFont>
      <a:minorFont>
        <a:latin typeface="Arial"/>
        <a:ea typeface=""/>
        <a:cs typeface="B Koodak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3432</TotalTime>
  <Words>1002</Words>
  <Application>Microsoft Office PowerPoint</Application>
  <PresentationFormat>Custom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B Koodak</vt:lpstr>
      <vt:lpstr>B Yekan</vt:lpstr>
      <vt:lpstr>Calibri</vt:lpstr>
      <vt:lpstr>Courier New</vt:lpstr>
      <vt:lpstr>IRANYekan</vt:lpstr>
      <vt:lpstr>w_Dabestan Pro</vt:lpstr>
      <vt:lpstr>Kimia inside</vt:lpstr>
      <vt:lpstr>کاربردهای هوش مصنوعی در خبرنگاری جلسه پنجم: آینده خبرنگاری هوشمند + کارگاه عملی</vt:lpstr>
      <vt:lpstr>PowerPoint Presentation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با تشکر از توجه شما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user_surface2017@outlook.com</dc:creator>
  <cp:lastModifiedBy>Mostafa Khademolmele</cp:lastModifiedBy>
  <cp:revision>396</cp:revision>
  <dcterms:created xsi:type="dcterms:W3CDTF">2025-05-03T09:57:37Z</dcterms:created>
  <dcterms:modified xsi:type="dcterms:W3CDTF">2025-10-21T07:11:57Z</dcterms:modified>
</cp:coreProperties>
</file>