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9" r:id="rId2"/>
    <p:sldId id="268" r:id="rId3"/>
    <p:sldId id="310" r:id="rId4"/>
    <p:sldId id="282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8" r:id="rId22"/>
    <p:sldId id="327" r:id="rId23"/>
    <p:sldId id="329" r:id="rId24"/>
    <p:sldId id="330" r:id="rId25"/>
    <p:sldId id="331" r:id="rId26"/>
    <p:sldId id="332" r:id="rId27"/>
    <p:sldId id="333" r:id="rId28"/>
    <p:sldId id="334" r:id="rId29"/>
    <p:sldId id="309" r:id="rId30"/>
    <p:sldId id="290" r:id="rId31"/>
    <p:sldId id="267" r:id="rId32"/>
  </p:sldIdLst>
  <p:sldSz cx="24382413" cy="13716000"/>
  <p:notesSz cx="9144000" cy="6858000"/>
  <p:defaultTextStyle>
    <a:defPPr>
      <a:defRPr lang="fa-IR"/>
    </a:defPPr>
    <a:lvl1pPr marL="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193"/>
    <a:srgbClr val="CE7E42"/>
    <a:srgbClr val="E2E2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2" autoAdjust="0"/>
    <p:restoredTop sz="94660"/>
  </p:normalViewPr>
  <p:slideViewPr>
    <p:cSldViewPr snapToGrid="0">
      <p:cViewPr varScale="1">
        <p:scale>
          <a:sx n="57" d="100"/>
          <a:sy n="57" d="100"/>
        </p:scale>
        <p:origin x="282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D584BE07-979B-4FA0-9B38-E292101A23E7}" type="datetimeFigureOut">
              <a:rPr lang="fa-IR" smtClean="0"/>
              <a:t>26/04/1447</a:t>
            </a:fld>
            <a:endParaRPr lang="fa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a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1B7AA89C-E3E8-4575-B91A-838C281437E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228512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imia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3634" y="4415090"/>
            <a:ext cx="15820845" cy="186101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8000" b="1">
                <a:solidFill>
                  <a:schemeClr val="bg1"/>
                </a:solidFill>
                <a:latin typeface="B Yekan" panose="00000400000000000000" pitchFamily="2" charset="-78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3634" y="5825715"/>
            <a:ext cx="15820845" cy="12670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B Yekan" panose="00000400000000000000" pitchFamily="2" charset="-78"/>
                <a:cs typeface="+mj-cs"/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1358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nounc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76710" y="2529544"/>
            <a:ext cx="14130164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a-IR" dirty="0"/>
              <a:t>اعلان سلب مسئولیت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63020" y="10481076"/>
            <a:ext cx="2257933" cy="12249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727209" y="2541797"/>
            <a:ext cx="1059890" cy="901517"/>
          </a:xfrm>
          <a:prstGeom prst="rect">
            <a:avLst/>
          </a:prstGeom>
        </p:spPr>
      </p:pic>
      <p:sp>
        <p:nvSpPr>
          <p:cNvPr id="7" name="Title Placeholder 1"/>
          <p:cNvSpPr txBox="1">
            <a:spLocks/>
          </p:cNvSpPr>
          <p:nvPr userDrawn="1"/>
        </p:nvSpPr>
        <p:spPr>
          <a:xfrm>
            <a:off x="1276709" y="4063028"/>
            <a:ext cx="15510391" cy="37028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1828709" rtl="1" eaLnBrk="1" latinLnBrk="0" hangingPunct="1">
              <a:lnSpc>
                <a:spcPct val="90000"/>
              </a:lnSpc>
              <a:spcBef>
                <a:spcPct val="0"/>
              </a:spcBef>
              <a:buSzPct val="80000"/>
              <a:buFontTx/>
              <a:buNone/>
              <a:defRPr sz="4700" b="1" kern="1200">
                <a:solidFill>
                  <a:schemeClr val="bg1"/>
                </a:solidFill>
                <a:latin typeface="+mj-lt"/>
                <a:ea typeface="+mj-ea"/>
                <a:cs typeface="B Yekan" panose="00000400000000000000" pitchFamily="2" charset="-78"/>
              </a:defRPr>
            </a:lvl1pPr>
          </a:lstStyle>
          <a:p>
            <a:pPr algn="just"/>
            <a:r>
              <a:rPr lang="fa-IR" sz="3600" b="0" dirty="0"/>
              <a:t>محتوای گزارش تهیه شده، صرفا جهت بررسی بوده و شرکت تامین سرمایه</a:t>
            </a:r>
            <a:r>
              <a:rPr lang="fa-IR" sz="3600" b="0" baseline="0" dirty="0"/>
              <a:t> کیمیا</a:t>
            </a:r>
            <a:r>
              <a:rPr lang="fa-IR" sz="3600" b="0" dirty="0"/>
              <a:t> هیچگونه مسئولیتی در قبال معاملات انجام شده با اتکاء بر اطلاعات این گزارش بر عهده ندارد.</a:t>
            </a:r>
          </a:p>
          <a:p>
            <a:pPr algn="just"/>
            <a:r>
              <a:rPr lang="fa-IR" sz="3600" b="0" dirty="0"/>
              <a:t>محتوای این گزارش به تنهایی نمی</a:t>
            </a:r>
            <a:r>
              <a:rPr lang="fa-IR" sz="3600" b="0" baseline="0" dirty="0"/>
              <a:t>‌</a:t>
            </a:r>
            <a:r>
              <a:rPr lang="fa-IR" sz="3600" b="0" dirty="0"/>
              <a:t>تواند به عنوان ارائه راه‌حل سرمایه‌گذاری، پیشنهاد معامله، ایجاب برای خرید و فروش هرگونه اوراق بهادار و یا سایر ابزارهای مالی و یا ترغیب به اتخاذ هرگونه تصمیم مالی و تجاری تلقی گردد.</a:t>
            </a:r>
            <a:endParaRPr lang="en-US" sz="3600" b="0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311214" y="8210690"/>
            <a:ext cx="15510391" cy="15977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1828709" rtl="1" eaLnBrk="1" latinLnBrk="0" hangingPunct="1">
              <a:lnSpc>
                <a:spcPct val="90000"/>
              </a:lnSpc>
              <a:spcBef>
                <a:spcPct val="0"/>
              </a:spcBef>
              <a:buSzPct val="80000"/>
              <a:buFontTx/>
              <a:buNone/>
              <a:defRPr sz="4700" b="1" kern="1200">
                <a:solidFill>
                  <a:schemeClr val="bg1"/>
                </a:solidFill>
                <a:latin typeface="+mj-lt"/>
                <a:ea typeface="+mj-ea"/>
                <a:cs typeface="B Yekan" panose="00000400000000000000" pitchFamily="2" charset="-78"/>
              </a:defRPr>
            </a:lvl1pPr>
          </a:lstStyle>
          <a:p>
            <a:pPr algn="just"/>
            <a:r>
              <a:rPr lang="fa-IR" sz="3600" b="0" dirty="0"/>
              <a:t>اطلاعات و مفروضات این گزارش می‌تواند در هر لحظه با توجه به مفروضات تحلیل تغییر کند و این شرکت هیچگونه مسئولیتی در قبال عدم بروزرسانی این اطلاعات به عهده ندارد.</a:t>
            </a:r>
            <a:endParaRPr lang="en-US" sz="3600" b="0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311214" y="3959510"/>
            <a:ext cx="1533776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1276708" y="7965046"/>
            <a:ext cx="1533776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1363020" y="10031479"/>
            <a:ext cx="1533776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952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8451273"/>
          </a:xfrm>
        </p:spPr>
        <p:txBody>
          <a:bodyPr/>
          <a:lstStyle>
            <a:lvl1pPr marL="0" indent="0" algn="just">
              <a:lnSpc>
                <a:spcPct val="150000"/>
              </a:lnSpc>
              <a:buFontTx/>
              <a:buNone/>
              <a:defRPr b="1">
                <a:solidFill>
                  <a:srgbClr val="164193"/>
                </a:solidFill>
              </a:defRPr>
            </a:lvl1pPr>
            <a:lvl2pPr marL="540000" indent="0" algn="just">
              <a:lnSpc>
                <a:spcPct val="150000"/>
              </a:lnSpc>
              <a:buFontTx/>
              <a:buNone/>
              <a:defRPr/>
            </a:lvl2pPr>
            <a:lvl3pPr algn="just">
              <a:lnSpc>
                <a:spcPct val="150000"/>
              </a:lnSpc>
              <a:defRPr>
                <a:solidFill>
                  <a:srgbClr val="CE7E42"/>
                </a:solidFill>
              </a:defRPr>
            </a:lvl3pPr>
            <a:lvl4pPr algn="just">
              <a:lnSpc>
                <a:spcPct val="150000"/>
              </a:lnSpc>
              <a:defRPr/>
            </a:lvl4pPr>
            <a:lvl5pPr algn="just"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cs typeface="B Koodak" panose="00000700000000000000" pitchFamily="2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70246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24400" y="6026727"/>
            <a:ext cx="15323127" cy="5153892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cs typeface="B Yekan" panose="00000400000000000000" pitchFamily="2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2133600" y="2784764"/>
            <a:ext cx="20061382" cy="3241964"/>
          </a:xfrm>
        </p:spPr>
        <p:txBody>
          <a:bodyPr/>
          <a:lstStyle>
            <a:lvl1pPr marL="0" indent="0" algn="just">
              <a:lnSpc>
                <a:spcPct val="150000"/>
              </a:lnSpc>
              <a:buFontTx/>
              <a:buNone/>
              <a:defRPr b="1">
                <a:solidFill>
                  <a:srgbClr val="164193"/>
                </a:solidFill>
              </a:defRPr>
            </a:lvl1pPr>
            <a:lvl2pPr marL="540000" indent="0" algn="just">
              <a:lnSpc>
                <a:spcPct val="150000"/>
              </a:lnSpc>
              <a:buFontTx/>
              <a:buNone/>
              <a:defRPr/>
            </a:lvl2pPr>
            <a:lvl3pPr algn="just">
              <a:lnSpc>
                <a:spcPct val="150000"/>
              </a:lnSpc>
              <a:defRPr>
                <a:solidFill>
                  <a:srgbClr val="CE7E42"/>
                </a:solidFill>
              </a:defRPr>
            </a:lvl3pPr>
            <a:lvl4pPr algn="just">
              <a:lnSpc>
                <a:spcPct val="150000"/>
              </a:lnSpc>
              <a:defRPr/>
            </a:lvl4pPr>
            <a:lvl5pPr algn="just"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29756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 or chart (2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1309" y="2784764"/>
            <a:ext cx="10681855" cy="8451272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954000" y="2784763"/>
            <a:ext cx="9240982" cy="8451273"/>
          </a:xfrm>
        </p:spPr>
        <p:txBody>
          <a:bodyPr/>
          <a:lstStyle>
            <a:lvl1pPr marL="0" indent="0" algn="just">
              <a:lnSpc>
                <a:spcPct val="150000"/>
              </a:lnSpc>
              <a:buFontTx/>
              <a:buNone/>
              <a:defRPr b="1">
                <a:solidFill>
                  <a:srgbClr val="164193"/>
                </a:solidFill>
              </a:defRPr>
            </a:lvl1pPr>
            <a:lvl2pPr marL="540000" indent="0" algn="just">
              <a:lnSpc>
                <a:spcPct val="150000"/>
              </a:lnSpc>
              <a:buFontTx/>
              <a:buNone/>
              <a:defRPr/>
            </a:lvl2pPr>
            <a:lvl3pPr algn="just">
              <a:lnSpc>
                <a:spcPct val="150000"/>
              </a:lnSpc>
              <a:defRPr>
                <a:solidFill>
                  <a:srgbClr val="CE7E42"/>
                </a:solidFill>
              </a:defRPr>
            </a:lvl3pPr>
            <a:lvl4pPr algn="just">
              <a:lnSpc>
                <a:spcPct val="150000"/>
              </a:lnSpc>
              <a:defRPr/>
            </a:lvl4pPr>
            <a:lvl5pPr algn="just"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96265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9837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der | Titr+pic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4" name="Rounded Rectangle 3"/>
          <p:cNvSpPr/>
          <p:nvPr userDrawn="1"/>
        </p:nvSpPr>
        <p:spPr>
          <a:xfrm>
            <a:off x="1663591" y="1529015"/>
            <a:ext cx="21029831" cy="22532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36" y="1841869"/>
            <a:ext cx="19908982" cy="169104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5000">
                <a:solidFill>
                  <a:schemeClr val="bg1"/>
                </a:solidFill>
                <a:latin typeface="+mj-lt"/>
                <a:cs typeface="IRANYekan" panose="020B0506030804020204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814944" y="4045236"/>
            <a:ext cx="20754111" cy="7149234"/>
          </a:xfrm>
        </p:spPr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69700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7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der | full page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>
          <a:xfrm>
            <a:off x="0" y="0"/>
            <a:ext cx="24391242" cy="13716000"/>
          </a:xfrm>
          <a:custGeom>
            <a:avLst/>
            <a:gdLst>
              <a:gd name="connsiteX0" fmla="*/ 6770616 w 24391242"/>
              <a:gd name="connsiteY0" fmla="*/ 3365604 h 13716000"/>
              <a:gd name="connsiteX1" fmla="*/ 6770616 w 24391242"/>
              <a:gd name="connsiteY1" fmla="*/ 9826070 h 13716000"/>
              <a:gd name="connsiteX2" fmla="*/ 16829016 w 24391242"/>
              <a:gd name="connsiteY2" fmla="*/ 9826070 h 13716000"/>
              <a:gd name="connsiteX3" fmla="*/ 16829016 w 24391242"/>
              <a:gd name="connsiteY3" fmla="*/ 3365604 h 13716000"/>
              <a:gd name="connsiteX4" fmla="*/ 0 w 24391242"/>
              <a:gd name="connsiteY4" fmla="*/ 0 h 13716000"/>
              <a:gd name="connsiteX5" fmla="*/ 24391242 w 24391242"/>
              <a:gd name="connsiteY5" fmla="*/ 0 h 13716000"/>
              <a:gd name="connsiteX6" fmla="*/ 24391242 w 24391242"/>
              <a:gd name="connsiteY6" fmla="*/ 13716000 h 13716000"/>
              <a:gd name="connsiteX7" fmla="*/ 0 w 24391242"/>
              <a:gd name="connsiteY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91242" h="13716000">
                <a:moveTo>
                  <a:pt x="6770616" y="3365604"/>
                </a:moveTo>
                <a:lnTo>
                  <a:pt x="6770616" y="9826070"/>
                </a:lnTo>
                <a:lnTo>
                  <a:pt x="16829016" y="9826070"/>
                </a:lnTo>
                <a:lnTo>
                  <a:pt x="16829016" y="3365604"/>
                </a:lnTo>
                <a:close/>
                <a:moveTo>
                  <a:pt x="0" y="0"/>
                </a:moveTo>
                <a:lnTo>
                  <a:pt x="24391242" y="0"/>
                </a:lnTo>
                <a:lnTo>
                  <a:pt x="24391242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 anchor="ctr" anchorCtr="1">
            <a:noAutofit/>
          </a:bodyPr>
          <a:lstStyle/>
          <a:p>
            <a:endParaRPr lang="fa-IR" dirty="0"/>
          </a:p>
        </p:txBody>
      </p:sp>
      <p:sp>
        <p:nvSpPr>
          <p:cNvPr id="13" name="Slide Number Placeholder 5" hidden="1"/>
          <p:cNvSpPr txBox="1">
            <a:spLocks/>
          </p:cNvSpPr>
          <p:nvPr userDrawn="1"/>
        </p:nvSpPr>
        <p:spPr>
          <a:xfrm>
            <a:off x="376686" y="12537300"/>
            <a:ext cx="76052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a-IR"/>
            </a:defPPr>
            <a:lvl1pPr marL="0" algn="r" defTabSz="1828709" rtl="0" eaLnBrk="1" latinLnBrk="0" hangingPunct="1">
              <a:defRPr sz="2400" kern="1200">
                <a:solidFill>
                  <a:srgbClr val="164193"/>
                </a:solidFill>
                <a:latin typeface="+mn-lt"/>
                <a:ea typeface="+mn-ea"/>
                <a:cs typeface="+mn-cs"/>
              </a:defRPr>
            </a:lvl1pPr>
            <a:lvl2pPr marL="91435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09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063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417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771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126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480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483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7264DD-8205-481D-9B6A-9CE0D2D966EE}" type="slidenum">
              <a:rPr lang="fa-IR" smtClean="0"/>
              <a:pPr/>
              <a:t>‹#›</a:t>
            </a:fld>
            <a:endParaRPr lang="fa-IR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773" y="3373438"/>
            <a:ext cx="10058400" cy="64604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993467" y="5607218"/>
            <a:ext cx="9464960" cy="1128523"/>
          </a:xfrm>
          <a:prstGeom prst="rect">
            <a:avLst/>
          </a:prstGeom>
        </p:spPr>
        <p:txBody>
          <a:bodyPr anchor="t"/>
          <a:lstStyle>
            <a:lvl1pPr marL="0" indent="0" algn="r">
              <a:buFontTx/>
              <a:buNone/>
              <a:defRPr sz="4500">
                <a:solidFill>
                  <a:schemeClr val="bg1"/>
                </a:solidFill>
                <a:latin typeface="+mj-lt"/>
                <a:cs typeface="IRANYekan" panose="020B0506030804020204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993466" y="4554527"/>
            <a:ext cx="9465733" cy="1000125"/>
          </a:xfrm>
        </p:spPr>
        <p:txBody>
          <a:bodyPr anchor="b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344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 mod="1"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7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der | half page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760520" y="793630"/>
            <a:ext cx="15748981" cy="12321519"/>
          </a:xfrm>
          <a:custGeom>
            <a:avLst/>
            <a:gdLst>
              <a:gd name="connsiteX0" fmla="*/ 0 w 15748981"/>
              <a:gd name="connsiteY0" fmla="*/ 0 h 12321519"/>
              <a:gd name="connsiteX1" fmla="*/ 15748981 w 15748981"/>
              <a:gd name="connsiteY1" fmla="*/ 0 h 12321519"/>
              <a:gd name="connsiteX2" fmla="*/ 15748981 w 15748981"/>
              <a:gd name="connsiteY2" fmla="*/ 2169704 h 12321519"/>
              <a:gd name="connsiteX3" fmla="*/ 13181362 w 15748981"/>
              <a:gd name="connsiteY3" fmla="*/ 2169704 h 12321519"/>
              <a:gd name="connsiteX4" fmla="*/ 13181362 w 15748981"/>
              <a:gd name="connsiteY4" fmla="*/ 10336895 h 12321519"/>
              <a:gd name="connsiteX5" fmla="*/ 15748981 w 15748981"/>
              <a:gd name="connsiteY5" fmla="*/ 10336895 h 12321519"/>
              <a:gd name="connsiteX6" fmla="*/ 15748981 w 15748981"/>
              <a:gd name="connsiteY6" fmla="*/ 12321519 h 12321519"/>
              <a:gd name="connsiteX7" fmla="*/ 0 w 15748981"/>
              <a:gd name="connsiteY7" fmla="*/ 12321519 h 1232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748981" h="12321519">
                <a:moveTo>
                  <a:pt x="0" y="0"/>
                </a:moveTo>
                <a:lnTo>
                  <a:pt x="15748981" y="0"/>
                </a:lnTo>
                <a:lnTo>
                  <a:pt x="15748981" y="2169704"/>
                </a:lnTo>
                <a:lnTo>
                  <a:pt x="13181362" y="2169704"/>
                </a:lnTo>
                <a:lnTo>
                  <a:pt x="13181362" y="10336895"/>
                </a:lnTo>
                <a:lnTo>
                  <a:pt x="15748981" y="10336895"/>
                </a:lnTo>
                <a:lnTo>
                  <a:pt x="15748981" y="12321519"/>
                </a:lnTo>
                <a:lnTo>
                  <a:pt x="0" y="1232151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fa-IR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00600" y="11273519"/>
            <a:ext cx="1864358" cy="714972"/>
          </a:xfrm>
          <a:prstGeom prst="rect">
            <a:avLst/>
          </a:prstGeom>
        </p:spPr>
      </p:pic>
      <p:sp>
        <p:nvSpPr>
          <p:cNvPr id="10" name="Slide Number Placeholder 5" hidden="1"/>
          <p:cNvSpPr txBox="1">
            <a:spLocks/>
          </p:cNvSpPr>
          <p:nvPr userDrawn="1"/>
        </p:nvSpPr>
        <p:spPr>
          <a:xfrm>
            <a:off x="376686" y="12537300"/>
            <a:ext cx="76052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a-IR"/>
            </a:defPPr>
            <a:lvl1pPr marL="0" algn="r" defTabSz="1828709" rtl="0" eaLnBrk="1" latinLnBrk="0" hangingPunct="1">
              <a:defRPr sz="2400" kern="1200">
                <a:solidFill>
                  <a:srgbClr val="164193"/>
                </a:solidFill>
                <a:latin typeface="+mn-lt"/>
                <a:ea typeface="+mn-ea"/>
                <a:cs typeface="+mn-cs"/>
              </a:defRPr>
            </a:lvl1pPr>
            <a:lvl2pPr marL="91435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09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063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417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771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126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480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483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7264DD-8205-481D-9B6A-9CE0D2D966EE}" type="slidenum">
              <a:rPr lang="fa-IR" smtClean="0"/>
              <a:pPr/>
              <a:t>‹#›</a:t>
            </a:fld>
            <a:endParaRPr lang="fa-IR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8139" y="2963333"/>
            <a:ext cx="9607416" cy="8183033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3948140" y="6250685"/>
            <a:ext cx="9464960" cy="1128523"/>
          </a:xfrm>
          <a:prstGeom prst="rect">
            <a:avLst/>
          </a:prstGeom>
        </p:spPr>
        <p:txBody>
          <a:bodyPr anchor="t"/>
          <a:lstStyle>
            <a:lvl1pPr marL="0" indent="0" algn="r">
              <a:buFontTx/>
              <a:buNone/>
              <a:defRPr sz="4500">
                <a:solidFill>
                  <a:schemeClr val="bg1"/>
                </a:solidFill>
                <a:latin typeface="+mj-lt"/>
                <a:cs typeface="IRANYekan" panose="020B0506030804020204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948138" y="5386556"/>
            <a:ext cx="9464962" cy="864129"/>
          </a:xfrm>
        </p:spPr>
        <p:txBody>
          <a:bodyPr anchor="b"/>
          <a:lstStyle>
            <a:lvl1pPr>
              <a:defRPr sz="4000">
                <a:solidFill>
                  <a:schemeClr val="bg1"/>
                </a:solidFill>
              </a:defRPr>
            </a:lvl1pPr>
            <a:lvl3pPr marL="1162823" indent="0">
              <a:buNone/>
              <a:defRPr/>
            </a:lvl3pPr>
            <a:lvl4pPr marL="2026823" indent="0">
              <a:buNone/>
              <a:defRPr/>
            </a:lvl4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63528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  <p:extLst mod="1"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7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-no 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8451273"/>
          </a:xfrm>
        </p:spPr>
        <p:txBody>
          <a:bodyPr/>
          <a:lstStyle>
            <a:lvl1pPr marL="0" indent="0" algn="just">
              <a:lnSpc>
                <a:spcPct val="150000"/>
              </a:lnSpc>
              <a:buFontTx/>
              <a:buNone/>
              <a:defRPr b="1">
                <a:solidFill>
                  <a:srgbClr val="164193"/>
                </a:solidFill>
              </a:defRPr>
            </a:lvl1pPr>
            <a:lvl2pPr marL="540000" indent="0" algn="just">
              <a:lnSpc>
                <a:spcPct val="150000"/>
              </a:lnSpc>
              <a:buFontTx/>
              <a:buNone/>
              <a:defRPr/>
            </a:lvl2pPr>
            <a:lvl3pPr algn="just">
              <a:lnSpc>
                <a:spcPct val="150000"/>
              </a:lnSpc>
              <a:defRPr>
                <a:solidFill>
                  <a:srgbClr val="CE7E42"/>
                </a:solidFill>
              </a:defRPr>
            </a:lvl3pPr>
            <a:lvl4pPr algn="just">
              <a:lnSpc>
                <a:spcPct val="150000"/>
              </a:lnSpc>
              <a:defRPr/>
            </a:lvl4pPr>
            <a:lvl5pPr algn="just"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8180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chart or table - no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24400" y="6026727"/>
            <a:ext cx="15323127" cy="5153892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2133600" y="2784764"/>
            <a:ext cx="20061382" cy="3241964"/>
          </a:xfrm>
        </p:spPr>
        <p:txBody>
          <a:bodyPr/>
          <a:lstStyle>
            <a:lvl1pPr marL="0" indent="0" algn="just">
              <a:lnSpc>
                <a:spcPct val="150000"/>
              </a:lnSpc>
              <a:buFontTx/>
              <a:buNone/>
              <a:defRPr b="1">
                <a:solidFill>
                  <a:srgbClr val="164193"/>
                </a:solidFill>
              </a:defRPr>
            </a:lvl1pPr>
            <a:lvl2pPr marL="540000" indent="0" algn="just">
              <a:lnSpc>
                <a:spcPct val="150000"/>
              </a:lnSpc>
              <a:buFontTx/>
              <a:buNone/>
              <a:defRPr/>
            </a:lvl2pPr>
            <a:lvl3pPr algn="just">
              <a:lnSpc>
                <a:spcPct val="150000"/>
              </a:lnSpc>
              <a:defRPr>
                <a:solidFill>
                  <a:srgbClr val="CE7E42"/>
                </a:solidFill>
              </a:defRPr>
            </a:lvl3pPr>
            <a:lvl4pPr algn="just">
              <a:lnSpc>
                <a:spcPct val="150000"/>
              </a:lnSpc>
              <a:defRPr/>
            </a:lvl4pPr>
            <a:lvl5pPr algn="just"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8673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table or chart (2 column) - no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1309" y="2784764"/>
            <a:ext cx="10681855" cy="8451272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954000" y="2784763"/>
            <a:ext cx="9240982" cy="8451273"/>
          </a:xfrm>
        </p:spPr>
        <p:txBody>
          <a:bodyPr/>
          <a:lstStyle>
            <a:lvl1pPr marL="0" indent="0" algn="just">
              <a:lnSpc>
                <a:spcPct val="150000"/>
              </a:lnSpc>
              <a:buFontTx/>
              <a:buNone/>
              <a:defRPr b="1">
                <a:solidFill>
                  <a:srgbClr val="164193"/>
                </a:solidFill>
              </a:defRPr>
            </a:lvl1pPr>
            <a:lvl2pPr marL="540000" indent="0" algn="just">
              <a:lnSpc>
                <a:spcPct val="150000"/>
              </a:lnSpc>
              <a:buFontTx/>
              <a:buNone/>
              <a:defRPr/>
            </a:lvl2pPr>
            <a:lvl3pPr algn="just">
              <a:lnSpc>
                <a:spcPct val="150000"/>
              </a:lnSpc>
              <a:defRPr>
                <a:solidFill>
                  <a:srgbClr val="CE7E42"/>
                </a:solidFill>
              </a:defRPr>
            </a:lvl3pPr>
            <a:lvl4pPr algn="just">
              <a:lnSpc>
                <a:spcPct val="150000"/>
              </a:lnSpc>
              <a:defRPr/>
            </a:lvl4pPr>
            <a:lvl5pPr algn="just"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58569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no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877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der | Titr+pic - no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4" name="Rounded Rectangle 3"/>
          <p:cNvSpPr/>
          <p:nvPr userDrawn="1"/>
        </p:nvSpPr>
        <p:spPr>
          <a:xfrm>
            <a:off x="1663591" y="1529015"/>
            <a:ext cx="21029831" cy="22532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36" y="1841869"/>
            <a:ext cx="19908982" cy="169104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5000">
                <a:solidFill>
                  <a:schemeClr val="bg1"/>
                </a:solidFill>
                <a:latin typeface="+mj-lt"/>
                <a:cs typeface="IRANYekan" panose="020B0506030804020204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814944" y="4045236"/>
            <a:ext cx="20754111" cy="7149234"/>
          </a:xfrm>
        </p:spPr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673084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 mod="1"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7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217333" y="5979288"/>
            <a:ext cx="6036205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sz="5200" baseline="0"/>
            </a:lvl1pPr>
          </a:lstStyle>
          <a:p>
            <a:r>
              <a:rPr lang="fa-IR" dirty="0"/>
              <a:t>با تشکر از توجه شما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9920379" y="5741508"/>
            <a:ext cx="0" cy="1487429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56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alphaModFix amt="46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2784762"/>
            <a:ext cx="20061382" cy="8451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a-IR" noProof="0" dirty="0" err="1"/>
              <a:t>سرفصل‌های</a:t>
            </a:r>
            <a:r>
              <a:rPr lang="fa-IR" noProof="0" dirty="0"/>
              <a:t> مورد نظر</a:t>
            </a:r>
          </a:p>
          <a:p>
            <a:pPr lvl="1"/>
            <a:r>
              <a:rPr lang="fa-IR" noProof="0" dirty="0"/>
              <a:t>گزینه اول</a:t>
            </a:r>
          </a:p>
          <a:p>
            <a:pPr lvl="2"/>
            <a:r>
              <a:rPr lang="fa-IR" noProof="0" dirty="0"/>
              <a:t>موضوع دوم</a:t>
            </a:r>
          </a:p>
          <a:p>
            <a:pPr lvl="3"/>
            <a:r>
              <a:rPr lang="fa-IR" noProof="0" dirty="0"/>
              <a:t>موضوع سوم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4286" y="12384900"/>
            <a:ext cx="76052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164193"/>
                </a:solidFill>
                <a:cs typeface="B Yekan" panose="00000400000000000000" pitchFamily="2" charset="-78"/>
              </a:defRPr>
            </a:lvl1pPr>
          </a:lstStyle>
          <a:p>
            <a:fld id="{FC7264DD-8205-481D-9B6A-9CE0D2D966EE}" type="slidenum">
              <a:rPr lang="fa-IR" smtClean="0"/>
              <a:pPr/>
              <a:t>‹#›</a:t>
            </a:fld>
            <a:endParaRPr lang="fa-IR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676291" y="928133"/>
            <a:ext cx="21945709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a-IR" noProof="0" dirty="0"/>
              <a:t>عنوان اسلاید</a:t>
            </a:r>
          </a:p>
        </p:txBody>
      </p:sp>
    </p:spTree>
    <p:extLst>
      <p:ext uri="{BB962C8B-B14F-4D97-AF65-F5344CB8AC3E}">
        <p14:creationId xmlns:p14="http://schemas.microsoft.com/office/powerpoint/2010/main" val="835356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62" r:id="rId3"/>
    <p:sldLayoutId id="2147483664" r:id="rId4"/>
    <p:sldLayoutId id="2147483665" r:id="rId5"/>
    <p:sldLayoutId id="2147483666" r:id="rId6"/>
    <p:sldLayoutId id="2147483663" r:id="rId7"/>
    <p:sldLayoutId id="2147483671" r:id="rId8"/>
    <p:sldLayoutId id="2147483672" r:id="rId9"/>
    <p:sldLayoutId id="2147483668" r:id="rId10"/>
    <p:sldLayoutId id="2147483674" r:id="rId11"/>
    <p:sldLayoutId id="2147483675" r:id="rId12"/>
    <p:sldLayoutId id="2147483676" r:id="rId13"/>
    <p:sldLayoutId id="2147483673" r:id="rId14"/>
    <p:sldLayoutId id="2147483669" r:id="rId15"/>
  </p:sldLayoutIdLst>
  <p:hf hdr="0" dt="0"/>
  <p:txStyles>
    <p:titleStyle>
      <a:lvl1pPr marL="685800" indent="-685800" algn="r" defTabSz="1828709" rtl="1" eaLnBrk="1" latinLnBrk="0" hangingPunct="1">
        <a:lnSpc>
          <a:spcPct val="90000"/>
        </a:lnSpc>
        <a:spcBef>
          <a:spcPct val="0"/>
        </a:spcBef>
        <a:buSzPct val="80000"/>
        <a:buFontTx/>
        <a:buBlip>
          <a:blip r:embed="rId18"/>
        </a:buBlip>
        <a:defRPr sz="4700" b="1" kern="1200" baseline="0">
          <a:solidFill>
            <a:srgbClr val="164193"/>
          </a:solidFill>
          <a:latin typeface="+mj-lt"/>
          <a:ea typeface="+mj-ea"/>
          <a:cs typeface="B Koodak" panose="00000700000000000000" pitchFamily="2" charset="-78"/>
        </a:defRPr>
      </a:lvl1pPr>
    </p:titleStyle>
    <p:bodyStyle>
      <a:lvl1pPr marL="0" indent="0" algn="just" defTabSz="1828709" rtl="1" eaLnBrk="1" latinLnBrk="0" hangingPunct="1">
        <a:lnSpc>
          <a:spcPct val="150000"/>
        </a:lnSpc>
        <a:spcBef>
          <a:spcPts val="0"/>
        </a:spcBef>
        <a:buFontTx/>
        <a:buNone/>
        <a:defRPr sz="3000" b="1" kern="1200">
          <a:solidFill>
            <a:srgbClr val="164193"/>
          </a:solidFill>
          <a:latin typeface="B Yekan" panose="00000400000000000000" pitchFamily="2" charset="-78"/>
          <a:ea typeface="+mn-ea"/>
          <a:cs typeface="B Yekan" panose="00000400000000000000" pitchFamily="2" charset="-78"/>
        </a:defRPr>
      </a:lvl1pPr>
      <a:lvl2pPr marL="540000" indent="0" algn="just" defTabSz="1828709" rtl="1" eaLnBrk="1" latinLnBrk="0" hangingPunct="1">
        <a:lnSpc>
          <a:spcPct val="150000"/>
        </a:lnSpc>
        <a:spcBef>
          <a:spcPts val="0"/>
        </a:spcBef>
        <a:buFontTx/>
        <a:buNone/>
        <a:defRPr sz="3000" kern="1200">
          <a:solidFill>
            <a:schemeClr val="tx1">
              <a:lumMod val="65000"/>
              <a:lumOff val="35000"/>
            </a:schemeClr>
          </a:solidFill>
          <a:latin typeface="B Yekan" panose="00000400000000000000" pitchFamily="2" charset="-78"/>
          <a:ea typeface="+mn-ea"/>
          <a:cs typeface="B Yekan" panose="00000400000000000000" pitchFamily="2" charset="-78"/>
        </a:defRPr>
      </a:lvl2pPr>
      <a:lvl3pPr marL="1620000" indent="-457177" algn="just" defTabSz="1828709" rtl="1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3000" kern="1200">
          <a:solidFill>
            <a:srgbClr val="CE7E42"/>
          </a:solidFill>
          <a:latin typeface="B Yekan" panose="00000400000000000000" pitchFamily="2" charset="-78"/>
          <a:ea typeface="+mn-ea"/>
          <a:cs typeface="B Yekan" panose="00000400000000000000" pitchFamily="2" charset="-78"/>
        </a:defRPr>
      </a:lvl3pPr>
      <a:lvl4pPr marL="2484000" indent="-457177" algn="just" defTabSz="1828709" rtl="1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3000" kern="1200">
          <a:solidFill>
            <a:schemeClr val="tx1">
              <a:lumMod val="65000"/>
              <a:lumOff val="35000"/>
            </a:schemeClr>
          </a:solidFill>
          <a:latin typeface="B Yekan" panose="00000400000000000000" pitchFamily="2" charset="-78"/>
          <a:ea typeface="+mn-ea"/>
          <a:cs typeface="B Yekan" panose="00000400000000000000" pitchFamily="2" charset="-78"/>
        </a:defRPr>
      </a:lvl4pPr>
      <a:lvl5pPr marL="4114594" indent="-457177" algn="just" defTabSz="1828709" rtl="1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3000" kern="1200">
          <a:solidFill>
            <a:schemeClr val="tx1">
              <a:lumMod val="65000"/>
              <a:lumOff val="35000"/>
            </a:schemeClr>
          </a:solidFill>
          <a:latin typeface="IRANYekan" panose="020B0506030804020204" pitchFamily="34" charset="-78"/>
          <a:ea typeface="+mn-ea"/>
          <a:cs typeface="IRANYekan" panose="020B0506030804020204" pitchFamily="34" charset="-78"/>
        </a:defRPr>
      </a:lvl5pPr>
      <a:lvl6pPr marL="5028949" indent="-457177" algn="r" defTabSz="1828709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r" defTabSz="1828709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r" defTabSz="1828709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r" defTabSz="1828709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khadem/IrnaAI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qwen.ai/" TargetMode="External"/><Relationship Id="rId2" Type="http://schemas.openxmlformats.org/officeDocument/2006/relationships/hyperlink" Target="https://www.zerogpt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lmarena.ai/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>
                <a:solidFill>
                  <a:srgbClr val="164193"/>
                </a:solidFill>
              </a:rPr>
              <a:t>کاربردهای هوش مصنوعی در خبرنگاری</a:t>
            </a:r>
            <a:br>
              <a:rPr lang="fa-IR" dirty="0">
                <a:solidFill>
                  <a:srgbClr val="164193"/>
                </a:solidFill>
              </a:rPr>
            </a:br>
            <a:r>
              <a:rPr lang="fa-IR" sz="5400" dirty="0">
                <a:solidFill>
                  <a:srgbClr val="164193"/>
                </a:solidFill>
              </a:rPr>
              <a:t>جلسه دوم: هوش مصنوعی در جمع‌آوری و تحلیل اخبار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3633" y="7011048"/>
            <a:ext cx="15820845" cy="1267064"/>
          </a:xfrm>
        </p:spPr>
        <p:txBody>
          <a:bodyPr>
            <a:normAutofit fontScale="70000" lnSpcReduction="20000"/>
          </a:bodyPr>
          <a:lstStyle/>
          <a:p>
            <a:r>
              <a:rPr lang="fa-IR" dirty="0">
                <a:solidFill>
                  <a:srgbClr val="CE7E42"/>
                </a:solidFill>
              </a:rPr>
              <a:t>مهر ماه 1404</a:t>
            </a:r>
          </a:p>
          <a:p>
            <a:r>
              <a:rPr lang="fa-IR" dirty="0">
                <a:solidFill>
                  <a:srgbClr val="CE7E42"/>
                </a:solidFill>
              </a:rPr>
              <a:t>مصطفی خادم المله</a:t>
            </a:r>
          </a:p>
        </p:txBody>
      </p:sp>
    </p:spTree>
    <p:extLst>
      <p:ext uri="{BB962C8B-B14F-4D97-AF65-F5344CB8AC3E}">
        <p14:creationId xmlns:p14="http://schemas.microsoft.com/office/powerpoint/2010/main" val="3169752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</a:t>
            </a:fld>
            <a:endParaRPr lang="fa-IR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 dirty="0">
              <a:cs typeface="B Koodak" panose="00000700000000000000" pitchFamily="2" charset="-7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632C7B-AD64-4B5B-A15F-159C00BF19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524" y="928133"/>
            <a:ext cx="14135364" cy="930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299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cs typeface="B Koodak" panose="00000700000000000000" pitchFamily="2" charset="-78"/>
              </a:rPr>
              <a:t>📌 مرور سریع جلسه اول: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هوش مصنوعی چیست؟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AI, ML, NLP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cs typeface="B Koodak" panose="00000700000000000000" pitchFamily="2" charset="-78"/>
              </a:rPr>
              <a:t> </a:t>
            </a:r>
            <a:r>
              <a:rPr lang="fa-IR" sz="4000" dirty="0">
                <a:cs typeface="B Koodak" panose="00000700000000000000" pitchFamily="2" charset="-78"/>
              </a:rPr>
              <a:t>دستیار خبرنگار است، نه جایگزین!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کاربردهای کلیدی در چرخه خبری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نمونه‌های موفق: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AP, BBC, NYT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fa-IR" sz="4000" dirty="0">
              <a:cs typeface="B Koodak" panose="00000700000000000000" pitchFamily="2" charset="-78"/>
            </a:endParaRPr>
          </a:p>
          <a:p>
            <a:endParaRPr lang="fa-IR" sz="4000" dirty="0">
              <a:cs typeface="B Koodak" panose="00000700000000000000" pitchFamily="2" charset="-78"/>
            </a:endParaRPr>
          </a:p>
          <a:p>
            <a:endParaRPr lang="fa-IR" sz="4000" dirty="0">
              <a:cs typeface="B Koodak" panose="00000700000000000000" pitchFamily="2" charset="-78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🎯 امروز:</a:t>
            </a:r>
            <a:r>
              <a:rPr lang="fa-IR" sz="4000" dirty="0">
                <a:cs typeface="B Koodak" panose="00000700000000000000" pitchFamily="2" charset="-78"/>
              </a:rPr>
              <a:t> چگونه هوش مصنوعی</a:t>
            </a:r>
            <a:r>
              <a:rPr lang="en-US" sz="4000" dirty="0">
                <a:cs typeface="B Koodak" panose="00000700000000000000" pitchFamily="2" charset="-78"/>
              </a:rPr>
              <a:t> </a:t>
            </a:r>
            <a:r>
              <a:rPr lang="fa-IR" sz="4000" dirty="0">
                <a:cs typeface="B Koodak" panose="00000700000000000000" pitchFamily="2" charset="-78"/>
              </a:rPr>
              <a:t>به شما در "کشف خبر" و "درک داده‌ها" کمک می‌کند؟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3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91931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cs typeface="B Koodak" panose="00000700000000000000" pitchFamily="2" charset="-78"/>
              </a:rPr>
              <a:t>❗ چرا روش‌های سنتی کافی نیستند؟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حجم غیرقابل مدیریت اخبار روزانه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سرعت بالای انتشار در شبکه‌های اجتماعی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پنهان شدن اخبار مهم در میان هزاران پست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نیاز به رصد 24/7 — انسان نمی‌تواند همیشه فعال باشد!</a:t>
            </a: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  <a:p>
            <a:endParaRPr lang="fa-IR" sz="4000" dirty="0">
              <a:solidFill>
                <a:srgbClr val="CE7E42"/>
              </a:solidFill>
              <a:cs typeface="B Koodak" panose="00000700000000000000" pitchFamily="2" charset="-78"/>
            </a:endParaRPr>
          </a:p>
          <a:p>
            <a:endParaRPr lang="fa-IR" sz="4000" dirty="0">
              <a:solidFill>
                <a:srgbClr val="CE7E42"/>
              </a:solidFill>
              <a:cs typeface="B Koodak" panose="00000700000000000000" pitchFamily="2" charset="-78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🤖 راه حل:</a:t>
            </a:r>
            <a:r>
              <a:rPr lang="fa-IR" sz="4000" dirty="0">
                <a:cs typeface="B Koodak" panose="00000700000000000000" pitchFamily="2" charset="-78"/>
              </a:rPr>
              <a:t> سیستم‌های رصد و تحلیل هوشمند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4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66090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cs typeface="B Koodak" panose="00000700000000000000" pitchFamily="2" charset="-78"/>
              </a:rPr>
              <a:t>📡 پایش اخبار با هوش مصنوعی چیست؟</a:t>
            </a:r>
          </a:p>
          <a:p>
            <a:r>
              <a:rPr lang="fa-IR" sz="4000" dirty="0">
                <a:cs typeface="B Koodak" panose="00000700000000000000" pitchFamily="2" charset="-78"/>
              </a:rPr>
              <a:t>سیستم‌هایی که به صورت خودکار: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منابع خبری، شبکه‌های اجتماعی و وب‌سایت‌ها را رصد می‌کنند</a:t>
            </a:r>
          </a:p>
          <a:p>
            <a:pPr marL="571500" indent="-571500">
              <a:buFontTx/>
              <a:buChar char="-"/>
            </a:pPr>
            <a:r>
              <a:rPr lang="fa-IR" sz="4000" dirty="0" err="1">
                <a:cs typeface="B Koodak" panose="00000700000000000000" pitchFamily="2" charset="-78"/>
              </a:rPr>
              <a:t>کلیدواژه‌های</a:t>
            </a:r>
            <a:r>
              <a:rPr lang="fa-IR" sz="4000" dirty="0">
                <a:cs typeface="B Koodak" panose="00000700000000000000" pitchFamily="2" charset="-78"/>
              </a:rPr>
              <a:t> شما را شناسایی می‌کنند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هشدار فوری برای اخبار مهم ارسال می‌کنند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گزارش‌های روزانه/هفتگی تولید می‌کنند</a:t>
            </a: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🎯 هدف:</a:t>
            </a:r>
            <a:r>
              <a:rPr lang="fa-IR" sz="4000" dirty="0">
                <a:cs typeface="B Koodak" panose="00000700000000000000" pitchFamily="2" charset="-78"/>
              </a:rPr>
              <a:t> کشف خبر قبل از رقبا!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5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5879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cs typeface="B Koodak" panose="00000700000000000000" pitchFamily="2" charset="-78"/>
              </a:rPr>
              <a:t>🆓 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Alerts</a:t>
            </a:r>
            <a:r>
              <a:rPr lang="en-US" sz="6200" dirty="0">
                <a:solidFill>
                  <a:srgbClr val="CE7E42"/>
                </a:solidFill>
                <a:cs typeface="B Koodak" panose="00000700000000000000" pitchFamily="2" charset="-78"/>
              </a:rPr>
              <a:t> — </a:t>
            </a:r>
            <a:r>
              <a:rPr lang="fa-IR" sz="6200" dirty="0">
                <a:solidFill>
                  <a:srgbClr val="CE7E42"/>
                </a:solidFill>
                <a:cs typeface="B Koodak" panose="00000700000000000000" pitchFamily="2" charset="-78"/>
              </a:rPr>
              <a:t> ساده‌ترین شروع!</a:t>
            </a:r>
          </a:p>
          <a:p>
            <a:r>
              <a:rPr lang="fa-IR" sz="4000" dirty="0">
                <a:cs typeface="B Koodak" panose="00000700000000000000" pitchFamily="2" charset="-78"/>
              </a:rPr>
              <a:t>چگونه کار می‌کند:</a:t>
            </a:r>
          </a:p>
          <a:p>
            <a:pPr marL="742950" indent="-742950">
              <a:buAutoNum type="arabicPeriod"/>
            </a:pPr>
            <a:r>
              <a:rPr lang="fa-IR" sz="4000" dirty="0">
                <a:cs typeface="B Koodak" panose="00000700000000000000" pitchFamily="2" charset="-78"/>
              </a:rPr>
              <a:t>به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alerts.google.com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a-IR" sz="4000" dirty="0">
                <a:cs typeface="B Koodak" panose="00000700000000000000" pitchFamily="2" charset="-78"/>
              </a:rPr>
              <a:t>بروید</a:t>
            </a:r>
          </a:p>
          <a:p>
            <a:pPr marL="742950" indent="-742950">
              <a:buAutoNum type="arabicPeriod"/>
            </a:pPr>
            <a:r>
              <a:rPr lang="fa-IR" sz="4000" dirty="0" err="1">
                <a:cs typeface="B Koodak" panose="00000700000000000000" pitchFamily="2" charset="-78"/>
              </a:rPr>
              <a:t>کلیدواژه</a:t>
            </a:r>
            <a:r>
              <a:rPr lang="fa-IR" sz="4000" dirty="0">
                <a:cs typeface="B Koodak" panose="00000700000000000000" pitchFamily="2" charset="-78"/>
              </a:rPr>
              <a:t> خود را وارد کنید (مثال: “تورم در ایران”)</a:t>
            </a:r>
          </a:p>
          <a:p>
            <a:pPr marL="742950" indent="-742950">
              <a:buAutoNum type="arabicPeriod"/>
            </a:pPr>
            <a:r>
              <a:rPr lang="fa-IR" sz="4000" dirty="0">
                <a:cs typeface="B Koodak" panose="00000700000000000000" pitchFamily="2" charset="-78"/>
              </a:rPr>
              <a:t>اعمال تنظیمات (تعداد ایمیل، منابع، زبان)</a:t>
            </a:r>
          </a:p>
          <a:p>
            <a:pPr marL="742950" indent="-742950">
              <a:buAutoNum type="arabicPeriod"/>
            </a:pPr>
            <a:r>
              <a:rPr lang="fa-IR" sz="4000" dirty="0">
                <a:cs typeface="B Koodak" panose="00000700000000000000" pitchFamily="2" charset="-78"/>
              </a:rPr>
              <a:t>هشدارها را در ایمیل دریافت کنید!</a:t>
            </a:r>
          </a:p>
          <a:p>
            <a:pPr marL="742950" indent="-742950">
              <a:buAutoNum type="arabicPeriod"/>
            </a:pPr>
            <a:endParaRPr lang="fa-IR" sz="4000" dirty="0">
              <a:cs typeface="B Koodak" panose="00000700000000000000" pitchFamily="2" charset="-78"/>
            </a:endParaRPr>
          </a:p>
          <a:p>
            <a:pPr marL="742950" indent="-742950">
              <a:buAutoNum type="arabicPeriod"/>
            </a:pPr>
            <a:endParaRPr lang="fa-IR" sz="4000" dirty="0">
              <a:cs typeface="B Koodak" panose="00000700000000000000" pitchFamily="2" charset="-78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✅ مناسب برای:</a:t>
            </a:r>
            <a:r>
              <a:rPr lang="fa-IR" sz="4000" dirty="0">
                <a:cs typeface="B Koodak" panose="00000700000000000000" pitchFamily="2" charset="-78"/>
              </a:rPr>
              <a:t> خبرنگاران </a:t>
            </a:r>
            <a:r>
              <a:rPr lang="fa-IR" sz="4000" dirty="0" err="1">
                <a:cs typeface="B Koodak" panose="00000700000000000000" pitchFamily="2" charset="-78"/>
              </a:rPr>
              <a:t>تازه‌کار</a:t>
            </a:r>
            <a:r>
              <a:rPr lang="fa-IR" sz="4000" dirty="0">
                <a:cs typeface="B Koodak" panose="00000700000000000000" pitchFamily="2" charset="-78"/>
              </a:rPr>
              <a:t> و پروژه‌های شخصی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6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17421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cs typeface="B Koodak" panose="00000700000000000000" pitchFamily="2" charset="-78"/>
              </a:rPr>
              <a:t>🆓 </a:t>
            </a:r>
            <a:r>
              <a:rPr lang="en-US" sz="6200" dirty="0" err="1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Talkwalker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Alerts </a:t>
            </a:r>
            <a:r>
              <a:rPr lang="en-US" sz="6200" dirty="0">
                <a:solidFill>
                  <a:srgbClr val="CE7E42"/>
                </a:solidFill>
                <a:cs typeface="B Koodak" panose="00000700000000000000" pitchFamily="2" charset="-78"/>
              </a:rPr>
              <a:t>— </a:t>
            </a:r>
            <a:r>
              <a:rPr lang="fa-IR" sz="6200" dirty="0">
                <a:solidFill>
                  <a:srgbClr val="CE7E42"/>
                </a:solidFill>
                <a:cs typeface="B Koodak" panose="00000700000000000000" pitchFamily="2" charset="-78"/>
              </a:rPr>
              <a:t> قدرتمندتر از 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Alerts</a:t>
            </a:r>
            <a:endParaRPr lang="fa-IR" sz="6200" dirty="0">
              <a:solidFill>
                <a:srgbClr val="CE7E4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a-IR" sz="4000" dirty="0">
                <a:cs typeface="B Koodak" panose="00000700000000000000" pitchFamily="2" charset="-78"/>
              </a:rPr>
              <a:t>ویژگی‌ها: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رصد شبکه‌های اجتماعی (توییتر، </a:t>
            </a:r>
            <a:r>
              <a:rPr lang="fa-IR" sz="4000" dirty="0" err="1">
                <a:cs typeface="B Koodak" panose="00000700000000000000" pitchFamily="2" charset="-78"/>
              </a:rPr>
              <a:t>اینستاگرام</a:t>
            </a:r>
            <a:r>
              <a:rPr lang="fa-IR" sz="4000" dirty="0">
                <a:cs typeface="B Koodak" panose="00000700000000000000" pitchFamily="2" charset="-78"/>
              </a:rPr>
              <a:t>، </a:t>
            </a:r>
            <a:r>
              <a:rPr lang="fa-IR" sz="4000" dirty="0" err="1">
                <a:cs typeface="B Koodak" panose="00000700000000000000" pitchFamily="2" charset="-78"/>
              </a:rPr>
              <a:t>وبلاگ‌ها</a:t>
            </a:r>
            <a:r>
              <a:rPr lang="fa-IR" sz="4000" dirty="0">
                <a:cs typeface="B Koodak" panose="00000700000000000000" pitchFamily="2" charset="-78"/>
              </a:rPr>
              <a:t>)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امکان فیلتر بر اساس زبان، منطقه، منبع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 ارسال ایمیل یا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RSS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dirty="0">
              <a:cs typeface="B Koodak" panose="00000700000000000000" pitchFamily="2" charset="-78"/>
            </a:endParaRPr>
          </a:p>
          <a:p>
            <a:endParaRPr lang="fa-IR" sz="4000" dirty="0">
              <a:cs typeface="B Koodak" panose="00000700000000000000" pitchFamily="2" charset="-78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🌐 لینک:</a:t>
            </a:r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https://www.talkwalker.com/alerts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💡 نکته:</a:t>
            </a:r>
            <a:r>
              <a:rPr lang="fa-IR" sz="4000" dirty="0">
                <a:cs typeface="B Koodak" panose="00000700000000000000" pitchFamily="2" charset="-78"/>
              </a:rPr>
              <a:t> جایگزین عالی برای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Alerts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a-IR" sz="4000" dirty="0">
                <a:cs typeface="B Koodak" panose="00000700000000000000" pitchFamily="2" charset="-78"/>
              </a:rPr>
              <a:t>در رصد شبکه‌های اجتماعی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7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51413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💼 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Meltwater — </a:t>
            </a:r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برای تیم‌های خبری حرفه‌ای</a:t>
            </a:r>
          </a:p>
          <a:p>
            <a:r>
              <a:rPr lang="fa-IR" sz="4000" dirty="0">
                <a:cs typeface="B Koodak" panose="00000700000000000000" pitchFamily="2" charset="-78"/>
              </a:rPr>
              <a:t>قابلیت‌ها: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رصد ۱۰۰,۰۰۰+ منبع در ثانیه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تحلیل احساسات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Sentiment Analysis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cs typeface="B Koodak" panose="00000700000000000000" pitchFamily="2" charset="-78"/>
              </a:rPr>
              <a:t> </a:t>
            </a:r>
            <a:r>
              <a:rPr lang="fa-IR" sz="4000" dirty="0">
                <a:cs typeface="B Koodak" panose="00000700000000000000" pitchFamily="2" charset="-78"/>
              </a:rPr>
              <a:t>شناسایی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Influencer</a:t>
            </a:r>
            <a:r>
              <a:rPr lang="fa-IR" sz="4000" dirty="0">
                <a:cs typeface="B Koodak" panose="00000700000000000000" pitchFamily="2" charset="-78"/>
              </a:rPr>
              <a:t>ها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گزارش‌های تصویری و تعاملی</a:t>
            </a:r>
          </a:p>
          <a:p>
            <a:endParaRPr lang="fa-IR" sz="4000" dirty="0">
              <a:cs typeface="B Koodak" panose="00000700000000000000" pitchFamily="2" charset="-78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💰 هزینه:</a:t>
            </a:r>
            <a:r>
              <a:rPr lang="fa-IR" sz="4000" dirty="0">
                <a:cs typeface="B Koodak" panose="00000700000000000000" pitchFamily="2" charset="-78"/>
              </a:rPr>
              <a:t> بالا — مناسب </a:t>
            </a:r>
            <a:r>
              <a:rPr lang="fa-IR" sz="4000" dirty="0" err="1">
                <a:cs typeface="B Koodak" panose="00000700000000000000" pitchFamily="2" charset="-78"/>
              </a:rPr>
              <a:t>خبرگزاری‌های</a:t>
            </a:r>
            <a:r>
              <a:rPr lang="fa-IR" sz="4000" dirty="0">
                <a:cs typeface="B Koodak" panose="00000700000000000000" pitchFamily="2" charset="-78"/>
              </a:rPr>
              <a:t> بزرگ</a:t>
            </a: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🌐لینک: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https://www.meltwater.com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8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99318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🎥 </a:t>
            </a:r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نمایش عملی:</a:t>
            </a:r>
          </a:p>
          <a:p>
            <a:pPr marL="742950" indent="-742950">
              <a:buAutoNum type="arabicPeriod"/>
            </a:pPr>
            <a:r>
              <a:rPr lang="fa-IR" sz="4000" dirty="0">
                <a:cs typeface="B Koodak" panose="00000700000000000000" pitchFamily="2" charset="-78"/>
              </a:rPr>
              <a:t>ورود به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Alerts  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indent="-742950">
              <a:buAutoNum type="arabicPeriod"/>
            </a:pPr>
            <a:r>
              <a:rPr lang="fa-IR" sz="4000" dirty="0">
                <a:cs typeface="B Koodak" panose="00000700000000000000" pitchFamily="2" charset="-78"/>
              </a:rPr>
              <a:t>وارد کردن </a:t>
            </a:r>
            <a:r>
              <a:rPr lang="fa-IR" sz="4000" dirty="0" err="1">
                <a:cs typeface="B Koodak" panose="00000700000000000000" pitchFamily="2" charset="-78"/>
              </a:rPr>
              <a:t>کلیدواژه</a:t>
            </a:r>
            <a:r>
              <a:rPr lang="fa-IR" sz="4000" dirty="0">
                <a:cs typeface="B Koodak" panose="00000700000000000000" pitchFamily="2" charset="-78"/>
              </a:rPr>
              <a:t>: “کنسرت شجریان” </a:t>
            </a:r>
          </a:p>
          <a:p>
            <a:pPr marL="742950" indent="-742950">
              <a:buAutoNum type="arabicPeriod"/>
            </a:pPr>
            <a:r>
              <a:rPr lang="fa-IR" sz="4000" dirty="0">
                <a:cs typeface="B Koodak" panose="00000700000000000000" pitchFamily="2" charset="-78"/>
              </a:rPr>
              <a:t>انتخاب منابع: اخبار فارسی + </a:t>
            </a:r>
            <a:r>
              <a:rPr lang="fa-IR" sz="4000" dirty="0" err="1">
                <a:cs typeface="B Koodak" panose="00000700000000000000" pitchFamily="2" charset="-78"/>
              </a:rPr>
              <a:t>وبلاگ‌ها</a:t>
            </a:r>
            <a:endParaRPr lang="fa-IR" sz="4000" dirty="0">
              <a:cs typeface="B Koodak" panose="00000700000000000000" pitchFamily="2" charset="-78"/>
            </a:endParaRPr>
          </a:p>
          <a:p>
            <a:pPr marL="742950" indent="-742950">
              <a:buAutoNum type="arabicPeriod"/>
            </a:pPr>
            <a:r>
              <a:rPr lang="fa-IR" sz="4000" dirty="0">
                <a:cs typeface="B Koodak" panose="00000700000000000000" pitchFamily="2" charset="-78"/>
              </a:rPr>
              <a:t>انتخاب فراوانی: “همان لحظه” </a:t>
            </a:r>
          </a:p>
          <a:p>
            <a:pPr marL="742950" indent="-742950">
              <a:buAutoNum type="arabicPeriod"/>
            </a:pPr>
            <a:r>
              <a:rPr lang="fa-IR" sz="4000" dirty="0">
                <a:cs typeface="B Koodak" panose="00000700000000000000" pitchFamily="2" charset="-78"/>
              </a:rPr>
              <a:t>ذخیره و دریافت اولین هشدار!</a:t>
            </a:r>
          </a:p>
          <a:p>
            <a:pPr marL="742950" indent="-742950">
              <a:buAutoNum type="arabicPeriod"/>
            </a:pPr>
            <a:endParaRPr lang="fa-IR" sz="4000" dirty="0">
              <a:cs typeface="B Koodak" panose="00000700000000000000" pitchFamily="2" charset="-78"/>
            </a:endParaRPr>
          </a:p>
          <a:p>
            <a:pPr marL="742950" indent="-742950">
              <a:buAutoNum type="arabicPeriod"/>
            </a:pPr>
            <a:endParaRPr lang="fa-IR" sz="4000" dirty="0">
              <a:cs typeface="B Koodak" panose="00000700000000000000" pitchFamily="2" charset="-78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📌 تمرین: </a:t>
            </a:r>
            <a:r>
              <a:rPr lang="fa-IR" sz="4000" dirty="0" err="1">
                <a:cs typeface="B Koodak" panose="00000700000000000000" pitchFamily="2" charset="-78"/>
              </a:rPr>
              <a:t>لطفا</a:t>
            </a:r>
            <a:r>
              <a:rPr lang="fa-IR" sz="4000" dirty="0">
                <a:cs typeface="B Koodak" panose="00000700000000000000" pitchFamily="2" charset="-78"/>
              </a:rPr>
              <a:t> همین حالا یک هشدار تنظیم کنند!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9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68532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😊😐😠 تحلیل احساسات چیست؟</a:t>
            </a:r>
          </a:p>
          <a:p>
            <a:r>
              <a:rPr lang="fa-IR" sz="4000" dirty="0">
                <a:cs typeface="B Koodak" panose="00000700000000000000" pitchFamily="2" charset="-78"/>
              </a:rPr>
              <a:t>هوش مصنوعی </a:t>
            </a:r>
            <a:r>
              <a:rPr lang="fa-IR" sz="4000" dirty="0" err="1">
                <a:cs typeface="B Koodak" panose="00000700000000000000" pitchFamily="2" charset="-78"/>
              </a:rPr>
              <a:t>متن‌ها</a:t>
            </a:r>
            <a:r>
              <a:rPr lang="fa-IR" sz="4000" dirty="0">
                <a:cs typeface="B Koodak" panose="00000700000000000000" pitchFamily="2" charset="-78"/>
              </a:rPr>
              <a:t> را تحلیل می‌کند و تشخیص می‌دهد: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مثبت / منفی / خنثی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عصبانی / خوشحال / نگران</a:t>
            </a: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📌 کاربرد در خبرنگاری: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درک واکنش عمومی به یک خبر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شناسایی بحران‌های اجتماعی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گزارش‌های تحلیلی بر اساس احساسات عمومی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10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68372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🛠️ ابزارهای کاربردی:</a:t>
            </a:r>
          </a:p>
          <a:p>
            <a:pPr marL="742950" indent="-742950">
              <a:buFont typeface="Courier New" panose="02070309020205020404" pitchFamily="49" charset="0"/>
              <a:buChar char="o"/>
            </a:pP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MonkeyLearn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https://monkeylearn.com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a-IR" sz="4000" dirty="0">
                <a:cs typeface="B Koodak" panose="00000700000000000000" pitchFamily="2" charset="-78"/>
              </a:rPr>
              <a:t>رایگان تا ۱۰۰۰ تحلیل ماهانه</a:t>
            </a:r>
          </a:p>
          <a:p>
            <a:pPr marL="742950" indent="-742950">
              <a:buFont typeface="Courier New" panose="02070309020205020404" pitchFamily="49" charset="0"/>
              <a:buChar char="o"/>
            </a:pP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Lexalytics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https://lexalytics.com</a:t>
            </a:r>
            <a:r>
              <a:rPr lang="fa-IR" sz="4000" dirty="0">
                <a:cs typeface="B Koodak" panose="00000700000000000000" pitchFamily="2" charset="-78"/>
              </a:rPr>
              <a:t> حرفه‌ای — برای تیم‌های بزرگ</a:t>
            </a:r>
          </a:p>
          <a:p>
            <a:pPr marL="742950" indent="-742950">
              <a:buFont typeface="Courier New" panose="02070309020205020404" pitchFamily="49" charset="0"/>
              <a:buChar char="o"/>
            </a:pPr>
            <a:r>
              <a:rPr lang="fa-IR" sz="4000" dirty="0">
                <a:cs typeface="B Koodak" panose="00000700000000000000" pitchFamily="2" charset="-78"/>
              </a:rPr>
              <a:t>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Hugging Face +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a-IR" sz="4000" dirty="0">
                <a:cs typeface="B Koodak" panose="00000700000000000000" pitchFamily="2" charset="-78"/>
              </a:rPr>
              <a:t>مدل‌های فارسی — برای کاربران پیشرفته</a:t>
            </a:r>
          </a:p>
          <a:p>
            <a:pPr marL="742950" indent="-742950">
              <a:buFont typeface="Courier New" panose="02070309020205020404" pitchFamily="49" charset="0"/>
              <a:buChar char="o"/>
            </a:pP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ZeroGPT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– بررسی میزان استفاده از ابزارها تولید متن</a:t>
            </a:r>
            <a:endParaRPr lang="fa-IR" sz="4000" dirty="0">
              <a:cs typeface="+mj-cs"/>
            </a:endParaRPr>
          </a:p>
          <a:p>
            <a:pPr marL="742950" indent="-742950">
              <a:buAutoNum type="arabicPeriod"/>
            </a:pPr>
            <a:endParaRPr lang="fa-IR" sz="4000" dirty="0">
              <a:cs typeface="B Koodak" panose="00000700000000000000" pitchFamily="2" charset="-78"/>
            </a:endParaRPr>
          </a:p>
          <a:p>
            <a:pPr marL="742950" indent="-742950">
              <a:buAutoNum type="arabicPeriod"/>
            </a:pPr>
            <a:endParaRPr lang="fa-IR" sz="4000" dirty="0">
              <a:cs typeface="B Koodak" panose="00000700000000000000" pitchFamily="2" charset="-78"/>
            </a:endParaRPr>
          </a:p>
          <a:p>
            <a:endParaRPr lang="fa-IR" sz="4000" dirty="0">
              <a:solidFill>
                <a:srgbClr val="CE7E42"/>
              </a:solidFill>
              <a:cs typeface="B Koodak" panose="00000700000000000000" pitchFamily="2" charset="-78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✅ نکته:</a:t>
            </a:r>
            <a:r>
              <a:rPr lang="fa-IR" sz="4000" dirty="0">
                <a:cs typeface="B Koodak" panose="00000700000000000000" pitchFamily="2" charset="-78"/>
              </a:rPr>
              <a:t> برخی ابزارها زبان فارسی را پشتیبانی نمی‌کنند — حتماً چک کنید!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11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38785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📱 </a:t>
            </a:r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هوش مصنوعی در توییتر و </a:t>
            </a:r>
            <a:r>
              <a:rPr lang="fa-IR" sz="6200" dirty="0" err="1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اینستاگرام</a:t>
            </a:r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شناسایی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پست‌های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پراستناد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رصد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هشتگ‌های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داغ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شناسایی کاربران تأثیرگذار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Influencers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کشف اخبار در حال وقوع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Breaking News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ابزار: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TweetDeck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Talkwalker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Brandwatch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fa-IR" sz="4000" dirty="0">
              <a:solidFill>
                <a:srgbClr val="CE7E42"/>
              </a:solidFill>
              <a:cs typeface="B Koodak" panose="00000700000000000000" pitchFamily="2" charset="-78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12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97035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🔍 کشف خبر از داده‌های باز!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داده‌های دولتی، آماری، محیط زیستی ←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طلاهای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خبری!</a:t>
            </a: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مثال: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افزایش ۳۰۰٪ی جرایم در یک منطقه ← خبر محلی مهم!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کاهش بودجه آموزش ← خبر ملی</a:t>
            </a: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ابزار: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data.gov.ir —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data.world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— Kaggle</a:t>
            </a:r>
            <a:endParaRPr lang="fa-IR" sz="4000" dirty="0">
              <a:solidFill>
                <a:srgbClr val="CE7E42"/>
              </a:solidFill>
              <a:cs typeface="B Koodak" panose="00000700000000000000" pitchFamily="2" charset="-78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13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10926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📊 تجسم داده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Data Visualization</a:t>
            </a:r>
            <a:endParaRPr lang="fa-IR" sz="6200" dirty="0">
              <a:solidFill>
                <a:srgbClr val="CE7E42"/>
              </a:solidFill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خبر بدون نمودار = خبر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نیمه‌کاره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!</a:t>
            </a: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هوش مصنوعی کمک می‌کند: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داده خام ← نمودار جذاب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شناسایی روندها و الگوها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ارائه ساده برای مخاطب عام</a:t>
            </a:r>
          </a:p>
          <a:p>
            <a:endParaRPr lang="fa-IR" sz="4000" dirty="0">
              <a:solidFill>
                <a:srgbClr val="CE7E42"/>
              </a:solidFill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ابزار: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Tableau Public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—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Flourish —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Datawrapper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14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59337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📰 نمونه: خبر “افزایش تورم در ۶ ماه اول سال”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نمودار خطی: روند تورم ماه به ماه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نمودار دایره‌ای: سهم بخش‌های مختلف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نقشه: تورم در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استان‌های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مختلف</a:t>
            </a: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🎯 نتیجه: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خبر جذاب‌تر،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قابل‌درک‌تر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، اعتبار بیشتر!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15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23384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📰 شناسایی موضوعات داغ با خوشه‌بندی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هوش مصنوعی اخبار را گروه‌بندی می‌کند: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سیاسی / اقتصادی / فرهنگی</a:t>
            </a:r>
          </a:p>
          <a:p>
            <a:pPr marL="571500" indent="-571500">
              <a:buFontTx/>
              <a:buChar char="-"/>
            </a:pP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زیرموضوع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: نرخ ارز، بیکاری، اعتراضات</a:t>
            </a: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📌 کاربرد: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شناسایی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Trend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های پنهان — قبل از رقبا!</a:t>
            </a: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ابزار: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NewsAPI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+ Python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نمونه ساده بدون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کدنویسی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در جلسه عملی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16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49366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📝 </a:t>
            </a:r>
            <a:r>
              <a:rPr lang="fa-IR" sz="6200" dirty="0" err="1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خلاصه‌سازی</a:t>
            </a:r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گزارش‌های طولانی با </a:t>
            </a:r>
            <a:r>
              <a:rPr lang="en-US" sz="6200" dirty="0" err="1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ChatGPT</a:t>
            </a:r>
            <a:endParaRPr lang="en-US" sz="6200" dirty="0">
              <a:solidFill>
                <a:srgbClr val="CE7E42"/>
              </a:solidFill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Prompt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نمونه: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“لطفاً این گزارش ۱۰ صفحه‌ای را در ۵ بند خلاصه کن و نکات کلیدی را استخراج کن.”</a:t>
            </a: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✅ مزیت: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صرفه‌جویی در زمان — تمرکز بر تحلیل، نه خواندن!</a:t>
            </a: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📌 نکته: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همیشه خلاصه را با متن اصلی تطبیق دهید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Cross-check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17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29608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✍️ فعالیت: </a:t>
            </a:r>
            <a:r>
              <a:rPr lang="fa-IR" sz="6200" dirty="0" err="1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خلاصه‌سازی</a:t>
            </a:r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یک گزارش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متن زیر را خلاصه کنید (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</a:rPr>
              <a:t>۳۰۰ کلمه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)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یک خبر از ایرنا انتخاب کنید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با استفاده از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ChatGPT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یا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Copilot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آن را به ۱۰۰ کلمه خلاصه کنند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مقایسه نتایج و بحث درباره دقت و کارایی</a:t>
            </a: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en-US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⏱️ </a:t>
            </a:r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زمان: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۷ دقیقه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18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26915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🚨 استفاده از هوش مصنوعی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در بلایای طبیعی و حوادث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رصد توییتر برای کشف محل دقیق حادثه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تحلیل تصاویر و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ویدئوهای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کاربران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هماهنگی امداد با داده‌های بلادرنگ</a:t>
            </a: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مثال: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زلزله ترکیه — استفاده از هوش مصنوعی برای شناسایی حادثه دیدگان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19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51480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📰 مطالعه موردی: </a:t>
            </a:r>
            <a:r>
              <a:rPr lang="fa-IR" sz="6200" dirty="0" err="1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خبرگزاری‌های</a:t>
            </a:r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ایرانی در سیل ۱۴۰۱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استفاده از تصاویر ماهواره‌ای + هوش مصنوعی برای شناسایی مناطق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آسیب‌دیده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تحلیل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پست‌های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کاربران برای شناسایی نقاط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کمک‌رسانی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تولید خبر خودکار با آمار به‌روز</a:t>
            </a: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🎯 نتیجه: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پوشش سریع‌تر و دقیق‌تر با کمک هوش مصنوعی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20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22505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⚠️ چالش‌های استفاده از 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AI </a:t>
            </a:r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در تحلیل: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سوگیری الگوریتمی: هوش مصنوعی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ممکن است برخی منابع را نادیده بگیرد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خطای داده: اگر داده ورودی اشتباه باشد، خروجی هم اشتباه است!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وابستگی بیش از حد: از دست دادن مهارت تحلیل دستی</a:t>
            </a: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✅ راهکار: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همیشه خروجی‌های هوش مصنوعی را با دقت بررسی کنید!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21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27680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👥 فعالیت گروهی (۱۰ دقیقه)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موضوع: پیشنهاد موضوع روز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مراحل کار: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لیست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کلیدواژه‌های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رصد (حداقل ۱۰ مورد)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انتخاب ابزار رصد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Google Alerts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، سرویس‌های ایرانی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تعیین منابع (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خبرگزاری‌ها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، توییتر،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وبلاگ‌ها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)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طراحی گزارش روزانه (چه چیزهایی باید در گزارش باشد؟)</a:t>
            </a: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ارائه: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۲ دقیقه برای هر گروه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22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441735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📌</a:t>
            </a:r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سهم بازار</a:t>
            </a: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📌 منبع</a:t>
            </a:r>
            <a:r>
              <a:rPr lang="fa-IR" sz="400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  <a:r>
              <a:rPr lang="fa-IR" sz="400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4000">
                <a:latin typeface="Calibri" panose="020F0502020204030204" pitchFamily="34" charset="0"/>
                <a:ea typeface="Calibri" panose="020F0502020204030204" pitchFamily="34" charset="0"/>
              </a:rPr>
              <a:t>onelittleweb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</a:rPr>
              <a:t>.com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23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7B3FB30-0807-4705-ABE9-0A4EDABDE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322137"/>
              </p:ext>
            </p:extLst>
          </p:nvPr>
        </p:nvGraphicFramePr>
        <p:xfrm>
          <a:off x="4910666" y="4535650"/>
          <a:ext cx="15764934" cy="5963017"/>
        </p:xfrm>
        <a:graphic>
          <a:graphicData uri="http://schemas.openxmlformats.org/drawingml/2006/table">
            <a:tbl>
              <a:tblPr rtl="1">
                <a:tableStyleId>{125E5076-3810-47DD-B79F-674D7AD40C01}</a:tableStyleId>
              </a:tblPr>
              <a:tblGrid>
                <a:gridCol w="908845">
                  <a:extLst>
                    <a:ext uri="{9D8B030D-6E8A-4147-A177-3AD203B41FA5}">
                      <a16:colId xmlns:a16="http://schemas.microsoft.com/office/drawing/2014/main" val="2127204315"/>
                    </a:ext>
                  </a:extLst>
                </a:gridCol>
                <a:gridCol w="2991757">
                  <a:extLst>
                    <a:ext uri="{9D8B030D-6E8A-4147-A177-3AD203B41FA5}">
                      <a16:colId xmlns:a16="http://schemas.microsoft.com/office/drawing/2014/main" val="2632204515"/>
                    </a:ext>
                  </a:extLst>
                </a:gridCol>
                <a:gridCol w="3131069">
                  <a:extLst>
                    <a:ext uri="{9D8B030D-6E8A-4147-A177-3AD203B41FA5}">
                      <a16:colId xmlns:a16="http://schemas.microsoft.com/office/drawing/2014/main" val="3313421814"/>
                    </a:ext>
                  </a:extLst>
                </a:gridCol>
                <a:gridCol w="8733263">
                  <a:extLst>
                    <a:ext uri="{9D8B030D-6E8A-4147-A177-3AD203B41FA5}">
                      <a16:colId xmlns:a16="http://schemas.microsoft.com/office/drawing/2014/main" val="3893854182"/>
                    </a:ext>
                  </a:extLst>
                </a:gridCol>
              </a:tblGrid>
              <a:tr h="491833"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u="none" strike="noStrike" dirty="0">
                          <a:effectLst/>
                        </a:rPr>
                        <a:t>رتبه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u="none" strike="noStrike" dirty="0">
                          <a:effectLst/>
                        </a:rPr>
                        <a:t>نام ابزار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u="none" strike="noStrike" dirty="0">
                          <a:effectLst/>
                        </a:rPr>
                        <a:t>بازدید سالانه وب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u="none" strike="noStrike" dirty="0">
                          <a:effectLst/>
                        </a:rPr>
                        <a:t>نکات قابل توجه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extLst>
                  <a:ext uri="{0D108BD9-81ED-4DB2-BD59-A6C34878D82A}">
                    <a16:rowId xmlns:a16="http://schemas.microsoft.com/office/drawing/2014/main" val="1817755764"/>
                  </a:ext>
                </a:extLst>
              </a:tr>
              <a:tr h="491833">
                <a:tc>
                  <a:txBody>
                    <a:bodyPr/>
                    <a:lstStyle/>
                    <a:p>
                      <a:pPr algn="ctr" rtl="0" fontAlgn="b"/>
                      <a:r>
                        <a:rPr lang="fa-IR" sz="1800" u="none" strike="noStrike" dirty="0">
                          <a:effectLst/>
                        </a:rPr>
                        <a:t>1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u="none" strike="noStrike" dirty="0" err="1">
                          <a:effectLst/>
                        </a:rPr>
                        <a:t>ChatGPT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a-IR" sz="1800" u="none" strike="noStrike" dirty="0">
                          <a:effectLst/>
                        </a:rPr>
                        <a:t>46.59 میلیارد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u="none" strike="noStrike" dirty="0">
                          <a:effectLst/>
                        </a:rPr>
                        <a:t>اختلاف فاحش با سایر رقبا؛ سلطه مطلق در بازار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extLst>
                  <a:ext uri="{0D108BD9-81ED-4DB2-BD59-A6C34878D82A}">
                    <a16:rowId xmlns:a16="http://schemas.microsoft.com/office/drawing/2014/main" val="2661384599"/>
                  </a:ext>
                </a:extLst>
              </a:tr>
              <a:tr h="515954">
                <a:tc>
                  <a:txBody>
                    <a:bodyPr/>
                    <a:lstStyle/>
                    <a:p>
                      <a:pPr algn="ctr" rtl="0" fontAlgn="b"/>
                      <a:r>
                        <a:rPr lang="fa-IR" sz="1800" u="none" strike="noStrike" dirty="0">
                          <a:effectLst/>
                        </a:rPr>
                        <a:t>2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u="none" strike="noStrike" dirty="0" err="1">
                          <a:effectLst/>
                        </a:rPr>
                        <a:t>DeepSeek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a-IR" sz="1800" u="none" strike="noStrike" dirty="0">
                          <a:effectLst/>
                        </a:rPr>
                        <a:t>2.74 میلیارد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u="none" strike="noStrike" dirty="0">
                          <a:effectLst/>
                        </a:rPr>
                        <a:t>جایگاه بالاتر از </a:t>
                      </a:r>
                      <a:r>
                        <a:rPr lang="en-US" sz="1800" u="none" strike="noStrike" dirty="0">
                          <a:effectLst/>
                        </a:rPr>
                        <a:t>Gemini </a:t>
                      </a:r>
                      <a:r>
                        <a:rPr lang="fa-IR" sz="1800" u="none" strike="noStrike" dirty="0">
                          <a:effectLst/>
                        </a:rPr>
                        <a:t>و </a:t>
                      </a:r>
                      <a:r>
                        <a:rPr lang="en-US" sz="1800" u="none" strike="noStrike" dirty="0">
                          <a:effectLst/>
                        </a:rPr>
                        <a:t>Claude؛ </a:t>
                      </a:r>
                      <a:r>
                        <a:rPr lang="fa-IR" sz="1800" u="none" strike="noStrike" dirty="0">
                          <a:effectLst/>
                        </a:rPr>
                        <a:t>رشد چشمگیر در آسیا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extLst>
                  <a:ext uri="{0D108BD9-81ED-4DB2-BD59-A6C34878D82A}">
                    <a16:rowId xmlns:a16="http://schemas.microsoft.com/office/drawing/2014/main" val="2638935261"/>
                  </a:ext>
                </a:extLst>
              </a:tr>
              <a:tr h="491833">
                <a:tc>
                  <a:txBody>
                    <a:bodyPr/>
                    <a:lstStyle/>
                    <a:p>
                      <a:pPr algn="ctr" rtl="0" fontAlgn="b"/>
                      <a:r>
                        <a:rPr lang="fa-IR" sz="1800" u="none" strike="noStrike" dirty="0">
                          <a:effectLst/>
                        </a:rPr>
                        <a:t>3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u="none" strike="noStrike" dirty="0">
                          <a:effectLst/>
                        </a:rPr>
                        <a:t>Gemini (Google)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a-IR" sz="1800" u="none" strike="noStrike" dirty="0">
                          <a:effectLst/>
                        </a:rPr>
                        <a:t>1.66 میلیارد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u="none" strike="noStrike" dirty="0">
                          <a:effectLst/>
                        </a:rPr>
                        <a:t>محصول </a:t>
                      </a:r>
                      <a:r>
                        <a:rPr lang="fa-IR" sz="1800" u="none" strike="noStrike" dirty="0" err="1">
                          <a:effectLst/>
                        </a:rPr>
                        <a:t>گوگل</a:t>
                      </a:r>
                      <a:r>
                        <a:rPr lang="fa-IR" sz="1800" u="none" strike="noStrike" dirty="0">
                          <a:effectLst/>
                        </a:rPr>
                        <a:t>؛ در حال تثبیت جایگاه خود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extLst>
                  <a:ext uri="{0D108BD9-81ED-4DB2-BD59-A6C34878D82A}">
                    <a16:rowId xmlns:a16="http://schemas.microsoft.com/office/drawing/2014/main" val="2968331913"/>
                  </a:ext>
                </a:extLst>
              </a:tr>
              <a:tr h="617986">
                <a:tc>
                  <a:txBody>
                    <a:bodyPr/>
                    <a:lstStyle/>
                    <a:p>
                      <a:pPr algn="ctr" rtl="0" fontAlgn="b"/>
                      <a:r>
                        <a:rPr lang="fa-IR" sz="1800" u="none" strike="noStrike" dirty="0">
                          <a:effectLst/>
                        </a:rPr>
                        <a:t>4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u="none" strike="noStrike" dirty="0">
                          <a:effectLst/>
                        </a:rPr>
                        <a:t>Perplexity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a-IR" sz="1800" u="none" strike="noStrike" dirty="0">
                          <a:effectLst/>
                        </a:rPr>
                        <a:t>1.47 میلیارد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u="none" strike="noStrike" dirty="0">
                          <a:effectLst/>
                        </a:rPr>
                        <a:t>موتور جستجوی مبتنی بر </a:t>
                      </a:r>
                      <a:r>
                        <a:rPr lang="en-US" sz="1800" u="none" strike="noStrike" dirty="0">
                          <a:effectLst/>
                        </a:rPr>
                        <a:t>AI؛ </a:t>
                      </a:r>
                      <a:r>
                        <a:rPr lang="fa-IR" sz="1800" u="none" strike="noStrike" dirty="0">
                          <a:effectLst/>
                        </a:rPr>
                        <a:t>محبوب در میان کاربران حرفه‌ای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extLst>
                  <a:ext uri="{0D108BD9-81ED-4DB2-BD59-A6C34878D82A}">
                    <a16:rowId xmlns:a16="http://schemas.microsoft.com/office/drawing/2014/main" val="1695112059"/>
                  </a:ext>
                </a:extLst>
              </a:tr>
              <a:tr h="515954">
                <a:tc>
                  <a:txBody>
                    <a:bodyPr/>
                    <a:lstStyle/>
                    <a:p>
                      <a:pPr algn="ctr" rtl="0" fontAlgn="b"/>
                      <a:r>
                        <a:rPr lang="fa-IR" sz="1800" u="none" strike="noStrike" dirty="0">
                          <a:effectLst/>
                        </a:rPr>
                        <a:t>5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u="none" strike="noStrike" dirty="0">
                          <a:effectLst/>
                        </a:rPr>
                        <a:t>Claude (Anthropic)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a-IR" sz="1800" u="none" strike="noStrike" dirty="0">
                          <a:effectLst/>
                        </a:rPr>
                        <a:t>1.15 میلیارد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u="none" strike="noStrike" dirty="0">
                          <a:effectLst/>
                        </a:rPr>
                        <a:t>تمرکز بر ایمنی و اخلاق؛ محبوب در حوزه‌های تخصصی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extLst>
                  <a:ext uri="{0D108BD9-81ED-4DB2-BD59-A6C34878D82A}">
                    <a16:rowId xmlns:a16="http://schemas.microsoft.com/office/drawing/2014/main" val="2911575574"/>
                  </a:ext>
                </a:extLst>
              </a:tr>
              <a:tr h="491833">
                <a:tc>
                  <a:txBody>
                    <a:bodyPr/>
                    <a:lstStyle/>
                    <a:p>
                      <a:pPr algn="ctr" rtl="0" fontAlgn="b"/>
                      <a:r>
                        <a:rPr lang="fa-IR" sz="1800" u="none" strike="noStrike" dirty="0">
                          <a:effectLst/>
                        </a:rPr>
                        <a:t>6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u="none" strike="noStrike" dirty="0">
                          <a:effectLst/>
                        </a:rPr>
                        <a:t>Microsoft Copilot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a-IR" sz="1800" u="none" strike="noStrike" dirty="0">
                          <a:effectLst/>
                        </a:rPr>
                        <a:t>957.19 میلیون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u="none" strike="noStrike" dirty="0">
                          <a:effectLst/>
                        </a:rPr>
                        <a:t>یکپارچه با محصولات مایکروسافت؛ رشد پایدار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extLst>
                  <a:ext uri="{0D108BD9-81ED-4DB2-BD59-A6C34878D82A}">
                    <a16:rowId xmlns:a16="http://schemas.microsoft.com/office/drawing/2014/main" val="4044455849"/>
                  </a:ext>
                </a:extLst>
              </a:tr>
              <a:tr h="491833">
                <a:tc>
                  <a:txBody>
                    <a:bodyPr/>
                    <a:lstStyle/>
                    <a:p>
                      <a:pPr algn="ctr" rtl="0" fontAlgn="b"/>
                      <a:r>
                        <a:rPr lang="fa-IR" sz="1800" u="none" strike="noStrike" dirty="0">
                          <a:effectLst/>
                        </a:rPr>
                        <a:t>7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u="none" strike="noStrike" dirty="0">
                          <a:effectLst/>
                        </a:rPr>
                        <a:t>Grok 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a-IR" sz="1800" u="none" strike="noStrike" dirty="0">
                          <a:effectLst/>
                        </a:rPr>
                        <a:t>686.91 میلیون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u="none" strike="noStrike" dirty="0">
                          <a:effectLst/>
                        </a:rPr>
                        <a:t>محصول </a:t>
                      </a:r>
                      <a:r>
                        <a:rPr lang="fa-IR" sz="1800" u="none" strike="noStrike" dirty="0" err="1">
                          <a:effectLst/>
                        </a:rPr>
                        <a:t>ایلان</a:t>
                      </a:r>
                      <a:r>
                        <a:rPr lang="fa-IR" sz="1800" u="none" strike="noStrike" dirty="0">
                          <a:effectLst/>
                        </a:rPr>
                        <a:t> ماسک؛ </a:t>
                      </a:r>
                      <a:r>
                        <a:rPr lang="fa-IR" sz="1800" u="none" strike="noStrike" dirty="0" err="1">
                          <a:effectLst/>
                        </a:rPr>
                        <a:t>تازه‌وارد</a:t>
                      </a:r>
                      <a:r>
                        <a:rPr lang="fa-IR" sz="1800" u="none" strike="noStrike" dirty="0">
                          <a:effectLst/>
                        </a:rPr>
                        <a:t> با رشد سریع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extLst>
                  <a:ext uri="{0D108BD9-81ED-4DB2-BD59-A6C34878D82A}">
                    <a16:rowId xmlns:a16="http://schemas.microsoft.com/office/drawing/2014/main" val="1295831908"/>
                  </a:ext>
                </a:extLst>
              </a:tr>
              <a:tr h="617986">
                <a:tc>
                  <a:txBody>
                    <a:bodyPr/>
                    <a:lstStyle/>
                    <a:p>
                      <a:pPr algn="ctr" rtl="0" fontAlgn="b"/>
                      <a:r>
                        <a:rPr lang="fa-IR" sz="1800" u="none" strike="noStrike" dirty="0">
                          <a:effectLst/>
                        </a:rPr>
                        <a:t>8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u="none" strike="noStrike" dirty="0">
                          <a:effectLst/>
                        </a:rPr>
                        <a:t>Poe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a-IR" sz="1800" u="none" strike="noStrike" dirty="0">
                          <a:effectLst/>
                        </a:rPr>
                        <a:t>378.05 میلیون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u="none" strike="noStrike" dirty="0">
                          <a:effectLst/>
                        </a:rPr>
                        <a:t>پلتفرم </a:t>
                      </a:r>
                      <a:r>
                        <a:rPr lang="fa-IR" sz="1800" u="none" strike="noStrike" dirty="0" err="1">
                          <a:effectLst/>
                        </a:rPr>
                        <a:t>تجمیعی</a:t>
                      </a:r>
                      <a:r>
                        <a:rPr lang="fa-IR" sz="1800" u="none" strike="noStrike" dirty="0">
                          <a:effectLst/>
                        </a:rPr>
                        <a:t>؛ امکان دسترسی به چند مدل مختلف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extLst>
                  <a:ext uri="{0D108BD9-81ED-4DB2-BD59-A6C34878D82A}">
                    <a16:rowId xmlns:a16="http://schemas.microsoft.com/office/drawing/2014/main" val="1180942459"/>
                  </a:ext>
                </a:extLst>
              </a:tr>
              <a:tr h="515954">
                <a:tc>
                  <a:txBody>
                    <a:bodyPr/>
                    <a:lstStyle/>
                    <a:p>
                      <a:pPr algn="ctr" rtl="0" fontAlgn="b"/>
                      <a:r>
                        <a:rPr lang="fa-IR" sz="1800" u="none" strike="noStrike" dirty="0">
                          <a:effectLst/>
                        </a:rPr>
                        <a:t>9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u="none" strike="noStrike" dirty="0">
                          <a:effectLst/>
                        </a:rPr>
                        <a:t>Meta AI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a-IR" sz="1800" u="none" strike="noStrike" dirty="0">
                          <a:effectLst/>
                        </a:rPr>
                        <a:t>130.35 میلیون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u="none" strike="noStrike" dirty="0">
                          <a:effectLst/>
                        </a:rPr>
                        <a:t>محصول </a:t>
                      </a:r>
                      <a:r>
                        <a:rPr lang="fa-IR" sz="1800" u="none" strike="noStrike" dirty="0" err="1">
                          <a:effectLst/>
                        </a:rPr>
                        <a:t>متا</a:t>
                      </a:r>
                      <a:r>
                        <a:rPr lang="fa-IR" sz="1800" u="none" strike="noStrike" dirty="0">
                          <a:effectLst/>
                        </a:rPr>
                        <a:t>؛ هنوز در مراحل اولیه پذیرش عمومی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extLst>
                  <a:ext uri="{0D108BD9-81ED-4DB2-BD59-A6C34878D82A}">
                    <a16:rowId xmlns:a16="http://schemas.microsoft.com/office/drawing/2014/main" val="898035433"/>
                  </a:ext>
                </a:extLst>
              </a:tr>
              <a:tr h="720018">
                <a:tc>
                  <a:txBody>
                    <a:bodyPr/>
                    <a:lstStyle/>
                    <a:p>
                      <a:pPr algn="ctr" rtl="0" fontAlgn="b"/>
                      <a:r>
                        <a:rPr lang="fa-IR" sz="1800" u="none" strike="noStrike" dirty="0">
                          <a:effectLst/>
                        </a:rPr>
                        <a:t>10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u="none" strike="noStrike" dirty="0">
                          <a:effectLst/>
                        </a:rPr>
                        <a:t>Mistral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a-IR" sz="1800" u="none" strike="noStrike" dirty="0">
                          <a:effectLst/>
                        </a:rPr>
                        <a:t>101.39 میلیون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fa-IR" sz="1800" u="none" strike="noStrike" dirty="0">
                          <a:effectLst/>
                        </a:rPr>
                        <a:t>مدل‌های سبک و </a:t>
                      </a:r>
                      <a:r>
                        <a:rPr lang="fa-IR" sz="1800" u="none" strike="noStrike" dirty="0" err="1">
                          <a:effectLst/>
                        </a:rPr>
                        <a:t>متن‌باز</a:t>
                      </a:r>
                      <a:r>
                        <a:rPr lang="fa-IR" sz="1800" u="none" strike="noStrike" dirty="0">
                          <a:effectLst/>
                        </a:rPr>
                        <a:t>؛ محبوب در جامعه توسعه‌دهندگان</a:t>
                      </a:r>
                      <a:endParaRPr lang="fa-I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9125" marR="9125" marT="9125" marB="0" anchor="b"/>
                </a:tc>
                <a:extLst>
                  <a:ext uri="{0D108BD9-81ED-4DB2-BD59-A6C34878D82A}">
                    <a16:rowId xmlns:a16="http://schemas.microsoft.com/office/drawing/2014/main" val="2017816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6521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🏠 تکلیف: راه‌اندازی یک هشدار خبری هوشمند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۱. یک موضوع خبری انتخاب کنید (مثال: “تورم” یا “مهاجرت”) 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۲. در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Google Alerts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یا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Talkwalker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هشدار تنظیم کنید  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۳. حداقل ۳ منبع معتبر اضافه کنید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۴. پس از ۴۸ ساعت، ۳ خبر مهم را استخراج و خلاصه کنید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۵. در جلسه بعد ارائه دهید</a:t>
            </a: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📌 هدف: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تجربه عملی از رصد هوشمند!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24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41739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🔐 امنیت در استفاده از ابزارهای آنلاین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از وارد کردن اطلاعات حساس در ابزارهای عمومی خودداری کنید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از حساب‌های جداگانه برای کارهای خبری استفاده کنید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از ابزارهای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آفلاین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یا ایرانی برای داده‌های حساس استفاده کنید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همیشه نسخه پشتیبان در دسترسی از داده‌ها تهیه کنید</a:t>
            </a: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25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53921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📌 ۳ نکته کلیدی جلسه دوم: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۱. هوش مصنوعی می‌تواند چشم و گوش شما در فضای دیجیتال باشد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۲. تحلیل داده و تصویرسازی برای آن، خبر شما را حرفه‌ای‌تر می‌کند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۳. همیشه خروجی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AI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را با دقت بررسی کنید — شما مسئول نهایی هستید!</a:t>
            </a: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🎯 هدف: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تبدیل شدن به “کاشف خبر” با کمک هوش مصنوعی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26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134777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🔜 جلسه ۳: تولید خودکار محتوا و کمک به نویسندگان با هوش مصنوعی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آشنایی با ابزارهای تولید خبر خودکار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استفاده از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ChatGPT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برای نوشتن پیش‌نویس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تولید تیتر و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لید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جذاب با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AI  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نکات حقوقی و اخلاقی تولید محتوای هوشمند</a:t>
            </a: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📌 آماده باشید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— جلسه بعدی کاملاً عملی و کاربردی است!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27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347109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❓ زمان پرسش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آیا ابزارهای معرفی شده برای زبان فارسی کار می‌کنند؟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چگونه از سوگیری الگوریتمی جلوگیری کنیم؟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بهترین ابزارها برای شروع کدامند؟</a:t>
            </a: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📢 دعوت به پرسش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— بپرسید تا با هم بدانیم!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28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638623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cs typeface="B Koodak" panose="00000700000000000000" pitchFamily="2" charset="-78"/>
              </a:rPr>
              <a:t>✅</a:t>
            </a:r>
            <a:r>
              <a:rPr lang="ko-KR" altLang="en-US" sz="6200" dirty="0">
                <a:solidFill>
                  <a:srgbClr val="CE7E42"/>
                </a:solidFill>
                <a:cs typeface="B Koodak" panose="00000700000000000000" pitchFamily="2" charset="-78"/>
              </a:rPr>
              <a:t> </a:t>
            </a:r>
            <a:r>
              <a:rPr lang="fa-IR" sz="6200" dirty="0">
                <a:solidFill>
                  <a:srgbClr val="CE7E42"/>
                </a:solidFill>
                <a:cs typeface="B Koodak" panose="00000700000000000000" pitchFamily="2" charset="-78"/>
              </a:rPr>
              <a:t>دسترسی </a:t>
            </a:r>
            <a:r>
              <a:rPr lang="fa-IR" sz="6200">
                <a:solidFill>
                  <a:srgbClr val="CE7E42"/>
                </a:solidFill>
                <a:cs typeface="B Koodak" panose="00000700000000000000" pitchFamily="2" charset="-78"/>
              </a:rPr>
              <a:t>به منابع:</a:t>
            </a:r>
            <a:endParaRPr lang="fa-IR" sz="6200" dirty="0">
              <a:solidFill>
                <a:srgbClr val="CE7E42"/>
              </a:solidFill>
              <a:cs typeface="B Koodak" panose="00000700000000000000" pitchFamily="2" charset="-78"/>
            </a:endParaRPr>
          </a:p>
          <a:p>
            <a:pPr rtl="0"/>
            <a:endParaRPr lang="en-US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rtl="0"/>
            <a:endParaRPr lang="en-US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rtl="0"/>
            <a:endParaRPr lang="en-US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rtl="0"/>
            <a:endParaRPr lang="en-US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rtl="0"/>
            <a:r>
              <a:rPr lang="en-US" sz="6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https://github.com/khadem/IrnaAI</a:t>
            </a:r>
            <a:endParaRPr lang="en-US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/>
            <a:endParaRPr lang="fa-IR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29</a:t>
            </a:fld>
            <a:endParaRPr lang="fa-IR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D1633C1-3DA7-4DA7-AC74-527A9ECE8E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12657" y="4687237"/>
            <a:ext cx="4927293" cy="492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113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cs typeface="B Koodak" panose="00000700000000000000" pitchFamily="2" charset="-78"/>
              </a:rPr>
              <a:t>✅ پیوندها: </a:t>
            </a:r>
          </a:p>
          <a:p>
            <a:pPr marL="571500" indent="-571500" rtl="0">
              <a:buFont typeface="Courier New" panose="02070309020205020404" pitchFamily="49" charset="0"/>
              <a:buChar char="o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https://www.zerogpt.com/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https://chat.qwen.ai/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https://lmarena.ai/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30</a:t>
            </a:fld>
            <a:endParaRPr lang="fa-IR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>
                <a:latin typeface="w_Dabestan Pro" panose="02000500000000020004" pitchFamily="2" charset="-78"/>
                <a:cs typeface="+mj-cs"/>
              </a:rPr>
              <a:t>کاربردهای هوش مصنوعی در خبرنگاری</a:t>
            </a:r>
          </a:p>
        </p:txBody>
      </p:sp>
    </p:spTree>
    <p:extLst>
      <p:ext uri="{BB962C8B-B14F-4D97-AF65-F5344CB8AC3E}">
        <p14:creationId xmlns:p14="http://schemas.microsoft.com/office/powerpoint/2010/main" val="668080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5979288"/>
            <a:ext cx="9253538" cy="926021"/>
          </a:xfrm>
        </p:spPr>
        <p:txBody>
          <a:bodyPr/>
          <a:lstStyle/>
          <a:p>
            <a:r>
              <a:rPr lang="fa-IR" dirty="0">
                <a:solidFill>
                  <a:srgbClr val="CE7E42"/>
                </a:solidFill>
              </a:rPr>
              <a:t>با تشکر از توجه شما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6AB109B-1441-4D04-9FAC-1EB6C0AD62E4}"/>
              </a:ext>
            </a:extLst>
          </p:cNvPr>
          <p:cNvSpPr txBox="1">
            <a:spLocks/>
          </p:cNvSpPr>
          <p:nvPr/>
        </p:nvSpPr>
        <p:spPr>
          <a:xfrm>
            <a:off x="10761133" y="5979288"/>
            <a:ext cx="6036205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1828709" rtl="1" eaLnBrk="1" latinLnBrk="0" hangingPunct="1">
              <a:lnSpc>
                <a:spcPct val="90000"/>
              </a:lnSpc>
              <a:spcBef>
                <a:spcPct val="0"/>
              </a:spcBef>
              <a:buSzPct val="80000"/>
              <a:buFontTx/>
              <a:buNone/>
              <a:defRPr sz="5200" b="1" kern="1200" baseline="0">
                <a:solidFill>
                  <a:srgbClr val="164193"/>
                </a:solidFill>
                <a:latin typeface="+mj-lt"/>
                <a:ea typeface="+mj-ea"/>
                <a:cs typeface="B Koodak" panose="00000700000000000000" pitchFamily="2" charset="-78"/>
              </a:defRPr>
            </a:lvl1pPr>
          </a:lstStyle>
          <a:p>
            <a:endParaRPr lang="fa-IR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170301F-832D-4961-AD16-5D41E861AB36}"/>
              </a:ext>
            </a:extLst>
          </p:cNvPr>
          <p:cNvSpPr txBox="1">
            <a:spLocks/>
          </p:cNvSpPr>
          <p:nvPr/>
        </p:nvSpPr>
        <p:spPr>
          <a:xfrm>
            <a:off x="10761133" y="6129276"/>
            <a:ext cx="9253538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1828709" rtl="1" eaLnBrk="1" latinLnBrk="0" hangingPunct="1">
              <a:lnSpc>
                <a:spcPct val="90000"/>
              </a:lnSpc>
              <a:spcBef>
                <a:spcPct val="0"/>
              </a:spcBef>
              <a:buSzPct val="80000"/>
              <a:buFontTx/>
              <a:buNone/>
              <a:defRPr sz="5200" b="1" kern="1200" baseline="0">
                <a:solidFill>
                  <a:srgbClr val="164193"/>
                </a:solidFill>
                <a:latin typeface="+mj-lt"/>
                <a:ea typeface="+mj-ea"/>
                <a:cs typeface="B Koodak" panose="00000700000000000000" pitchFamily="2" charset="-78"/>
              </a:defRPr>
            </a:lvl1pPr>
          </a:lstStyle>
          <a:p>
            <a:pPr algn="l"/>
            <a:r>
              <a:rPr lang="fa-IR" sz="4800" dirty="0"/>
              <a:t>کاربردهای</a:t>
            </a:r>
          </a:p>
          <a:p>
            <a:pPr algn="l"/>
            <a:r>
              <a:rPr lang="fa-IR" sz="4800" dirty="0"/>
              <a:t> هوش مصنوعی</a:t>
            </a:r>
          </a:p>
          <a:p>
            <a:pPr algn="l"/>
            <a:r>
              <a:rPr lang="fa-IR" sz="4800" dirty="0"/>
              <a:t> در روزنامه نگاری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5FB9BAA-1476-4F60-AEE1-62A744CDF91D}"/>
              </a:ext>
            </a:extLst>
          </p:cNvPr>
          <p:cNvSpPr txBox="1">
            <a:spLocks/>
          </p:cNvSpPr>
          <p:nvPr/>
        </p:nvSpPr>
        <p:spPr>
          <a:xfrm>
            <a:off x="5334001" y="8654756"/>
            <a:ext cx="9253538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1828709" rtl="1" eaLnBrk="1" latinLnBrk="0" hangingPunct="1">
              <a:lnSpc>
                <a:spcPct val="90000"/>
              </a:lnSpc>
              <a:spcBef>
                <a:spcPct val="0"/>
              </a:spcBef>
              <a:buSzPct val="80000"/>
              <a:buFontTx/>
              <a:buNone/>
              <a:defRPr sz="5200" b="1" kern="1200" baseline="0">
                <a:solidFill>
                  <a:srgbClr val="164193"/>
                </a:solidFill>
                <a:latin typeface="+mj-lt"/>
                <a:ea typeface="+mj-ea"/>
                <a:cs typeface="B Koodak" panose="00000700000000000000" pitchFamily="2" charset="-78"/>
              </a:defRPr>
            </a:lvl1pPr>
          </a:lstStyle>
          <a:p>
            <a:pPr algn="ctr"/>
            <a:r>
              <a:rPr lang="en-US" sz="3200" dirty="0"/>
              <a:t>mostafa.khadem@live.com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435290586"/>
      </p:ext>
    </p:extLst>
  </p:cSld>
  <p:clrMapOvr>
    <a:masterClrMapping/>
  </p:clrMapOvr>
</p:sld>
</file>

<file path=ppt/theme/theme1.xml><?xml version="1.0" encoding="utf-8"?>
<a:theme xmlns:a="http://schemas.openxmlformats.org/drawingml/2006/main" name="Kimia inside">
  <a:themeElements>
    <a:clrScheme name="kimia co.">
      <a:dk1>
        <a:sysClr val="windowText" lastClr="000000"/>
      </a:dk1>
      <a:lt1>
        <a:sysClr val="window" lastClr="FFFFFF"/>
      </a:lt1>
      <a:dk2>
        <a:srgbClr val="6E6E6E"/>
      </a:dk2>
      <a:lt2>
        <a:srgbClr val="DDDDDD"/>
      </a:lt2>
      <a:accent1>
        <a:srgbClr val="164193"/>
      </a:accent1>
      <a:accent2>
        <a:srgbClr val="CE7E42"/>
      </a:accent2>
      <a:accent3>
        <a:srgbClr val="A5A5A5"/>
      </a:accent3>
      <a:accent4>
        <a:srgbClr val="DFAB84"/>
      </a:accent4>
      <a:accent5>
        <a:srgbClr val="738DBE"/>
      </a:accent5>
      <a:accent6>
        <a:srgbClr val="EED2BE"/>
      </a:accent6>
      <a:hlink>
        <a:srgbClr val="AAAAAA"/>
      </a:hlink>
      <a:folHlink>
        <a:srgbClr val="ADBCD9"/>
      </a:folHlink>
    </a:clrScheme>
    <a:fontScheme name="Custom 2">
      <a:majorFont>
        <a:latin typeface="Arial"/>
        <a:ea typeface=""/>
        <a:cs typeface="B Koodak"/>
      </a:majorFont>
      <a:minorFont>
        <a:latin typeface="Arial"/>
        <a:ea typeface=""/>
        <a:cs typeface="B Koodak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2062</TotalTime>
  <Words>1671</Words>
  <Application>Microsoft Office PowerPoint</Application>
  <PresentationFormat>Custom</PresentationFormat>
  <Paragraphs>355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B Koodak</vt:lpstr>
      <vt:lpstr>B Yekan</vt:lpstr>
      <vt:lpstr>Calibri</vt:lpstr>
      <vt:lpstr>Courier New</vt:lpstr>
      <vt:lpstr>IRANYekan</vt:lpstr>
      <vt:lpstr>w_Dabestan Pro</vt:lpstr>
      <vt:lpstr>Kimia inside</vt:lpstr>
      <vt:lpstr>کاربردهای هوش مصنوعی در خبرنگاری جلسه دوم: هوش مصنوعی در جمع‌آوری و تحلیل اخبار</vt:lpstr>
      <vt:lpstr>PowerPoint Presentation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با تشکر از توجه شما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user_surface2017@outlook.com</dc:creator>
  <cp:lastModifiedBy>Mostafa Khademolmele</cp:lastModifiedBy>
  <cp:revision>237</cp:revision>
  <dcterms:created xsi:type="dcterms:W3CDTF">2025-05-03T09:57:37Z</dcterms:created>
  <dcterms:modified xsi:type="dcterms:W3CDTF">2025-10-18T06:42:56Z</dcterms:modified>
</cp:coreProperties>
</file>