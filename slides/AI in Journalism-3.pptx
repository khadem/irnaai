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9" r:id="rId2"/>
    <p:sldId id="268" r:id="rId3"/>
    <p:sldId id="310" r:id="rId4"/>
    <p:sldId id="282"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26" r:id="rId21"/>
    <p:sldId id="328" r:id="rId22"/>
    <p:sldId id="327" r:id="rId23"/>
    <p:sldId id="329" r:id="rId24"/>
    <p:sldId id="330" r:id="rId25"/>
    <p:sldId id="331" r:id="rId26"/>
    <p:sldId id="332" r:id="rId27"/>
    <p:sldId id="335" r:id="rId28"/>
    <p:sldId id="333" r:id="rId29"/>
    <p:sldId id="309" r:id="rId30"/>
    <p:sldId id="290" r:id="rId31"/>
    <p:sldId id="336" r:id="rId32"/>
    <p:sldId id="337" r:id="rId33"/>
    <p:sldId id="338" r:id="rId34"/>
    <p:sldId id="339" r:id="rId35"/>
    <p:sldId id="340" r:id="rId36"/>
    <p:sldId id="341" r:id="rId37"/>
    <p:sldId id="342" r:id="rId38"/>
    <p:sldId id="343" r:id="rId39"/>
    <p:sldId id="344" r:id="rId40"/>
    <p:sldId id="345" r:id="rId41"/>
    <p:sldId id="346" r:id="rId42"/>
    <p:sldId id="347" r:id="rId43"/>
    <p:sldId id="348" r:id="rId44"/>
    <p:sldId id="349" r:id="rId45"/>
    <p:sldId id="350" r:id="rId46"/>
    <p:sldId id="351" r:id="rId47"/>
    <p:sldId id="352" r:id="rId48"/>
    <p:sldId id="353" r:id="rId49"/>
    <p:sldId id="355" r:id="rId50"/>
    <p:sldId id="354" r:id="rId51"/>
    <p:sldId id="267" r:id="rId52"/>
  </p:sldIdLst>
  <p:sldSz cx="24382413" cy="13716000"/>
  <p:notesSz cx="9144000" cy="6858000"/>
  <p:defaultTextStyle>
    <a:defPPr>
      <a:defRPr lang="fa-IR"/>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7E42"/>
    <a:srgbClr val="164193"/>
    <a:srgbClr val="E2E2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2" autoAdjust="0"/>
    <p:restoredTop sz="94660"/>
  </p:normalViewPr>
  <p:slideViewPr>
    <p:cSldViewPr snapToGrid="0">
      <p:cViewPr varScale="1">
        <p:scale>
          <a:sx n="57" d="100"/>
          <a:sy n="57" d="100"/>
        </p:scale>
        <p:origin x="282" y="1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l">
              <a:defRPr sz="1200"/>
            </a:lvl1pPr>
          </a:lstStyle>
          <a:p>
            <a:fld id="{D584BE07-979B-4FA0-9B38-E292101A23E7}" type="datetimeFigureOut">
              <a:rPr lang="fa-IR" smtClean="0"/>
              <a:t>26/04/1447</a:t>
            </a:fld>
            <a:endParaRPr lang="fa-IR"/>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r">
              <a:defRPr sz="1200"/>
            </a:lvl1pPr>
          </a:lstStyle>
          <a:p>
            <a:endParaRPr lang="fa-IR"/>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l">
              <a:defRPr sz="1200"/>
            </a:lvl1pPr>
          </a:lstStyle>
          <a:p>
            <a:fld id="{1B7AA89C-E3E8-4575-B91A-838C281437E3}" type="slidenum">
              <a:rPr lang="fa-IR" smtClean="0"/>
              <a:t>‹#›</a:t>
            </a:fld>
            <a:endParaRPr lang="fa-IR"/>
          </a:p>
        </p:txBody>
      </p:sp>
    </p:spTree>
    <p:extLst>
      <p:ext uri="{BB962C8B-B14F-4D97-AF65-F5344CB8AC3E}">
        <p14:creationId xmlns:p14="http://schemas.microsoft.com/office/powerpoint/2010/main" val="1228512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Kimia Cover">
    <p:spTree>
      <p:nvGrpSpPr>
        <p:cNvPr id="1" name=""/>
        <p:cNvGrpSpPr/>
        <p:nvPr/>
      </p:nvGrpSpPr>
      <p:grpSpPr>
        <a:xfrm>
          <a:off x="0" y="0"/>
          <a:ext cx="0" cy="0"/>
          <a:chOff x="0" y="0"/>
          <a:chExt cx="0" cy="0"/>
        </a:xfrm>
      </p:grpSpPr>
      <p:sp>
        <p:nvSpPr>
          <p:cNvPr id="2" name="Title 1"/>
          <p:cNvSpPr>
            <a:spLocks noGrp="1"/>
          </p:cNvSpPr>
          <p:nvPr>
            <p:ph type="ctrTitle"/>
          </p:nvPr>
        </p:nvSpPr>
        <p:spPr>
          <a:xfrm>
            <a:off x="1303634" y="4415090"/>
            <a:ext cx="15820845" cy="1861019"/>
          </a:xfrm>
          <a:prstGeom prst="rect">
            <a:avLst/>
          </a:prstGeom>
        </p:spPr>
        <p:txBody>
          <a:bodyPr anchor="ctr">
            <a:noAutofit/>
          </a:bodyPr>
          <a:lstStyle>
            <a:lvl1pPr marL="0" indent="0" algn="ctr">
              <a:buFontTx/>
              <a:buNone/>
              <a:defRPr sz="8000" b="1">
                <a:solidFill>
                  <a:schemeClr val="bg1"/>
                </a:solidFill>
                <a:latin typeface="B Yekan" panose="00000400000000000000" pitchFamily="2" charset="-78"/>
                <a:cs typeface="+mj-cs"/>
              </a:defRPr>
            </a:lvl1pPr>
          </a:lstStyle>
          <a:p>
            <a:r>
              <a:rPr lang="en-US" dirty="0"/>
              <a:t>Click to edit Master title style</a:t>
            </a:r>
          </a:p>
        </p:txBody>
      </p:sp>
      <p:sp>
        <p:nvSpPr>
          <p:cNvPr id="3" name="Subtitle 2"/>
          <p:cNvSpPr>
            <a:spLocks noGrp="1"/>
          </p:cNvSpPr>
          <p:nvPr>
            <p:ph type="subTitle" idx="1"/>
          </p:nvPr>
        </p:nvSpPr>
        <p:spPr>
          <a:xfrm>
            <a:off x="1303634" y="5825715"/>
            <a:ext cx="15820845" cy="1267064"/>
          </a:xfrm>
        </p:spPr>
        <p:txBody>
          <a:bodyPr anchor="ctr">
            <a:normAutofit/>
          </a:bodyPr>
          <a:lstStyle>
            <a:lvl1pPr marL="0" indent="0" algn="ctr">
              <a:buNone/>
              <a:defRPr sz="4000" b="1">
                <a:solidFill>
                  <a:schemeClr val="bg1"/>
                </a:solidFill>
                <a:latin typeface="B Yekan" panose="00000400000000000000" pitchFamily="2" charset="-78"/>
                <a:cs typeface="+mj-cs"/>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US" dirty="0"/>
              <a:t>Click to edit Master subtitle style</a:t>
            </a:r>
          </a:p>
        </p:txBody>
      </p:sp>
    </p:spTree>
    <p:extLst>
      <p:ext uri="{BB962C8B-B14F-4D97-AF65-F5344CB8AC3E}">
        <p14:creationId xmlns:p14="http://schemas.microsoft.com/office/powerpoint/2010/main" val="51358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250"/>
                                        <p:tgtEl>
                                          <p:spTgt spid="2"/>
                                        </p:tgtEl>
                                      </p:cBhvr>
                                    </p:animEffect>
                                  </p:childTnLst>
                                </p:cTn>
                              </p:par>
                            </p:childTnLst>
                          </p:cTn>
                        </p:par>
                        <p:par>
                          <p:cTn id="8" fill="hold">
                            <p:stCondLst>
                              <p:cond delay="125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2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250"/>
                        <p:tgtEl>
                          <p:spTgt spid="3"/>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nnounce pag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C7264DD-8205-481D-9B6A-9CE0D2D966EE}" type="slidenum">
              <a:rPr lang="fa-IR" smtClean="0"/>
              <a:t>‹#›</a:t>
            </a:fld>
            <a:endParaRPr lang="fa-IR"/>
          </a:p>
        </p:txBody>
      </p:sp>
      <p:sp>
        <p:nvSpPr>
          <p:cNvPr id="6" name="Title Placeholder 1"/>
          <p:cNvSpPr>
            <a:spLocks noGrp="1"/>
          </p:cNvSpPr>
          <p:nvPr>
            <p:ph type="title" hasCustomPrompt="1"/>
          </p:nvPr>
        </p:nvSpPr>
        <p:spPr>
          <a:xfrm>
            <a:off x="1276710" y="2529544"/>
            <a:ext cx="14130164" cy="926021"/>
          </a:xfrm>
          <a:prstGeom prst="rect">
            <a:avLst/>
          </a:prstGeom>
        </p:spPr>
        <p:txBody>
          <a:bodyPr vert="horz" lIns="91440" tIns="45720" rIns="91440" bIns="45720" rtlCol="0" anchor="ctr">
            <a:noAutofit/>
          </a:bodyPr>
          <a:lstStyle>
            <a:lvl1pPr marL="0" indent="0">
              <a:buFontTx/>
              <a:buNone/>
              <a:defRPr>
                <a:solidFill>
                  <a:schemeClr val="bg1"/>
                </a:solidFill>
              </a:defRPr>
            </a:lvl1pPr>
          </a:lstStyle>
          <a:p>
            <a:r>
              <a:rPr lang="fa-IR" dirty="0"/>
              <a:t>اعلان سلب مسئولیت</a:t>
            </a:r>
            <a:endParaRPr lang="en-US" dirty="0"/>
          </a:p>
        </p:txBody>
      </p:sp>
      <p:pic>
        <p:nvPicPr>
          <p:cNvPr id="2" name="Picture 1"/>
          <p:cNvPicPr>
            <a:picLocks noChangeAspect="1"/>
          </p:cNvPicPr>
          <p:nvPr userDrawn="1"/>
        </p:nvPicPr>
        <p:blipFill>
          <a:blip r:embed="rId2"/>
          <a:stretch>
            <a:fillRect/>
          </a:stretch>
        </p:blipFill>
        <p:spPr>
          <a:xfrm>
            <a:off x="1363020" y="10481076"/>
            <a:ext cx="2257933" cy="1224951"/>
          </a:xfrm>
          <a:prstGeom prst="rect">
            <a:avLst/>
          </a:prstGeom>
        </p:spPr>
      </p:pic>
      <p:pic>
        <p:nvPicPr>
          <p:cNvPr id="3" name="Picture 2"/>
          <p:cNvPicPr>
            <a:picLocks noChangeAspect="1"/>
          </p:cNvPicPr>
          <p:nvPr userDrawn="1"/>
        </p:nvPicPr>
        <p:blipFill>
          <a:blip r:embed="rId3"/>
          <a:stretch>
            <a:fillRect/>
          </a:stretch>
        </p:blipFill>
        <p:spPr>
          <a:xfrm>
            <a:off x="15727209" y="2541797"/>
            <a:ext cx="1059890" cy="901517"/>
          </a:xfrm>
          <a:prstGeom prst="rect">
            <a:avLst/>
          </a:prstGeom>
        </p:spPr>
      </p:pic>
      <p:sp>
        <p:nvSpPr>
          <p:cNvPr id="7" name="Title Placeholder 1"/>
          <p:cNvSpPr txBox="1">
            <a:spLocks/>
          </p:cNvSpPr>
          <p:nvPr userDrawn="1"/>
        </p:nvSpPr>
        <p:spPr>
          <a:xfrm>
            <a:off x="1276709" y="4063028"/>
            <a:ext cx="15510391" cy="3702872"/>
          </a:xfrm>
          <a:prstGeom prst="rect">
            <a:avLst/>
          </a:prstGeom>
        </p:spPr>
        <p:txBody>
          <a:bodyPr vert="horz" lIns="91440" tIns="45720" rIns="91440" bIns="45720" rtlCol="0" anchor="ctr">
            <a:noAutofit/>
          </a:bodyPr>
          <a:lstStyle>
            <a:lvl1pPr marL="0" indent="0" algn="r" defTabSz="1828709" rtl="1" eaLnBrk="1" latinLnBrk="0" hangingPunct="1">
              <a:lnSpc>
                <a:spcPct val="90000"/>
              </a:lnSpc>
              <a:spcBef>
                <a:spcPct val="0"/>
              </a:spcBef>
              <a:buSzPct val="80000"/>
              <a:buFontTx/>
              <a:buNone/>
              <a:defRPr sz="4700" b="1" kern="1200">
                <a:solidFill>
                  <a:schemeClr val="bg1"/>
                </a:solidFill>
                <a:latin typeface="+mj-lt"/>
                <a:ea typeface="+mj-ea"/>
                <a:cs typeface="B Yekan" panose="00000400000000000000" pitchFamily="2" charset="-78"/>
              </a:defRPr>
            </a:lvl1pPr>
          </a:lstStyle>
          <a:p>
            <a:pPr algn="just"/>
            <a:r>
              <a:rPr lang="fa-IR" sz="3600" b="0" dirty="0"/>
              <a:t>محتوای گزارش تهیه شده، صرفا جهت بررسی بوده و شرکت تامین سرمایه</a:t>
            </a:r>
            <a:r>
              <a:rPr lang="fa-IR" sz="3600" b="0" baseline="0" dirty="0"/>
              <a:t> کیمیا</a:t>
            </a:r>
            <a:r>
              <a:rPr lang="fa-IR" sz="3600" b="0" dirty="0"/>
              <a:t> هیچگونه مسئولیتی در قبال معاملات انجام شده با اتکاء بر اطلاعات این گزارش بر عهده ندارد.</a:t>
            </a:r>
          </a:p>
          <a:p>
            <a:pPr algn="just"/>
            <a:r>
              <a:rPr lang="fa-IR" sz="3600" b="0" dirty="0"/>
              <a:t>محتوای این گزارش به تنهایی نمی</a:t>
            </a:r>
            <a:r>
              <a:rPr lang="fa-IR" sz="3600" b="0" baseline="0" dirty="0"/>
              <a:t>‌</a:t>
            </a:r>
            <a:r>
              <a:rPr lang="fa-IR" sz="3600" b="0" dirty="0"/>
              <a:t>تواند به عنوان ارائه راه‌حل سرمایه‌گذاری، پیشنهاد معامله، ایجاب برای خرید و فروش هرگونه اوراق بهادار و یا سایر ابزارهای مالی و یا ترغیب به اتخاذ هرگونه تصمیم مالی و تجاری تلقی گردد.</a:t>
            </a:r>
            <a:endParaRPr lang="en-US" sz="3600" b="0" dirty="0"/>
          </a:p>
        </p:txBody>
      </p:sp>
      <p:sp>
        <p:nvSpPr>
          <p:cNvPr id="8" name="Title Placeholder 1"/>
          <p:cNvSpPr txBox="1">
            <a:spLocks/>
          </p:cNvSpPr>
          <p:nvPr userDrawn="1"/>
        </p:nvSpPr>
        <p:spPr>
          <a:xfrm>
            <a:off x="1311214" y="8210690"/>
            <a:ext cx="15510391" cy="1597713"/>
          </a:xfrm>
          <a:prstGeom prst="rect">
            <a:avLst/>
          </a:prstGeom>
        </p:spPr>
        <p:txBody>
          <a:bodyPr vert="horz" lIns="91440" tIns="45720" rIns="91440" bIns="45720" rtlCol="0" anchor="ctr">
            <a:noAutofit/>
          </a:bodyPr>
          <a:lstStyle>
            <a:lvl1pPr marL="0" indent="0" algn="r" defTabSz="1828709" rtl="1" eaLnBrk="1" latinLnBrk="0" hangingPunct="1">
              <a:lnSpc>
                <a:spcPct val="90000"/>
              </a:lnSpc>
              <a:spcBef>
                <a:spcPct val="0"/>
              </a:spcBef>
              <a:buSzPct val="80000"/>
              <a:buFontTx/>
              <a:buNone/>
              <a:defRPr sz="4700" b="1" kern="1200">
                <a:solidFill>
                  <a:schemeClr val="bg1"/>
                </a:solidFill>
                <a:latin typeface="+mj-lt"/>
                <a:ea typeface="+mj-ea"/>
                <a:cs typeface="B Yekan" panose="00000400000000000000" pitchFamily="2" charset="-78"/>
              </a:defRPr>
            </a:lvl1pPr>
          </a:lstStyle>
          <a:p>
            <a:pPr algn="just"/>
            <a:r>
              <a:rPr lang="fa-IR" sz="3600" b="0" dirty="0"/>
              <a:t>اطلاعات و مفروضات این گزارش می‌تواند در هر لحظه با توجه به مفروضات تحلیل تغییر کند و این شرکت هیچگونه مسئولیتی در قبال عدم بروزرسانی این اطلاعات به عهده ندارد.</a:t>
            </a:r>
            <a:endParaRPr lang="en-US" sz="3600" b="0" dirty="0"/>
          </a:p>
        </p:txBody>
      </p:sp>
      <p:cxnSp>
        <p:nvCxnSpPr>
          <p:cNvPr id="9" name="Straight Connector 8"/>
          <p:cNvCxnSpPr/>
          <p:nvPr userDrawn="1"/>
        </p:nvCxnSpPr>
        <p:spPr>
          <a:xfrm>
            <a:off x="1311214" y="3959510"/>
            <a:ext cx="1533776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1276708" y="7965046"/>
            <a:ext cx="1533776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1363020" y="10031479"/>
            <a:ext cx="1533776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952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side -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0" y="2784763"/>
            <a:ext cx="20061382" cy="8451273"/>
          </a:xfrm>
        </p:spPr>
        <p:txBody>
          <a:bodyPr/>
          <a:lstStyle>
            <a:lvl1pPr marL="0" indent="0" algn="just">
              <a:lnSpc>
                <a:spcPct val="150000"/>
              </a:lnSpc>
              <a:buFontTx/>
              <a:buNone/>
              <a:defRPr b="1">
                <a:solidFill>
                  <a:srgbClr val="164193"/>
                </a:solidFill>
              </a:defRPr>
            </a:lvl1pPr>
            <a:lvl2pPr marL="540000" indent="0" algn="just">
              <a:lnSpc>
                <a:spcPct val="150000"/>
              </a:lnSpc>
              <a:buFontTx/>
              <a:buNone/>
              <a:defRPr/>
            </a:lvl2pPr>
            <a:lvl3pPr algn="just">
              <a:lnSpc>
                <a:spcPct val="150000"/>
              </a:lnSpc>
              <a:defRPr>
                <a:solidFill>
                  <a:srgbClr val="CE7E42"/>
                </a:solidFill>
              </a:defRPr>
            </a:lvl3pPr>
            <a:lvl4pPr algn="just">
              <a:lnSpc>
                <a:spcPct val="150000"/>
              </a:lnSpc>
              <a:defRPr/>
            </a:lvl4pPr>
            <a:lvl5pPr algn="just">
              <a:lnSpc>
                <a:spcPct val="15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12"/>
          </p:nvPr>
        </p:nvSpPr>
        <p:spPr/>
        <p:txBody>
          <a:bodyPr/>
          <a:lstStyle/>
          <a:p>
            <a:fld id="{FC7264DD-8205-481D-9B6A-9CE0D2D966EE}" type="slidenum">
              <a:rPr lang="fa-IR" smtClean="0"/>
              <a:t>‹#›</a:t>
            </a:fld>
            <a:endParaRPr lang="fa-IR"/>
          </a:p>
        </p:txBody>
      </p:sp>
      <p:sp>
        <p:nvSpPr>
          <p:cNvPr id="8" name="Title Placeholder 1"/>
          <p:cNvSpPr>
            <a:spLocks noGrp="1"/>
          </p:cNvSpPr>
          <p:nvPr>
            <p:ph type="title"/>
          </p:nvPr>
        </p:nvSpPr>
        <p:spPr>
          <a:xfrm>
            <a:off x="1704001" y="928133"/>
            <a:ext cx="21918000" cy="926021"/>
          </a:xfrm>
          <a:prstGeom prst="rect">
            <a:avLst/>
          </a:prstGeom>
        </p:spPr>
        <p:txBody>
          <a:bodyPr vert="horz" lIns="91440" tIns="45720" rIns="91440" bIns="45720" rtlCol="0" anchor="ctr">
            <a:noAutofit/>
          </a:bodyPr>
          <a:lstStyle>
            <a:lvl1pPr>
              <a:defRPr>
                <a:cs typeface="B Koodak" panose="00000700000000000000" pitchFamily="2" charset="-78"/>
              </a:defRPr>
            </a:lvl1pPr>
          </a:lstStyle>
          <a:p>
            <a:r>
              <a:rPr lang="en-US" dirty="0"/>
              <a:t>Click to edit Master title style</a:t>
            </a:r>
          </a:p>
        </p:txBody>
      </p:sp>
    </p:spTree>
    <p:extLst>
      <p:ext uri="{BB962C8B-B14F-4D97-AF65-F5344CB8AC3E}">
        <p14:creationId xmlns:p14="http://schemas.microsoft.com/office/powerpoint/2010/main" val="1370246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 chart or tabl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724400" y="6026727"/>
            <a:ext cx="15323127" cy="5153892"/>
          </a:xfrm>
        </p:spPr>
        <p:txBody>
          <a:bodyPr/>
          <a:lstStyle/>
          <a:p>
            <a:pPr lvl="0"/>
            <a:endParaRPr lang="en-US" dirty="0"/>
          </a:p>
        </p:txBody>
      </p:sp>
      <p:sp>
        <p:nvSpPr>
          <p:cNvPr id="7" name="Slide Number Placeholder 6"/>
          <p:cNvSpPr>
            <a:spLocks noGrp="1"/>
          </p:cNvSpPr>
          <p:nvPr>
            <p:ph type="sldNum" sz="quarter" idx="12"/>
          </p:nvPr>
        </p:nvSpPr>
        <p:spPr/>
        <p:txBody>
          <a:bodyPr/>
          <a:lstStyle/>
          <a:p>
            <a:fld id="{FC7264DD-8205-481D-9B6A-9CE0D2D966EE}" type="slidenum">
              <a:rPr lang="fa-IR" smtClean="0"/>
              <a:t>‹#›</a:t>
            </a:fld>
            <a:endParaRPr lang="fa-IR"/>
          </a:p>
        </p:txBody>
      </p:sp>
      <p:sp>
        <p:nvSpPr>
          <p:cNvPr id="9" name="Title Placeholder 1"/>
          <p:cNvSpPr>
            <a:spLocks noGrp="1"/>
          </p:cNvSpPr>
          <p:nvPr>
            <p:ph type="title"/>
          </p:nvPr>
        </p:nvSpPr>
        <p:spPr>
          <a:xfrm>
            <a:off x="1704001" y="928133"/>
            <a:ext cx="21918000" cy="926021"/>
          </a:xfrm>
          <a:prstGeom prst="rect">
            <a:avLst/>
          </a:prstGeom>
        </p:spPr>
        <p:txBody>
          <a:bodyPr vert="horz" lIns="91440" tIns="45720" rIns="91440" bIns="45720" rtlCol="0" anchor="ctr">
            <a:noAutofit/>
          </a:bodyPr>
          <a:lstStyle>
            <a:lvl1pPr>
              <a:defRPr>
                <a:cs typeface="B Yekan" panose="00000400000000000000" pitchFamily="2" charset="-78"/>
              </a:defRPr>
            </a:lvl1pPr>
          </a:lstStyle>
          <a:p>
            <a:r>
              <a:rPr lang="en-US" dirty="0"/>
              <a:t>Click to edit Master title style</a:t>
            </a:r>
          </a:p>
        </p:txBody>
      </p:sp>
      <p:sp>
        <p:nvSpPr>
          <p:cNvPr id="8" name="Content Placeholder 2"/>
          <p:cNvSpPr>
            <a:spLocks noGrp="1"/>
          </p:cNvSpPr>
          <p:nvPr>
            <p:ph idx="13"/>
          </p:nvPr>
        </p:nvSpPr>
        <p:spPr>
          <a:xfrm>
            <a:off x="2133600" y="2784764"/>
            <a:ext cx="20061382" cy="3241964"/>
          </a:xfrm>
        </p:spPr>
        <p:txBody>
          <a:bodyPr/>
          <a:lstStyle>
            <a:lvl1pPr marL="0" indent="0" algn="just">
              <a:lnSpc>
                <a:spcPct val="150000"/>
              </a:lnSpc>
              <a:buFontTx/>
              <a:buNone/>
              <a:defRPr b="1">
                <a:solidFill>
                  <a:srgbClr val="164193"/>
                </a:solidFill>
              </a:defRPr>
            </a:lvl1pPr>
            <a:lvl2pPr marL="540000" indent="0" algn="just">
              <a:lnSpc>
                <a:spcPct val="150000"/>
              </a:lnSpc>
              <a:buFontTx/>
              <a:buNone/>
              <a:defRPr/>
            </a:lvl2pPr>
            <a:lvl3pPr algn="just">
              <a:lnSpc>
                <a:spcPct val="150000"/>
              </a:lnSpc>
              <a:defRPr>
                <a:solidFill>
                  <a:srgbClr val="CE7E42"/>
                </a:solidFill>
              </a:defRPr>
            </a:lvl3pPr>
            <a:lvl4pPr algn="just">
              <a:lnSpc>
                <a:spcPct val="150000"/>
              </a:lnSpc>
              <a:defRPr/>
            </a:lvl4pPr>
            <a:lvl5pPr algn="just">
              <a:lnSpc>
                <a:spcPct val="15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529756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 table or chart (2 colum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2161309" y="2784764"/>
            <a:ext cx="10681855" cy="8451272"/>
          </a:xfrm>
        </p:spPr>
        <p:txBody>
          <a:bodyPr/>
          <a:lstStyle/>
          <a:p>
            <a:pPr lvl="0"/>
            <a:endParaRPr lang="en-US" dirty="0"/>
          </a:p>
        </p:txBody>
      </p:sp>
      <p:sp>
        <p:nvSpPr>
          <p:cNvPr id="9" name="Slide Number Placeholder 8"/>
          <p:cNvSpPr>
            <a:spLocks noGrp="1"/>
          </p:cNvSpPr>
          <p:nvPr>
            <p:ph type="sldNum" sz="quarter" idx="12"/>
          </p:nvPr>
        </p:nvSpPr>
        <p:spPr/>
        <p:txBody>
          <a:bodyPr/>
          <a:lstStyle/>
          <a:p>
            <a:fld id="{FC7264DD-8205-481D-9B6A-9CE0D2D966EE}" type="slidenum">
              <a:rPr lang="fa-IR" smtClean="0"/>
              <a:t>‹#›</a:t>
            </a:fld>
            <a:endParaRPr lang="fa-IR"/>
          </a:p>
        </p:txBody>
      </p:sp>
      <p:sp>
        <p:nvSpPr>
          <p:cNvPr id="10" name="Title Placeholder 1"/>
          <p:cNvSpPr>
            <a:spLocks noGrp="1"/>
          </p:cNvSpPr>
          <p:nvPr>
            <p:ph type="title"/>
          </p:nvPr>
        </p:nvSpPr>
        <p:spPr>
          <a:xfrm>
            <a:off x="1704001" y="928133"/>
            <a:ext cx="21918000" cy="926021"/>
          </a:xfrm>
          <a:prstGeom prst="rect">
            <a:avLst/>
          </a:prstGeom>
        </p:spPr>
        <p:txBody>
          <a:bodyPr vert="horz" lIns="91440" tIns="45720" rIns="91440" bIns="45720" rtlCol="0" anchor="ctr">
            <a:noAutofit/>
          </a:bodyPr>
          <a:lstStyle/>
          <a:p>
            <a:r>
              <a:rPr lang="en-US" dirty="0"/>
              <a:t>Click to edit Master title style</a:t>
            </a:r>
          </a:p>
        </p:txBody>
      </p:sp>
      <p:sp>
        <p:nvSpPr>
          <p:cNvPr id="6" name="Content Placeholder 2"/>
          <p:cNvSpPr>
            <a:spLocks noGrp="1"/>
          </p:cNvSpPr>
          <p:nvPr>
            <p:ph idx="1"/>
          </p:nvPr>
        </p:nvSpPr>
        <p:spPr>
          <a:xfrm>
            <a:off x="12954000" y="2784763"/>
            <a:ext cx="9240982" cy="8451273"/>
          </a:xfrm>
        </p:spPr>
        <p:txBody>
          <a:bodyPr/>
          <a:lstStyle>
            <a:lvl1pPr marL="0" indent="0" algn="just">
              <a:lnSpc>
                <a:spcPct val="150000"/>
              </a:lnSpc>
              <a:buFontTx/>
              <a:buNone/>
              <a:defRPr b="1">
                <a:solidFill>
                  <a:srgbClr val="164193"/>
                </a:solidFill>
              </a:defRPr>
            </a:lvl1pPr>
            <a:lvl2pPr marL="540000" indent="0" algn="just">
              <a:lnSpc>
                <a:spcPct val="150000"/>
              </a:lnSpc>
              <a:buFontTx/>
              <a:buNone/>
              <a:defRPr/>
            </a:lvl2pPr>
            <a:lvl3pPr algn="just">
              <a:lnSpc>
                <a:spcPct val="150000"/>
              </a:lnSpc>
              <a:defRPr>
                <a:solidFill>
                  <a:srgbClr val="CE7E42"/>
                </a:solidFill>
              </a:defRPr>
            </a:lvl3pPr>
            <a:lvl4pPr algn="just">
              <a:lnSpc>
                <a:spcPct val="150000"/>
              </a:lnSpc>
              <a:defRPr/>
            </a:lvl4pPr>
            <a:lvl5pPr algn="just">
              <a:lnSpc>
                <a:spcPct val="15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296265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C7264DD-8205-481D-9B6A-9CE0D2D966EE}" type="slidenum">
              <a:rPr lang="fa-IR" smtClean="0"/>
              <a:t>‹#›</a:t>
            </a:fld>
            <a:endParaRPr lang="fa-IR"/>
          </a:p>
        </p:txBody>
      </p:sp>
      <p:sp>
        <p:nvSpPr>
          <p:cNvPr id="6" name="Title Placeholder 1"/>
          <p:cNvSpPr>
            <a:spLocks noGrp="1"/>
          </p:cNvSpPr>
          <p:nvPr>
            <p:ph type="title"/>
          </p:nvPr>
        </p:nvSpPr>
        <p:spPr>
          <a:xfrm>
            <a:off x="1704001" y="928133"/>
            <a:ext cx="21918000" cy="926021"/>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2329837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vider | Titr+pic middl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C7264DD-8205-481D-9B6A-9CE0D2D966EE}" type="slidenum">
              <a:rPr lang="fa-IR" smtClean="0"/>
              <a:t>‹#›</a:t>
            </a:fld>
            <a:endParaRPr lang="fa-IR"/>
          </a:p>
        </p:txBody>
      </p:sp>
      <p:sp>
        <p:nvSpPr>
          <p:cNvPr id="4" name="Rounded Rectangle 3"/>
          <p:cNvSpPr/>
          <p:nvPr userDrawn="1"/>
        </p:nvSpPr>
        <p:spPr>
          <a:xfrm>
            <a:off x="1663591" y="1529015"/>
            <a:ext cx="21029831" cy="22532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 name="Title 1"/>
          <p:cNvSpPr>
            <a:spLocks noGrp="1"/>
          </p:cNvSpPr>
          <p:nvPr>
            <p:ph type="title"/>
          </p:nvPr>
        </p:nvSpPr>
        <p:spPr>
          <a:xfrm>
            <a:off x="2244436" y="1841869"/>
            <a:ext cx="19908982" cy="1691040"/>
          </a:xfrm>
          <a:prstGeom prst="rect">
            <a:avLst/>
          </a:prstGeom>
        </p:spPr>
        <p:txBody>
          <a:bodyPr anchor="ctr"/>
          <a:lstStyle>
            <a:lvl1pPr marL="0" indent="0" algn="ctr">
              <a:buFontTx/>
              <a:buNone/>
              <a:defRPr sz="5000">
                <a:solidFill>
                  <a:schemeClr val="bg1"/>
                </a:solidFill>
                <a:latin typeface="+mj-lt"/>
                <a:cs typeface="IRANYekan" panose="020B0506030804020204" pitchFamily="34" charset="-78"/>
              </a:defRPr>
            </a:lvl1pPr>
          </a:lstStyle>
          <a:p>
            <a:r>
              <a:rPr lang="en-US" dirty="0"/>
              <a:t>Click to edit Master title style</a:t>
            </a:r>
          </a:p>
        </p:txBody>
      </p:sp>
      <p:sp>
        <p:nvSpPr>
          <p:cNvPr id="9" name="Picture Placeholder 8"/>
          <p:cNvSpPr>
            <a:spLocks noGrp="1"/>
          </p:cNvSpPr>
          <p:nvPr>
            <p:ph type="pic" sz="quarter" idx="13"/>
          </p:nvPr>
        </p:nvSpPr>
        <p:spPr>
          <a:xfrm>
            <a:off x="1814944" y="4045236"/>
            <a:ext cx="20754111" cy="7149234"/>
          </a:xfrm>
        </p:spPr>
        <p:txBody>
          <a:bodyPr/>
          <a:lstStyle/>
          <a:p>
            <a:endParaRPr lang="fa-IR"/>
          </a:p>
        </p:txBody>
      </p:sp>
    </p:spTree>
    <p:extLst>
      <p:ext uri="{BB962C8B-B14F-4D97-AF65-F5344CB8AC3E}">
        <p14:creationId xmlns:p14="http://schemas.microsoft.com/office/powerpoint/2010/main" val="169700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extLst>
    <p:ext uri="{DCECCB84-F9BA-43D5-87BE-67443E8EF086}">
      <p15:sldGuideLst xmlns:p15="http://schemas.microsoft.com/office/powerpoint/2012/main">
        <p15:guide id="1" orient="horz" pos="4320" userDrawn="1">
          <p15:clr>
            <a:srgbClr val="FBAE40"/>
          </p15:clr>
        </p15:guide>
        <p15:guide id="2" pos="767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vider | full page pic">
    <p:spTree>
      <p:nvGrpSpPr>
        <p:cNvPr id="1" name=""/>
        <p:cNvGrpSpPr/>
        <p:nvPr/>
      </p:nvGrpSpPr>
      <p:grpSpPr>
        <a:xfrm>
          <a:off x="0" y="0"/>
          <a:ext cx="0" cy="0"/>
          <a:chOff x="0" y="0"/>
          <a:chExt cx="0" cy="0"/>
        </a:xfrm>
      </p:grpSpPr>
      <p:sp>
        <p:nvSpPr>
          <p:cNvPr id="15" name="Picture Placeholder 14"/>
          <p:cNvSpPr>
            <a:spLocks noGrp="1" noChangeAspect="1"/>
          </p:cNvSpPr>
          <p:nvPr>
            <p:ph type="pic" sz="quarter" idx="13"/>
          </p:nvPr>
        </p:nvSpPr>
        <p:spPr>
          <a:xfrm>
            <a:off x="0" y="0"/>
            <a:ext cx="24391242" cy="13716000"/>
          </a:xfrm>
          <a:custGeom>
            <a:avLst/>
            <a:gdLst>
              <a:gd name="connsiteX0" fmla="*/ 6770616 w 24391242"/>
              <a:gd name="connsiteY0" fmla="*/ 3365604 h 13716000"/>
              <a:gd name="connsiteX1" fmla="*/ 6770616 w 24391242"/>
              <a:gd name="connsiteY1" fmla="*/ 9826070 h 13716000"/>
              <a:gd name="connsiteX2" fmla="*/ 16829016 w 24391242"/>
              <a:gd name="connsiteY2" fmla="*/ 9826070 h 13716000"/>
              <a:gd name="connsiteX3" fmla="*/ 16829016 w 24391242"/>
              <a:gd name="connsiteY3" fmla="*/ 3365604 h 13716000"/>
              <a:gd name="connsiteX4" fmla="*/ 0 w 24391242"/>
              <a:gd name="connsiteY4" fmla="*/ 0 h 13716000"/>
              <a:gd name="connsiteX5" fmla="*/ 24391242 w 24391242"/>
              <a:gd name="connsiteY5" fmla="*/ 0 h 13716000"/>
              <a:gd name="connsiteX6" fmla="*/ 24391242 w 24391242"/>
              <a:gd name="connsiteY6" fmla="*/ 13716000 h 13716000"/>
              <a:gd name="connsiteX7" fmla="*/ 0 w 24391242"/>
              <a:gd name="connsiteY7"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91242" h="13716000">
                <a:moveTo>
                  <a:pt x="6770616" y="3365604"/>
                </a:moveTo>
                <a:lnTo>
                  <a:pt x="6770616" y="9826070"/>
                </a:lnTo>
                <a:lnTo>
                  <a:pt x="16829016" y="9826070"/>
                </a:lnTo>
                <a:lnTo>
                  <a:pt x="16829016" y="3365604"/>
                </a:lnTo>
                <a:close/>
                <a:moveTo>
                  <a:pt x="0" y="0"/>
                </a:moveTo>
                <a:lnTo>
                  <a:pt x="24391242" y="0"/>
                </a:lnTo>
                <a:lnTo>
                  <a:pt x="24391242" y="13716000"/>
                </a:lnTo>
                <a:lnTo>
                  <a:pt x="0" y="13716000"/>
                </a:lnTo>
                <a:close/>
              </a:path>
            </a:pathLst>
          </a:custGeom>
        </p:spPr>
        <p:txBody>
          <a:bodyPr wrap="square" anchor="ctr" anchorCtr="1">
            <a:noAutofit/>
          </a:bodyPr>
          <a:lstStyle/>
          <a:p>
            <a:endParaRPr lang="fa-IR" dirty="0"/>
          </a:p>
        </p:txBody>
      </p:sp>
      <p:sp>
        <p:nvSpPr>
          <p:cNvPr id="13" name="Slide Number Placeholder 5" hidden="1"/>
          <p:cNvSpPr txBox="1">
            <a:spLocks/>
          </p:cNvSpPr>
          <p:nvPr userDrawn="1"/>
        </p:nvSpPr>
        <p:spPr>
          <a:xfrm>
            <a:off x="376686" y="12537300"/>
            <a:ext cx="760521" cy="730250"/>
          </a:xfrm>
          <a:prstGeom prst="rect">
            <a:avLst/>
          </a:prstGeom>
        </p:spPr>
        <p:txBody>
          <a:bodyPr vert="horz" lIns="91440" tIns="45720" rIns="91440" bIns="45720" rtlCol="0" anchor="ctr"/>
          <a:lstStyle>
            <a:defPPr>
              <a:defRPr lang="fa-IR"/>
            </a:defPPr>
            <a:lvl1pPr marL="0" algn="r" defTabSz="1828709" rtl="0" eaLnBrk="1" latinLnBrk="0" hangingPunct="1">
              <a:defRPr sz="2400" kern="1200">
                <a:solidFill>
                  <a:srgbClr val="164193"/>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a:lstStyle>
          <a:p>
            <a:fld id="{FC7264DD-8205-481D-9B6A-9CE0D2D966EE}" type="slidenum">
              <a:rPr lang="fa-IR" smtClean="0"/>
              <a:pPr/>
              <a:t>‹#›</a:t>
            </a:fld>
            <a:endParaRPr lang="fa-IR"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76773" y="3373438"/>
            <a:ext cx="10058400" cy="6460466"/>
          </a:xfrm>
          <a:prstGeom prst="rect">
            <a:avLst/>
          </a:prstGeom>
        </p:spPr>
      </p:pic>
      <p:sp>
        <p:nvSpPr>
          <p:cNvPr id="2" name="Title 1"/>
          <p:cNvSpPr>
            <a:spLocks noGrp="1"/>
          </p:cNvSpPr>
          <p:nvPr userDrawn="1">
            <p:ph type="title"/>
          </p:nvPr>
        </p:nvSpPr>
        <p:spPr>
          <a:xfrm>
            <a:off x="6993467" y="5607218"/>
            <a:ext cx="9464960" cy="1128523"/>
          </a:xfrm>
          <a:prstGeom prst="rect">
            <a:avLst/>
          </a:prstGeom>
        </p:spPr>
        <p:txBody>
          <a:bodyPr anchor="t"/>
          <a:lstStyle>
            <a:lvl1pPr marL="0" indent="0" algn="r">
              <a:buFontTx/>
              <a:buNone/>
              <a:defRPr sz="4500">
                <a:solidFill>
                  <a:schemeClr val="bg1"/>
                </a:solidFill>
                <a:latin typeface="+mj-lt"/>
                <a:cs typeface="IRANYekan" panose="020B0506030804020204" pitchFamily="34" charset="-78"/>
              </a:defRPr>
            </a:lvl1pPr>
          </a:lstStyle>
          <a:p>
            <a:r>
              <a:rPr lang="en-US" dirty="0"/>
              <a:t>Click to edit Master title style</a:t>
            </a:r>
          </a:p>
        </p:txBody>
      </p:sp>
      <p:sp>
        <p:nvSpPr>
          <p:cNvPr id="7" name="Text Placeholder 6"/>
          <p:cNvSpPr>
            <a:spLocks noGrp="1"/>
          </p:cNvSpPr>
          <p:nvPr>
            <p:ph type="body" sz="quarter" idx="14"/>
          </p:nvPr>
        </p:nvSpPr>
        <p:spPr>
          <a:xfrm>
            <a:off x="6993466" y="4554527"/>
            <a:ext cx="9465733" cy="1000125"/>
          </a:xfrm>
        </p:spPr>
        <p:txBody>
          <a:bodyPr anchor="b"/>
          <a:lstStyle>
            <a:lvl1pPr>
              <a:defRPr sz="4000">
                <a:solidFill>
                  <a:schemeClr val="bg1"/>
                </a:solidFill>
              </a:defRPr>
            </a:lvl1pPr>
          </a:lstStyle>
          <a:p>
            <a:pPr lvl="0"/>
            <a:r>
              <a:rPr lang="en-US" dirty="0"/>
              <a:t>Edit Master text styles</a:t>
            </a:r>
          </a:p>
        </p:txBody>
      </p:sp>
    </p:spTree>
    <p:extLst>
      <p:ext uri="{BB962C8B-B14F-4D97-AF65-F5344CB8AC3E}">
        <p14:creationId xmlns:p14="http://schemas.microsoft.com/office/powerpoint/2010/main" val="1783447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extLst mod="1">
    <p:ext uri="{DCECCB84-F9BA-43D5-87BE-67443E8EF086}">
      <p15:sldGuideLst xmlns:p15="http://schemas.microsoft.com/office/powerpoint/2012/main">
        <p15:guide id="1" orient="horz" pos="4320">
          <p15:clr>
            <a:srgbClr val="FBAE40"/>
          </p15:clr>
        </p15:guide>
        <p15:guide id="2" pos="767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vider | half page pic">
    <p:spTree>
      <p:nvGrpSpPr>
        <p:cNvPr id="1" name=""/>
        <p:cNvGrpSpPr/>
        <p:nvPr/>
      </p:nvGrpSpPr>
      <p:grpSpPr>
        <a:xfrm>
          <a:off x="0" y="0"/>
          <a:ext cx="0" cy="0"/>
          <a:chOff x="0" y="0"/>
          <a:chExt cx="0" cy="0"/>
        </a:xfrm>
      </p:grpSpPr>
      <p:sp>
        <p:nvSpPr>
          <p:cNvPr id="11" name="Picture Placeholder 10"/>
          <p:cNvSpPr>
            <a:spLocks noGrp="1"/>
          </p:cNvSpPr>
          <p:nvPr>
            <p:ph type="pic" sz="quarter" idx="13"/>
          </p:nvPr>
        </p:nvSpPr>
        <p:spPr>
          <a:xfrm>
            <a:off x="760520" y="793630"/>
            <a:ext cx="15748981" cy="12321519"/>
          </a:xfrm>
          <a:custGeom>
            <a:avLst/>
            <a:gdLst>
              <a:gd name="connsiteX0" fmla="*/ 0 w 15748981"/>
              <a:gd name="connsiteY0" fmla="*/ 0 h 12321519"/>
              <a:gd name="connsiteX1" fmla="*/ 15748981 w 15748981"/>
              <a:gd name="connsiteY1" fmla="*/ 0 h 12321519"/>
              <a:gd name="connsiteX2" fmla="*/ 15748981 w 15748981"/>
              <a:gd name="connsiteY2" fmla="*/ 2169704 h 12321519"/>
              <a:gd name="connsiteX3" fmla="*/ 13181362 w 15748981"/>
              <a:gd name="connsiteY3" fmla="*/ 2169704 h 12321519"/>
              <a:gd name="connsiteX4" fmla="*/ 13181362 w 15748981"/>
              <a:gd name="connsiteY4" fmla="*/ 10336895 h 12321519"/>
              <a:gd name="connsiteX5" fmla="*/ 15748981 w 15748981"/>
              <a:gd name="connsiteY5" fmla="*/ 10336895 h 12321519"/>
              <a:gd name="connsiteX6" fmla="*/ 15748981 w 15748981"/>
              <a:gd name="connsiteY6" fmla="*/ 12321519 h 12321519"/>
              <a:gd name="connsiteX7" fmla="*/ 0 w 15748981"/>
              <a:gd name="connsiteY7" fmla="*/ 12321519 h 1232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48981" h="12321519">
                <a:moveTo>
                  <a:pt x="0" y="0"/>
                </a:moveTo>
                <a:lnTo>
                  <a:pt x="15748981" y="0"/>
                </a:lnTo>
                <a:lnTo>
                  <a:pt x="15748981" y="2169704"/>
                </a:lnTo>
                <a:lnTo>
                  <a:pt x="13181362" y="2169704"/>
                </a:lnTo>
                <a:lnTo>
                  <a:pt x="13181362" y="10336895"/>
                </a:lnTo>
                <a:lnTo>
                  <a:pt x="15748981" y="10336895"/>
                </a:lnTo>
                <a:lnTo>
                  <a:pt x="15748981" y="12321519"/>
                </a:lnTo>
                <a:lnTo>
                  <a:pt x="0" y="12321519"/>
                </a:lnTo>
                <a:close/>
              </a:path>
            </a:pathLst>
          </a:custGeom>
          <a:noFill/>
        </p:spPr>
        <p:txBody>
          <a:bodyPr wrap="square">
            <a:noAutofit/>
          </a:bodyPr>
          <a:lstStyle/>
          <a:p>
            <a:endParaRPr lang="fa-IR"/>
          </a:p>
        </p:txBody>
      </p:sp>
      <p:pic>
        <p:nvPicPr>
          <p:cNvPr id="17" name="Picture 16"/>
          <p:cNvPicPr>
            <a:picLocks noChangeAspect="1"/>
          </p:cNvPicPr>
          <p:nvPr userDrawn="1"/>
        </p:nvPicPr>
        <p:blipFill>
          <a:blip r:embed="rId2"/>
          <a:stretch>
            <a:fillRect/>
          </a:stretch>
        </p:blipFill>
        <p:spPr>
          <a:xfrm>
            <a:off x="16800600" y="11273519"/>
            <a:ext cx="1864358" cy="714972"/>
          </a:xfrm>
          <a:prstGeom prst="rect">
            <a:avLst/>
          </a:prstGeom>
        </p:spPr>
      </p:pic>
      <p:sp>
        <p:nvSpPr>
          <p:cNvPr id="10" name="Slide Number Placeholder 5" hidden="1"/>
          <p:cNvSpPr txBox="1">
            <a:spLocks/>
          </p:cNvSpPr>
          <p:nvPr userDrawn="1"/>
        </p:nvSpPr>
        <p:spPr>
          <a:xfrm>
            <a:off x="376686" y="12537300"/>
            <a:ext cx="760521" cy="730250"/>
          </a:xfrm>
          <a:prstGeom prst="rect">
            <a:avLst/>
          </a:prstGeom>
        </p:spPr>
        <p:txBody>
          <a:bodyPr vert="horz" lIns="91440" tIns="45720" rIns="91440" bIns="45720" rtlCol="0" anchor="ctr"/>
          <a:lstStyle>
            <a:defPPr>
              <a:defRPr lang="fa-IR"/>
            </a:defPPr>
            <a:lvl1pPr marL="0" algn="r" defTabSz="1828709" rtl="0" eaLnBrk="1" latinLnBrk="0" hangingPunct="1">
              <a:defRPr sz="2400" kern="1200">
                <a:solidFill>
                  <a:srgbClr val="164193"/>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a:lstStyle>
          <a:p>
            <a:fld id="{FC7264DD-8205-481D-9B6A-9CE0D2D966EE}" type="slidenum">
              <a:rPr lang="fa-IR" smtClean="0"/>
              <a:pPr/>
              <a:t>‹#›</a:t>
            </a:fld>
            <a:endParaRPr lang="fa-IR"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948139" y="2963333"/>
            <a:ext cx="9607416" cy="8183033"/>
          </a:xfrm>
          <a:prstGeom prst="rect">
            <a:avLst/>
          </a:prstGeom>
        </p:spPr>
      </p:pic>
      <p:sp>
        <p:nvSpPr>
          <p:cNvPr id="15" name="Title 1"/>
          <p:cNvSpPr>
            <a:spLocks noGrp="1"/>
          </p:cNvSpPr>
          <p:nvPr>
            <p:ph type="title"/>
          </p:nvPr>
        </p:nvSpPr>
        <p:spPr>
          <a:xfrm>
            <a:off x="13948140" y="6250685"/>
            <a:ext cx="9464960" cy="1128523"/>
          </a:xfrm>
          <a:prstGeom prst="rect">
            <a:avLst/>
          </a:prstGeom>
        </p:spPr>
        <p:txBody>
          <a:bodyPr anchor="t"/>
          <a:lstStyle>
            <a:lvl1pPr marL="0" indent="0" algn="r">
              <a:buFontTx/>
              <a:buNone/>
              <a:defRPr sz="4500">
                <a:solidFill>
                  <a:schemeClr val="bg1"/>
                </a:solidFill>
                <a:latin typeface="+mj-lt"/>
                <a:cs typeface="IRANYekan" panose="020B0506030804020204" pitchFamily="34" charset="-78"/>
              </a:defRPr>
            </a:lvl1pPr>
          </a:lstStyle>
          <a:p>
            <a:r>
              <a:rPr lang="en-US" dirty="0"/>
              <a:t>Click to edit Master title style</a:t>
            </a:r>
          </a:p>
        </p:txBody>
      </p:sp>
      <p:sp>
        <p:nvSpPr>
          <p:cNvPr id="18" name="Text Placeholder 17"/>
          <p:cNvSpPr>
            <a:spLocks noGrp="1"/>
          </p:cNvSpPr>
          <p:nvPr>
            <p:ph type="body" sz="quarter" idx="14"/>
          </p:nvPr>
        </p:nvSpPr>
        <p:spPr>
          <a:xfrm>
            <a:off x="13948138" y="5386556"/>
            <a:ext cx="9464962" cy="864129"/>
          </a:xfrm>
        </p:spPr>
        <p:txBody>
          <a:bodyPr anchor="b"/>
          <a:lstStyle>
            <a:lvl1pPr>
              <a:defRPr sz="4000">
                <a:solidFill>
                  <a:schemeClr val="bg1"/>
                </a:solidFill>
              </a:defRPr>
            </a:lvl1pPr>
            <a:lvl3pPr marL="1162823" indent="0">
              <a:buNone/>
              <a:defRPr/>
            </a:lvl3pPr>
            <a:lvl4pPr marL="2026823" indent="0">
              <a:buNone/>
              <a:defRPr/>
            </a:lvl4pPr>
          </a:lstStyle>
          <a:p>
            <a:pPr lvl="0"/>
            <a:r>
              <a:rPr lang="en-US" dirty="0"/>
              <a:t>Edit Master text styles</a:t>
            </a:r>
          </a:p>
        </p:txBody>
      </p:sp>
    </p:spTree>
    <p:extLst>
      <p:ext uri="{BB962C8B-B14F-4D97-AF65-F5344CB8AC3E}">
        <p14:creationId xmlns:p14="http://schemas.microsoft.com/office/powerpoint/2010/main" val="236352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extLst mod="1">
    <p:ext uri="{DCECCB84-F9BA-43D5-87BE-67443E8EF086}">
      <p15:sldGuideLst xmlns:p15="http://schemas.microsoft.com/office/powerpoint/2012/main">
        <p15:guide id="1" orient="horz" pos="4320">
          <p15:clr>
            <a:srgbClr val="FBAE40"/>
          </p15:clr>
        </p15:guide>
        <p15:guide id="2" pos="767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no back">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C7264DD-8205-481D-9B6A-9CE0D2D966EE}" type="slidenum">
              <a:rPr lang="fa-IR" smtClean="0"/>
              <a:t>‹#›</a:t>
            </a:fld>
            <a:endParaRPr lang="fa-IR"/>
          </a:p>
        </p:txBody>
      </p:sp>
      <p:sp>
        <p:nvSpPr>
          <p:cNvPr id="6" name="Title Placeholder 1"/>
          <p:cNvSpPr>
            <a:spLocks noGrp="1"/>
          </p:cNvSpPr>
          <p:nvPr>
            <p:ph type="title"/>
          </p:nvPr>
        </p:nvSpPr>
        <p:spPr>
          <a:xfrm>
            <a:off x="1704001" y="928133"/>
            <a:ext cx="21918000" cy="926021"/>
          </a:xfrm>
          <a:prstGeom prst="rect">
            <a:avLst/>
          </a:prstGeom>
        </p:spPr>
        <p:txBody>
          <a:bodyPr vert="horz" lIns="91440" tIns="45720" rIns="91440" bIns="45720" rtlCol="0" anchor="ctr">
            <a:noAutofit/>
          </a:bodyPr>
          <a:lstStyle/>
          <a:p>
            <a:r>
              <a:rPr lang="en-US" dirty="0"/>
              <a:t>Click to edit Master title style</a:t>
            </a:r>
          </a:p>
        </p:txBody>
      </p:sp>
      <p:sp>
        <p:nvSpPr>
          <p:cNvPr id="4" name="Content Placeholder 2"/>
          <p:cNvSpPr>
            <a:spLocks noGrp="1"/>
          </p:cNvSpPr>
          <p:nvPr>
            <p:ph idx="1"/>
          </p:nvPr>
        </p:nvSpPr>
        <p:spPr>
          <a:xfrm>
            <a:off x="2133600" y="2784763"/>
            <a:ext cx="20061382" cy="8451273"/>
          </a:xfrm>
        </p:spPr>
        <p:txBody>
          <a:bodyPr/>
          <a:lstStyle>
            <a:lvl1pPr marL="0" indent="0" algn="just">
              <a:lnSpc>
                <a:spcPct val="150000"/>
              </a:lnSpc>
              <a:buFontTx/>
              <a:buNone/>
              <a:defRPr b="1">
                <a:solidFill>
                  <a:srgbClr val="164193"/>
                </a:solidFill>
              </a:defRPr>
            </a:lvl1pPr>
            <a:lvl2pPr marL="540000" indent="0" algn="just">
              <a:lnSpc>
                <a:spcPct val="150000"/>
              </a:lnSpc>
              <a:buFontTx/>
              <a:buNone/>
              <a:defRPr/>
            </a:lvl2pPr>
            <a:lvl3pPr algn="just">
              <a:lnSpc>
                <a:spcPct val="150000"/>
              </a:lnSpc>
              <a:defRPr>
                <a:solidFill>
                  <a:srgbClr val="CE7E42"/>
                </a:solidFill>
              </a:defRPr>
            </a:lvl3pPr>
            <a:lvl4pPr algn="just">
              <a:lnSpc>
                <a:spcPct val="150000"/>
              </a:lnSpc>
              <a:defRPr/>
            </a:lvl4pPr>
            <a:lvl5pPr algn="just">
              <a:lnSpc>
                <a:spcPct val="15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8180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ext + chart or table - noback">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724400" y="6026727"/>
            <a:ext cx="15323127" cy="5153892"/>
          </a:xfrm>
        </p:spPr>
        <p:txBody>
          <a:bodyPr/>
          <a:lstStyle/>
          <a:p>
            <a:pPr lvl="0"/>
            <a:endParaRPr lang="en-US" dirty="0"/>
          </a:p>
        </p:txBody>
      </p:sp>
      <p:sp>
        <p:nvSpPr>
          <p:cNvPr id="7" name="Slide Number Placeholder 6"/>
          <p:cNvSpPr>
            <a:spLocks noGrp="1"/>
          </p:cNvSpPr>
          <p:nvPr>
            <p:ph type="sldNum" sz="quarter" idx="12"/>
          </p:nvPr>
        </p:nvSpPr>
        <p:spPr/>
        <p:txBody>
          <a:bodyPr/>
          <a:lstStyle/>
          <a:p>
            <a:fld id="{FC7264DD-8205-481D-9B6A-9CE0D2D966EE}" type="slidenum">
              <a:rPr lang="fa-IR" smtClean="0"/>
              <a:t>‹#›</a:t>
            </a:fld>
            <a:endParaRPr lang="fa-IR"/>
          </a:p>
        </p:txBody>
      </p:sp>
      <p:sp>
        <p:nvSpPr>
          <p:cNvPr id="9" name="Title Placeholder 1"/>
          <p:cNvSpPr>
            <a:spLocks noGrp="1"/>
          </p:cNvSpPr>
          <p:nvPr>
            <p:ph type="title"/>
          </p:nvPr>
        </p:nvSpPr>
        <p:spPr>
          <a:xfrm>
            <a:off x="1704001" y="928133"/>
            <a:ext cx="21918000" cy="926021"/>
          </a:xfrm>
          <a:prstGeom prst="rect">
            <a:avLst/>
          </a:prstGeom>
        </p:spPr>
        <p:txBody>
          <a:bodyPr vert="horz" lIns="91440" tIns="45720" rIns="91440" bIns="45720" rtlCol="0" anchor="ctr">
            <a:noAutofit/>
          </a:bodyPr>
          <a:lstStyle/>
          <a:p>
            <a:r>
              <a:rPr lang="en-US" dirty="0"/>
              <a:t>Click to edit Master title style</a:t>
            </a:r>
          </a:p>
        </p:txBody>
      </p:sp>
      <p:sp>
        <p:nvSpPr>
          <p:cNvPr id="8" name="Content Placeholder 2"/>
          <p:cNvSpPr>
            <a:spLocks noGrp="1"/>
          </p:cNvSpPr>
          <p:nvPr>
            <p:ph idx="13"/>
          </p:nvPr>
        </p:nvSpPr>
        <p:spPr>
          <a:xfrm>
            <a:off x="2133600" y="2784764"/>
            <a:ext cx="20061382" cy="3241964"/>
          </a:xfrm>
        </p:spPr>
        <p:txBody>
          <a:bodyPr/>
          <a:lstStyle>
            <a:lvl1pPr marL="0" indent="0" algn="just">
              <a:lnSpc>
                <a:spcPct val="150000"/>
              </a:lnSpc>
              <a:buFontTx/>
              <a:buNone/>
              <a:defRPr b="1">
                <a:solidFill>
                  <a:srgbClr val="164193"/>
                </a:solidFill>
              </a:defRPr>
            </a:lvl1pPr>
            <a:lvl2pPr marL="540000" indent="0" algn="just">
              <a:lnSpc>
                <a:spcPct val="150000"/>
              </a:lnSpc>
              <a:buFontTx/>
              <a:buNone/>
              <a:defRPr/>
            </a:lvl2pPr>
            <a:lvl3pPr algn="just">
              <a:lnSpc>
                <a:spcPct val="150000"/>
              </a:lnSpc>
              <a:defRPr>
                <a:solidFill>
                  <a:srgbClr val="CE7E42"/>
                </a:solidFill>
              </a:defRPr>
            </a:lvl3pPr>
            <a:lvl4pPr algn="just">
              <a:lnSpc>
                <a:spcPct val="150000"/>
              </a:lnSpc>
              <a:defRPr/>
            </a:lvl4pPr>
            <a:lvl5pPr algn="just">
              <a:lnSpc>
                <a:spcPct val="15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08673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ext + table or chart (2 column) - noback">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2161309" y="2784764"/>
            <a:ext cx="10681855" cy="8451272"/>
          </a:xfrm>
        </p:spPr>
        <p:txBody>
          <a:bodyPr/>
          <a:lstStyle/>
          <a:p>
            <a:pPr lvl="0"/>
            <a:endParaRPr lang="en-US" dirty="0"/>
          </a:p>
        </p:txBody>
      </p:sp>
      <p:sp>
        <p:nvSpPr>
          <p:cNvPr id="9" name="Slide Number Placeholder 8"/>
          <p:cNvSpPr>
            <a:spLocks noGrp="1"/>
          </p:cNvSpPr>
          <p:nvPr>
            <p:ph type="sldNum" sz="quarter" idx="12"/>
          </p:nvPr>
        </p:nvSpPr>
        <p:spPr/>
        <p:txBody>
          <a:bodyPr/>
          <a:lstStyle/>
          <a:p>
            <a:fld id="{FC7264DD-8205-481D-9B6A-9CE0D2D966EE}" type="slidenum">
              <a:rPr lang="fa-IR" smtClean="0"/>
              <a:t>‹#›</a:t>
            </a:fld>
            <a:endParaRPr lang="fa-IR"/>
          </a:p>
        </p:txBody>
      </p:sp>
      <p:sp>
        <p:nvSpPr>
          <p:cNvPr id="10" name="Title Placeholder 1"/>
          <p:cNvSpPr>
            <a:spLocks noGrp="1"/>
          </p:cNvSpPr>
          <p:nvPr>
            <p:ph type="title"/>
          </p:nvPr>
        </p:nvSpPr>
        <p:spPr>
          <a:xfrm>
            <a:off x="1704001" y="928133"/>
            <a:ext cx="21918000" cy="926021"/>
          </a:xfrm>
          <a:prstGeom prst="rect">
            <a:avLst/>
          </a:prstGeom>
        </p:spPr>
        <p:txBody>
          <a:bodyPr vert="horz" lIns="91440" tIns="45720" rIns="91440" bIns="45720" rtlCol="0" anchor="ctr">
            <a:noAutofit/>
          </a:bodyPr>
          <a:lstStyle/>
          <a:p>
            <a:r>
              <a:rPr lang="en-US" dirty="0"/>
              <a:t>Click to edit Master title style</a:t>
            </a:r>
          </a:p>
        </p:txBody>
      </p:sp>
      <p:sp>
        <p:nvSpPr>
          <p:cNvPr id="6" name="Content Placeholder 2"/>
          <p:cNvSpPr>
            <a:spLocks noGrp="1"/>
          </p:cNvSpPr>
          <p:nvPr>
            <p:ph idx="1"/>
          </p:nvPr>
        </p:nvSpPr>
        <p:spPr>
          <a:xfrm>
            <a:off x="12954000" y="2784763"/>
            <a:ext cx="9240982" cy="8451273"/>
          </a:xfrm>
        </p:spPr>
        <p:txBody>
          <a:bodyPr/>
          <a:lstStyle>
            <a:lvl1pPr marL="0" indent="0" algn="just">
              <a:lnSpc>
                <a:spcPct val="150000"/>
              </a:lnSpc>
              <a:buFontTx/>
              <a:buNone/>
              <a:defRPr b="1">
                <a:solidFill>
                  <a:srgbClr val="164193"/>
                </a:solidFill>
              </a:defRPr>
            </a:lvl1pPr>
            <a:lvl2pPr marL="540000" indent="0" algn="just">
              <a:lnSpc>
                <a:spcPct val="150000"/>
              </a:lnSpc>
              <a:buFontTx/>
              <a:buNone/>
              <a:defRPr/>
            </a:lvl2pPr>
            <a:lvl3pPr algn="just">
              <a:lnSpc>
                <a:spcPct val="150000"/>
              </a:lnSpc>
              <a:defRPr>
                <a:solidFill>
                  <a:srgbClr val="CE7E42"/>
                </a:solidFill>
              </a:defRPr>
            </a:lvl3pPr>
            <a:lvl4pPr algn="just">
              <a:lnSpc>
                <a:spcPct val="150000"/>
              </a:lnSpc>
              <a:defRPr/>
            </a:lvl4pPr>
            <a:lvl5pPr algn="just">
              <a:lnSpc>
                <a:spcPct val="15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58569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 noback">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C7264DD-8205-481D-9B6A-9CE0D2D966EE}" type="slidenum">
              <a:rPr lang="fa-IR" smtClean="0"/>
              <a:t>‹#›</a:t>
            </a:fld>
            <a:endParaRPr lang="fa-IR"/>
          </a:p>
        </p:txBody>
      </p:sp>
      <p:sp>
        <p:nvSpPr>
          <p:cNvPr id="6" name="Title Placeholder 1"/>
          <p:cNvSpPr>
            <a:spLocks noGrp="1"/>
          </p:cNvSpPr>
          <p:nvPr>
            <p:ph type="title"/>
          </p:nvPr>
        </p:nvSpPr>
        <p:spPr>
          <a:xfrm>
            <a:off x="1704001" y="928133"/>
            <a:ext cx="21918000" cy="926021"/>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2968777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vider | Titr+pic - nobac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C7264DD-8205-481D-9B6A-9CE0D2D966EE}" type="slidenum">
              <a:rPr lang="fa-IR" smtClean="0"/>
              <a:t>‹#›</a:t>
            </a:fld>
            <a:endParaRPr lang="fa-IR"/>
          </a:p>
        </p:txBody>
      </p:sp>
      <p:sp>
        <p:nvSpPr>
          <p:cNvPr id="4" name="Rounded Rectangle 3"/>
          <p:cNvSpPr/>
          <p:nvPr userDrawn="1"/>
        </p:nvSpPr>
        <p:spPr>
          <a:xfrm>
            <a:off x="1663591" y="1529015"/>
            <a:ext cx="21029831" cy="22532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 name="Title 1"/>
          <p:cNvSpPr>
            <a:spLocks noGrp="1"/>
          </p:cNvSpPr>
          <p:nvPr>
            <p:ph type="title"/>
          </p:nvPr>
        </p:nvSpPr>
        <p:spPr>
          <a:xfrm>
            <a:off x="2244436" y="1841869"/>
            <a:ext cx="19908982" cy="1691040"/>
          </a:xfrm>
          <a:prstGeom prst="rect">
            <a:avLst/>
          </a:prstGeom>
        </p:spPr>
        <p:txBody>
          <a:bodyPr anchor="ctr"/>
          <a:lstStyle>
            <a:lvl1pPr marL="0" indent="0" algn="ctr">
              <a:buFontTx/>
              <a:buNone/>
              <a:defRPr sz="5000">
                <a:solidFill>
                  <a:schemeClr val="bg1"/>
                </a:solidFill>
                <a:latin typeface="+mj-lt"/>
                <a:cs typeface="IRANYekan" panose="020B0506030804020204" pitchFamily="34" charset="-78"/>
              </a:defRPr>
            </a:lvl1pPr>
          </a:lstStyle>
          <a:p>
            <a:r>
              <a:rPr lang="en-US" dirty="0"/>
              <a:t>Click to edit Master title style</a:t>
            </a:r>
          </a:p>
        </p:txBody>
      </p:sp>
      <p:sp>
        <p:nvSpPr>
          <p:cNvPr id="9" name="Picture Placeholder 8"/>
          <p:cNvSpPr>
            <a:spLocks noGrp="1"/>
          </p:cNvSpPr>
          <p:nvPr>
            <p:ph type="pic" sz="quarter" idx="13"/>
          </p:nvPr>
        </p:nvSpPr>
        <p:spPr>
          <a:xfrm>
            <a:off x="1814944" y="4045236"/>
            <a:ext cx="20754111" cy="7149234"/>
          </a:xfrm>
        </p:spPr>
        <p:txBody>
          <a:bodyPr/>
          <a:lstStyle/>
          <a:p>
            <a:endParaRPr lang="fa-IR"/>
          </a:p>
        </p:txBody>
      </p:sp>
    </p:spTree>
    <p:extLst>
      <p:ext uri="{BB962C8B-B14F-4D97-AF65-F5344CB8AC3E}">
        <p14:creationId xmlns:p14="http://schemas.microsoft.com/office/powerpoint/2010/main" val="167308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extLst mod="1">
    <p:ext uri="{DCECCB84-F9BA-43D5-87BE-67443E8EF086}">
      <p15:sldGuideLst xmlns:p15="http://schemas.microsoft.com/office/powerpoint/2012/main">
        <p15:guide id="1" orient="horz" pos="4320">
          <p15:clr>
            <a:srgbClr val="FBAE40"/>
          </p15:clr>
        </p15:guide>
        <p15:guide id="2" pos="767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3217333" y="5979288"/>
            <a:ext cx="6036205" cy="926021"/>
          </a:xfrm>
          <a:prstGeom prst="rect">
            <a:avLst/>
          </a:prstGeom>
        </p:spPr>
        <p:txBody>
          <a:bodyPr vert="horz" lIns="91440" tIns="45720" rIns="91440" bIns="45720" rtlCol="0" anchor="ctr">
            <a:noAutofit/>
          </a:bodyPr>
          <a:lstStyle>
            <a:lvl1pPr marL="0" indent="0">
              <a:buFontTx/>
              <a:buNone/>
              <a:defRPr sz="5200" baseline="0"/>
            </a:lvl1pPr>
          </a:lstStyle>
          <a:p>
            <a:r>
              <a:rPr lang="fa-IR" dirty="0"/>
              <a:t>با تشکر از توجه شما</a:t>
            </a:r>
            <a:endParaRPr lang="en-US" dirty="0"/>
          </a:p>
        </p:txBody>
      </p:sp>
      <p:cxnSp>
        <p:nvCxnSpPr>
          <p:cNvPr id="7" name="Straight Connector 6"/>
          <p:cNvCxnSpPr/>
          <p:nvPr userDrawn="1"/>
        </p:nvCxnSpPr>
        <p:spPr>
          <a:xfrm>
            <a:off x="9920379" y="5741508"/>
            <a:ext cx="0" cy="1487429"/>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563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alphaModFix amt="46000"/>
            <a:lum/>
          </a:blip>
          <a:srcRect/>
          <a:stretch>
            <a:fillRect t="-1000" b="-1000"/>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133600" y="2784762"/>
            <a:ext cx="20061382" cy="8451273"/>
          </a:xfrm>
          <a:prstGeom prst="rect">
            <a:avLst/>
          </a:prstGeom>
        </p:spPr>
        <p:txBody>
          <a:bodyPr vert="horz" lIns="91440" tIns="45720" rIns="91440" bIns="45720" rtlCol="0">
            <a:normAutofit/>
          </a:bodyPr>
          <a:lstStyle/>
          <a:p>
            <a:pPr lvl="0"/>
            <a:r>
              <a:rPr lang="fa-IR" noProof="0" dirty="0" err="1"/>
              <a:t>سرفصل‌های</a:t>
            </a:r>
            <a:r>
              <a:rPr lang="fa-IR" noProof="0" dirty="0"/>
              <a:t> مورد نظر</a:t>
            </a:r>
          </a:p>
          <a:p>
            <a:pPr lvl="1"/>
            <a:r>
              <a:rPr lang="fa-IR" noProof="0" dirty="0"/>
              <a:t>گزینه اول</a:t>
            </a:r>
          </a:p>
          <a:p>
            <a:pPr lvl="2"/>
            <a:r>
              <a:rPr lang="fa-IR" noProof="0" dirty="0"/>
              <a:t>موضوع دوم</a:t>
            </a:r>
          </a:p>
          <a:p>
            <a:pPr lvl="3"/>
            <a:r>
              <a:rPr lang="fa-IR" noProof="0" dirty="0"/>
              <a:t>موضوع سوم</a:t>
            </a:r>
          </a:p>
        </p:txBody>
      </p:sp>
      <p:sp>
        <p:nvSpPr>
          <p:cNvPr id="6" name="Slide Number Placeholder 5"/>
          <p:cNvSpPr>
            <a:spLocks noGrp="1"/>
          </p:cNvSpPr>
          <p:nvPr>
            <p:ph type="sldNum" sz="quarter" idx="4"/>
          </p:nvPr>
        </p:nvSpPr>
        <p:spPr>
          <a:xfrm>
            <a:off x="224286" y="12384900"/>
            <a:ext cx="760521" cy="730250"/>
          </a:xfrm>
          <a:prstGeom prst="rect">
            <a:avLst/>
          </a:prstGeom>
        </p:spPr>
        <p:txBody>
          <a:bodyPr vert="horz" lIns="91440" tIns="45720" rIns="91440" bIns="45720" rtlCol="0" anchor="ctr"/>
          <a:lstStyle>
            <a:lvl1pPr algn="r">
              <a:defRPr sz="2400">
                <a:solidFill>
                  <a:srgbClr val="164193"/>
                </a:solidFill>
                <a:cs typeface="B Yekan" panose="00000400000000000000" pitchFamily="2" charset="-78"/>
              </a:defRPr>
            </a:lvl1pPr>
          </a:lstStyle>
          <a:p>
            <a:fld id="{FC7264DD-8205-481D-9B6A-9CE0D2D966EE}" type="slidenum">
              <a:rPr lang="fa-IR" smtClean="0"/>
              <a:pPr/>
              <a:t>‹#›</a:t>
            </a:fld>
            <a:endParaRPr lang="fa-IR" dirty="0"/>
          </a:p>
        </p:txBody>
      </p:sp>
      <p:sp>
        <p:nvSpPr>
          <p:cNvPr id="9" name="Title Placeholder 1"/>
          <p:cNvSpPr>
            <a:spLocks noGrp="1"/>
          </p:cNvSpPr>
          <p:nvPr>
            <p:ph type="title"/>
          </p:nvPr>
        </p:nvSpPr>
        <p:spPr>
          <a:xfrm>
            <a:off x="1676291" y="928133"/>
            <a:ext cx="21945709" cy="926021"/>
          </a:xfrm>
          <a:prstGeom prst="rect">
            <a:avLst/>
          </a:prstGeom>
        </p:spPr>
        <p:txBody>
          <a:bodyPr vert="horz" lIns="91440" tIns="45720" rIns="91440" bIns="45720" rtlCol="0" anchor="ctr">
            <a:noAutofit/>
          </a:bodyPr>
          <a:lstStyle/>
          <a:p>
            <a:r>
              <a:rPr lang="fa-IR" noProof="0" dirty="0"/>
              <a:t>عنوان اسلاید</a:t>
            </a:r>
          </a:p>
        </p:txBody>
      </p:sp>
    </p:spTree>
    <p:extLst>
      <p:ext uri="{BB962C8B-B14F-4D97-AF65-F5344CB8AC3E}">
        <p14:creationId xmlns:p14="http://schemas.microsoft.com/office/powerpoint/2010/main" val="835356418"/>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62" r:id="rId3"/>
    <p:sldLayoutId id="2147483664" r:id="rId4"/>
    <p:sldLayoutId id="2147483665" r:id="rId5"/>
    <p:sldLayoutId id="2147483666" r:id="rId6"/>
    <p:sldLayoutId id="2147483663" r:id="rId7"/>
    <p:sldLayoutId id="2147483671" r:id="rId8"/>
    <p:sldLayoutId id="2147483672" r:id="rId9"/>
    <p:sldLayoutId id="2147483668" r:id="rId10"/>
    <p:sldLayoutId id="2147483674" r:id="rId11"/>
    <p:sldLayoutId id="2147483675" r:id="rId12"/>
    <p:sldLayoutId id="2147483676" r:id="rId13"/>
    <p:sldLayoutId id="2147483673" r:id="rId14"/>
    <p:sldLayoutId id="2147483669" r:id="rId15"/>
  </p:sldLayoutIdLst>
  <p:hf hdr="0" dt="0"/>
  <p:txStyles>
    <p:titleStyle>
      <a:lvl1pPr marL="685800" indent="-685800" algn="r" defTabSz="1828709" rtl="1" eaLnBrk="1" latinLnBrk="0" hangingPunct="1">
        <a:lnSpc>
          <a:spcPct val="90000"/>
        </a:lnSpc>
        <a:spcBef>
          <a:spcPct val="0"/>
        </a:spcBef>
        <a:buSzPct val="80000"/>
        <a:buFontTx/>
        <a:buBlip>
          <a:blip r:embed="rId18"/>
        </a:buBlip>
        <a:defRPr sz="4700" b="1" kern="1200" baseline="0">
          <a:solidFill>
            <a:srgbClr val="164193"/>
          </a:solidFill>
          <a:latin typeface="+mj-lt"/>
          <a:ea typeface="+mj-ea"/>
          <a:cs typeface="B Koodak" panose="00000700000000000000" pitchFamily="2" charset="-78"/>
        </a:defRPr>
      </a:lvl1pPr>
    </p:titleStyle>
    <p:bodyStyle>
      <a:lvl1pPr marL="0" indent="0" algn="just" defTabSz="1828709" rtl="1" eaLnBrk="1" latinLnBrk="0" hangingPunct="1">
        <a:lnSpc>
          <a:spcPct val="150000"/>
        </a:lnSpc>
        <a:spcBef>
          <a:spcPts val="0"/>
        </a:spcBef>
        <a:buFontTx/>
        <a:buNone/>
        <a:defRPr sz="3000" b="1" kern="1200">
          <a:solidFill>
            <a:srgbClr val="164193"/>
          </a:solidFill>
          <a:latin typeface="B Yekan" panose="00000400000000000000" pitchFamily="2" charset="-78"/>
          <a:ea typeface="+mn-ea"/>
          <a:cs typeface="B Yekan" panose="00000400000000000000" pitchFamily="2" charset="-78"/>
        </a:defRPr>
      </a:lvl1pPr>
      <a:lvl2pPr marL="540000" indent="0" algn="just" defTabSz="1828709" rtl="1" eaLnBrk="1" latinLnBrk="0" hangingPunct="1">
        <a:lnSpc>
          <a:spcPct val="150000"/>
        </a:lnSpc>
        <a:spcBef>
          <a:spcPts val="0"/>
        </a:spcBef>
        <a:buFontTx/>
        <a:buNone/>
        <a:defRPr sz="3000" kern="1200">
          <a:solidFill>
            <a:schemeClr val="tx1">
              <a:lumMod val="65000"/>
              <a:lumOff val="35000"/>
            </a:schemeClr>
          </a:solidFill>
          <a:latin typeface="B Yekan" panose="00000400000000000000" pitchFamily="2" charset="-78"/>
          <a:ea typeface="+mn-ea"/>
          <a:cs typeface="B Yekan" panose="00000400000000000000" pitchFamily="2" charset="-78"/>
        </a:defRPr>
      </a:lvl2pPr>
      <a:lvl3pPr marL="1620000" indent="-457177" algn="just" defTabSz="1828709" rtl="1" eaLnBrk="1" latinLnBrk="0" hangingPunct="1">
        <a:lnSpc>
          <a:spcPct val="150000"/>
        </a:lnSpc>
        <a:spcBef>
          <a:spcPts val="0"/>
        </a:spcBef>
        <a:buFont typeface="Arial" panose="020B0604020202020204" pitchFamily="34" charset="0"/>
        <a:buChar char="•"/>
        <a:defRPr sz="3000" kern="1200">
          <a:solidFill>
            <a:srgbClr val="CE7E42"/>
          </a:solidFill>
          <a:latin typeface="B Yekan" panose="00000400000000000000" pitchFamily="2" charset="-78"/>
          <a:ea typeface="+mn-ea"/>
          <a:cs typeface="B Yekan" panose="00000400000000000000" pitchFamily="2" charset="-78"/>
        </a:defRPr>
      </a:lvl3pPr>
      <a:lvl4pPr marL="2484000" indent="-457177" algn="just" defTabSz="1828709" rtl="1" eaLnBrk="1" latinLnBrk="0" hangingPunct="1">
        <a:lnSpc>
          <a:spcPct val="150000"/>
        </a:lnSpc>
        <a:spcBef>
          <a:spcPts val="0"/>
        </a:spcBef>
        <a:buFont typeface="Arial" panose="020B0604020202020204" pitchFamily="34" charset="0"/>
        <a:buChar char="•"/>
        <a:defRPr sz="3000" kern="1200">
          <a:solidFill>
            <a:schemeClr val="tx1">
              <a:lumMod val="65000"/>
              <a:lumOff val="35000"/>
            </a:schemeClr>
          </a:solidFill>
          <a:latin typeface="B Yekan" panose="00000400000000000000" pitchFamily="2" charset="-78"/>
          <a:ea typeface="+mn-ea"/>
          <a:cs typeface="B Yekan" panose="00000400000000000000" pitchFamily="2" charset="-78"/>
        </a:defRPr>
      </a:lvl4pPr>
      <a:lvl5pPr marL="4114594" indent="-457177" algn="just" defTabSz="1828709" rtl="1" eaLnBrk="1" latinLnBrk="0" hangingPunct="1">
        <a:lnSpc>
          <a:spcPct val="150000"/>
        </a:lnSpc>
        <a:spcBef>
          <a:spcPts val="0"/>
        </a:spcBef>
        <a:buFont typeface="Arial" panose="020B0604020202020204" pitchFamily="34" charset="0"/>
        <a:buChar char="•"/>
        <a:defRPr sz="3000" kern="1200">
          <a:solidFill>
            <a:schemeClr val="tx1">
              <a:lumMod val="65000"/>
              <a:lumOff val="35000"/>
            </a:schemeClr>
          </a:solidFill>
          <a:latin typeface="IRANYekan" panose="020B0506030804020204" pitchFamily="34" charset="-78"/>
          <a:ea typeface="+mn-ea"/>
          <a:cs typeface="IRANYekan" panose="020B0506030804020204" pitchFamily="34" charset="-78"/>
        </a:defRPr>
      </a:lvl5pPr>
      <a:lvl6pPr marL="5028949" indent="-457177" algn="r" defTabSz="1828709" rtl="1"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r" defTabSz="1828709" rtl="1"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r" defTabSz="1828709" rtl="1"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r" defTabSz="1828709" rtl="1"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r" defTabSz="1828709" rtl="1" eaLnBrk="1" latinLnBrk="0" hangingPunct="1">
        <a:defRPr sz="3600" kern="1200">
          <a:solidFill>
            <a:schemeClr val="tx1"/>
          </a:solidFill>
          <a:latin typeface="+mn-lt"/>
          <a:ea typeface="+mn-ea"/>
          <a:cs typeface="+mn-cs"/>
        </a:defRPr>
      </a:lvl1pPr>
      <a:lvl2pPr marL="914354" algn="r" defTabSz="1828709" rtl="1" eaLnBrk="1" latinLnBrk="0" hangingPunct="1">
        <a:defRPr sz="3600" kern="1200">
          <a:solidFill>
            <a:schemeClr val="tx1"/>
          </a:solidFill>
          <a:latin typeface="+mn-lt"/>
          <a:ea typeface="+mn-ea"/>
          <a:cs typeface="+mn-cs"/>
        </a:defRPr>
      </a:lvl2pPr>
      <a:lvl3pPr marL="1828709" algn="r" defTabSz="1828709" rtl="1" eaLnBrk="1" latinLnBrk="0" hangingPunct="1">
        <a:defRPr sz="3600" kern="1200">
          <a:solidFill>
            <a:schemeClr val="tx1"/>
          </a:solidFill>
          <a:latin typeface="+mn-lt"/>
          <a:ea typeface="+mn-ea"/>
          <a:cs typeface="+mn-cs"/>
        </a:defRPr>
      </a:lvl3pPr>
      <a:lvl4pPr marL="2743063" algn="r" defTabSz="1828709" rtl="1" eaLnBrk="1" latinLnBrk="0" hangingPunct="1">
        <a:defRPr sz="3600" kern="1200">
          <a:solidFill>
            <a:schemeClr val="tx1"/>
          </a:solidFill>
          <a:latin typeface="+mn-lt"/>
          <a:ea typeface="+mn-ea"/>
          <a:cs typeface="+mn-cs"/>
        </a:defRPr>
      </a:lvl4pPr>
      <a:lvl5pPr marL="3657417" algn="r" defTabSz="1828709" rtl="1" eaLnBrk="1" latinLnBrk="0" hangingPunct="1">
        <a:defRPr sz="3600" kern="1200">
          <a:solidFill>
            <a:schemeClr val="tx1"/>
          </a:solidFill>
          <a:latin typeface="+mn-lt"/>
          <a:ea typeface="+mn-ea"/>
          <a:cs typeface="+mn-cs"/>
        </a:defRPr>
      </a:lvl5pPr>
      <a:lvl6pPr marL="4571771" algn="r" defTabSz="1828709" rtl="1" eaLnBrk="1" latinLnBrk="0" hangingPunct="1">
        <a:defRPr sz="3600" kern="1200">
          <a:solidFill>
            <a:schemeClr val="tx1"/>
          </a:solidFill>
          <a:latin typeface="+mn-lt"/>
          <a:ea typeface="+mn-ea"/>
          <a:cs typeface="+mn-cs"/>
        </a:defRPr>
      </a:lvl6pPr>
      <a:lvl7pPr marL="5486126" algn="r" defTabSz="1828709" rtl="1" eaLnBrk="1" latinLnBrk="0" hangingPunct="1">
        <a:defRPr sz="3600" kern="1200">
          <a:solidFill>
            <a:schemeClr val="tx1"/>
          </a:solidFill>
          <a:latin typeface="+mn-lt"/>
          <a:ea typeface="+mn-ea"/>
          <a:cs typeface="+mn-cs"/>
        </a:defRPr>
      </a:lvl7pPr>
      <a:lvl8pPr marL="6400480" algn="r" defTabSz="1828709" rtl="1" eaLnBrk="1" latinLnBrk="0" hangingPunct="1">
        <a:defRPr sz="3600" kern="1200">
          <a:solidFill>
            <a:schemeClr val="tx1"/>
          </a:solidFill>
          <a:latin typeface="+mn-lt"/>
          <a:ea typeface="+mn-ea"/>
          <a:cs typeface="+mn-cs"/>
        </a:defRPr>
      </a:lvl8pPr>
      <a:lvl9pPr marL="7314834" algn="r" defTabSz="1828709" rtl="1"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automatedinsights.com/"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www.wordtune.com/" TargetMode="External"/><Relationship Id="rId2" Type="http://schemas.openxmlformats.org/officeDocument/2006/relationships/hyperlink" Target="https://quillbot.com/" TargetMode="External"/><Relationship Id="rId1" Type="http://schemas.openxmlformats.org/officeDocument/2006/relationships/slideLayout" Target="../slideLayouts/slideLayout3.xml"/><Relationship Id="rId4" Type="http://schemas.openxmlformats.org/officeDocument/2006/relationships/hyperlink" Target="https://www.jasper.ai/"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www.hubspot.com/"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ithub.com/khadem/IrnaAI" TargetMode="External"/><Relationship Id="rId1" Type="http://schemas.openxmlformats.org/officeDocument/2006/relationships/slideLayout" Target="../slideLayouts/slideLayout3.xml"/><Relationship Id="rId4" Type="http://schemas.openxmlformats.org/officeDocument/2006/relationships/image" Target="../media/image11.svg"/></Relationships>
</file>

<file path=ppt/slides/_rels/slide30.xml.rels><?xml version="1.0" encoding="UTF-8" standalone="yes"?>
<Relationships xmlns="http://schemas.openxmlformats.org/package/2006/relationships"><Relationship Id="rId3" Type="http://schemas.openxmlformats.org/officeDocument/2006/relationships/hyperlink" Target="https://chat.qwen.ai/" TargetMode="External"/><Relationship Id="rId2" Type="http://schemas.openxmlformats.org/officeDocument/2006/relationships/hyperlink" Target="https://copilot.microsoft.com/" TargetMode="External"/><Relationship Id="rId1" Type="http://schemas.openxmlformats.org/officeDocument/2006/relationships/slideLayout" Target="../slideLayouts/slideLayout3.xml"/><Relationship Id="rId5" Type="http://schemas.openxmlformats.org/officeDocument/2006/relationships/hyperlink" Target="https://www.perplexity.ai/" TargetMode="External"/><Relationship Id="rId4" Type="http://schemas.openxmlformats.org/officeDocument/2006/relationships/hyperlink" Target="https://grok.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a-IR" dirty="0">
                <a:solidFill>
                  <a:srgbClr val="164193"/>
                </a:solidFill>
              </a:rPr>
              <a:t>کاربردهای هوش مصنوعی در خبرنگاری</a:t>
            </a:r>
            <a:br>
              <a:rPr lang="fa-IR" dirty="0">
                <a:solidFill>
                  <a:srgbClr val="164193"/>
                </a:solidFill>
              </a:rPr>
            </a:br>
            <a:r>
              <a:rPr lang="fa-IR" sz="5400" dirty="0">
                <a:solidFill>
                  <a:srgbClr val="164193"/>
                </a:solidFill>
              </a:rPr>
              <a:t>جلسه سوم: تولید خودکار محتوا</a:t>
            </a:r>
          </a:p>
        </p:txBody>
      </p:sp>
      <p:sp>
        <p:nvSpPr>
          <p:cNvPr id="3" name="Subtitle 2"/>
          <p:cNvSpPr>
            <a:spLocks noGrp="1"/>
          </p:cNvSpPr>
          <p:nvPr>
            <p:ph type="subTitle" idx="1"/>
          </p:nvPr>
        </p:nvSpPr>
        <p:spPr>
          <a:xfrm>
            <a:off x="1303633" y="7011048"/>
            <a:ext cx="15820845" cy="1267064"/>
          </a:xfrm>
        </p:spPr>
        <p:txBody>
          <a:bodyPr>
            <a:normAutofit fontScale="70000" lnSpcReduction="20000"/>
          </a:bodyPr>
          <a:lstStyle/>
          <a:p>
            <a:r>
              <a:rPr lang="fa-IR" dirty="0">
                <a:solidFill>
                  <a:srgbClr val="CE7E42"/>
                </a:solidFill>
              </a:rPr>
              <a:t>مهر ماه 1404</a:t>
            </a:r>
          </a:p>
          <a:p>
            <a:r>
              <a:rPr lang="fa-IR" dirty="0">
                <a:solidFill>
                  <a:srgbClr val="CE7E42"/>
                </a:solidFill>
              </a:rPr>
              <a:t>مصطفی خادم المله</a:t>
            </a:r>
          </a:p>
        </p:txBody>
      </p:sp>
    </p:spTree>
    <p:extLst>
      <p:ext uri="{BB962C8B-B14F-4D97-AF65-F5344CB8AC3E}">
        <p14:creationId xmlns:p14="http://schemas.microsoft.com/office/powerpoint/2010/main" val="3169752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2</a:t>
            </a:fld>
            <a:endParaRPr lang="fa-IR"/>
          </a:p>
        </p:txBody>
      </p:sp>
      <p:sp>
        <p:nvSpPr>
          <p:cNvPr id="4" name="Title 3"/>
          <p:cNvSpPr>
            <a:spLocks noGrp="1"/>
          </p:cNvSpPr>
          <p:nvPr>
            <p:ph type="title"/>
          </p:nvPr>
        </p:nvSpPr>
        <p:spPr/>
        <p:txBody>
          <a:bodyPr/>
          <a:lstStyle/>
          <a:p>
            <a:endParaRPr lang="fa-IR" dirty="0">
              <a:cs typeface="B Koodak" panose="00000700000000000000" pitchFamily="2" charset="-78"/>
            </a:endParaRPr>
          </a:p>
        </p:txBody>
      </p:sp>
      <p:pic>
        <p:nvPicPr>
          <p:cNvPr id="5" name="Content Placeholder 4">
            <a:extLst>
              <a:ext uri="{FF2B5EF4-FFF2-40B4-BE49-F238E27FC236}">
                <a16:creationId xmlns:a16="http://schemas.microsoft.com/office/drawing/2014/main" id="{48632C7B-AD64-4B5B-A15F-159C00BF19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23524" y="928133"/>
            <a:ext cx="14135364" cy="9305925"/>
          </a:xfrm>
          <a:prstGeom prst="rect">
            <a:avLst/>
          </a:prstGeom>
        </p:spPr>
      </p:pic>
    </p:spTree>
    <p:extLst>
      <p:ext uri="{BB962C8B-B14F-4D97-AF65-F5344CB8AC3E}">
        <p14:creationId xmlns:p14="http://schemas.microsoft.com/office/powerpoint/2010/main" val="1319299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cs typeface="B Koodak" panose="00000700000000000000" pitchFamily="2" charset="-78"/>
              </a:rPr>
              <a:t>📌 مرور سریع جلسه دوم:</a:t>
            </a:r>
          </a:p>
          <a:p>
            <a:pPr marL="571500" indent="-571500">
              <a:buFontTx/>
              <a:buChar char="-"/>
            </a:pPr>
            <a:r>
              <a:rPr lang="fa-IR" sz="4000" dirty="0">
                <a:cs typeface="B Koodak" panose="00000700000000000000" pitchFamily="2" charset="-78"/>
              </a:rPr>
              <a:t>رصد هوشمند اخبار با </a:t>
            </a:r>
            <a:r>
              <a:rPr lang="en-US" sz="4000" dirty="0">
                <a:latin typeface="Calibri" panose="020F0502020204030204" pitchFamily="34" charset="0"/>
                <a:ea typeface="Calibri" panose="020F0502020204030204" pitchFamily="34" charset="0"/>
                <a:cs typeface="Calibri" panose="020F0502020204030204" pitchFamily="34" charset="0"/>
              </a:rPr>
              <a:t>Google Alerts</a:t>
            </a:r>
            <a:r>
              <a:rPr lang="en-US" sz="4000" dirty="0">
                <a:cs typeface="B Koodak" panose="00000700000000000000" pitchFamily="2" charset="-78"/>
              </a:rPr>
              <a:t> </a:t>
            </a:r>
            <a:r>
              <a:rPr lang="fa-IR" sz="4000" dirty="0">
                <a:cs typeface="B Koodak" panose="00000700000000000000" pitchFamily="2" charset="-78"/>
              </a:rPr>
              <a:t> و </a:t>
            </a:r>
            <a:r>
              <a:rPr lang="en-US" sz="4000" dirty="0" err="1">
                <a:latin typeface="Calibri" panose="020F0502020204030204" pitchFamily="34" charset="0"/>
                <a:ea typeface="Calibri" panose="020F0502020204030204" pitchFamily="34" charset="0"/>
                <a:cs typeface="Calibri" panose="020F0502020204030204" pitchFamily="34" charset="0"/>
              </a:rPr>
              <a:t>Talkwalker</a:t>
            </a:r>
            <a:r>
              <a:rPr lang="en-US" sz="4000" dirty="0">
                <a:latin typeface="Calibri" panose="020F0502020204030204" pitchFamily="34" charset="0"/>
                <a:ea typeface="Calibri" panose="020F0502020204030204" pitchFamily="34" charset="0"/>
                <a:cs typeface="Calibri" panose="020F0502020204030204" pitchFamily="34" charset="0"/>
              </a:rPr>
              <a:t>  </a:t>
            </a:r>
          </a:p>
          <a:p>
            <a:pPr marL="571500" indent="-571500">
              <a:buFontTx/>
              <a:buChar char="-"/>
            </a:pPr>
            <a:r>
              <a:rPr lang="en-US" sz="4000" dirty="0">
                <a:cs typeface="B Koodak" panose="00000700000000000000" pitchFamily="2" charset="-78"/>
              </a:rPr>
              <a:t> </a:t>
            </a:r>
            <a:r>
              <a:rPr lang="fa-IR" sz="4000" dirty="0">
                <a:cs typeface="B Koodak" panose="00000700000000000000" pitchFamily="2" charset="-78"/>
              </a:rPr>
              <a:t>تحلیل احساسات و کشف اخبار پنهان</a:t>
            </a:r>
          </a:p>
          <a:p>
            <a:pPr marL="571500" indent="-571500">
              <a:buFontTx/>
              <a:buChar char="-"/>
            </a:pPr>
            <a:r>
              <a:rPr lang="fa-IR" sz="4000" dirty="0">
                <a:cs typeface="B Koodak" panose="00000700000000000000" pitchFamily="2" charset="-78"/>
              </a:rPr>
              <a:t>استفاده از داده‌های باز و تصویرسازی آن‌ها </a:t>
            </a:r>
          </a:p>
          <a:p>
            <a:pPr marL="571500" indent="-571500">
              <a:buFontTx/>
              <a:buChar char="-"/>
            </a:pPr>
            <a:r>
              <a:rPr lang="fa-IR" sz="4000" dirty="0">
                <a:cs typeface="B Koodak" panose="00000700000000000000" pitchFamily="2" charset="-78"/>
              </a:rPr>
              <a:t>فعالیت گروهی: طراحی سیستم رصد خبری</a:t>
            </a:r>
          </a:p>
          <a:p>
            <a:endParaRPr lang="fa-IR" sz="4000" dirty="0">
              <a:cs typeface="B Koodak" panose="00000700000000000000" pitchFamily="2" charset="-78"/>
            </a:endParaRPr>
          </a:p>
          <a:p>
            <a:endParaRPr lang="fa-IR" sz="4000" dirty="0">
              <a:cs typeface="B Koodak" panose="00000700000000000000" pitchFamily="2" charset="-78"/>
            </a:endParaRPr>
          </a:p>
          <a:p>
            <a:endParaRPr lang="fa-IR" sz="4000" dirty="0">
              <a:cs typeface="B Koodak" panose="00000700000000000000" pitchFamily="2" charset="-78"/>
            </a:endParaRPr>
          </a:p>
          <a:p>
            <a:r>
              <a:rPr lang="fa-IR" sz="4000" dirty="0">
                <a:solidFill>
                  <a:srgbClr val="CE7E42"/>
                </a:solidFill>
                <a:cs typeface="B Koodak" panose="00000700000000000000" pitchFamily="2" charset="-78"/>
              </a:rPr>
              <a:t>🎯 امروز:</a:t>
            </a:r>
            <a:r>
              <a:rPr lang="fa-IR" sz="4000" dirty="0">
                <a:cs typeface="B Koodak" panose="00000700000000000000" pitchFamily="2" charset="-78"/>
              </a:rPr>
              <a:t> چگونه هوش مصنوعی</a:t>
            </a:r>
            <a:r>
              <a:rPr lang="en-US" sz="4000" dirty="0">
                <a:cs typeface="B Koodak" panose="00000700000000000000" pitchFamily="2" charset="-78"/>
              </a:rPr>
              <a:t> </a:t>
            </a:r>
            <a:r>
              <a:rPr lang="fa-IR" sz="4000" dirty="0">
                <a:cs typeface="B Koodak" panose="00000700000000000000" pitchFamily="2" charset="-78"/>
              </a:rPr>
              <a:t>به شما در "نوشتن خبر" کمک می‌کند — بدون جایگزینی!</a:t>
            </a:r>
          </a:p>
        </p:txBody>
      </p:sp>
      <p:sp>
        <p:nvSpPr>
          <p:cNvPr id="3" name="Slide Number Placeholder 2"/>
          <p:cNvSpPr>
            <a:spLocks noGrp="1"/>
          </p:cNvSpPr>
          <p:nvPr>
            <p:ph type="sldNum" sz="quarter" idx="12"/>
          </p:nvPr>
        </p:nvSpPr>
        <p:spPr/>
        <p:txBody>
          <a:bodyPr/>
          <a:lstStyle/>
          <a:p>
            <a:fld id="{FC7264DD-8205-481D-9B6A-9CE0D2D966EE}" type="slidenum">
              <a:rPr lang="fa-IR" smtClean="0"/>
              <a:t>3</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2491931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cs typeface="B Koodak" panose="00000700000000000000" pitchFamily="2" charset="-78"/>
              </a:rPr>
              <a:t>❗ 📰 انواع اخبار قابل تولید خودکار:</a:t>
            </a:r>
          </a:p>
          <a:p>
            <a:r>
              <a:rPr lang="fa-IR" sz="4000" dirty="0">
                <a:cs typeface="B Koodak" panose="00000700000000000000" pitchFamily="2" charset="-78"/>
              </a:rPr>
              <a:t>✅ اخبار ساختاریافته:</a:t>
            </a:r>
          </a:p>
          <a:p>
            <a:pPr marL="571500" indent="-571500">
              <a:buFontTx/>
              <a:buChar char="-"/>
            </a:pPr>
            <a:r>
              <a:rPr lang="fa-IR" sz="4000" dirty="0">
                <a:cs typeface="B Koodak" panose="00000700000000000000" pitchFamily="2" charset="-78"/>
              </a:rPr>
              <a:t>نتایج مسابقات ورزشی  </a:t>
            </a:r>
          </a:p>
          <a:p>
            <a:pPr marL="571500" indent="-571500">
              <a:buFontTx/>
              <a:buChar char="-"/>
            </a:pPr>
            <a:r>
              <a:rPr lang="fa-IR" sz="4000" dirty="0">
                <a:cs typeface="B Koodak" panose="00000700000000000000" pitchFamily="2" charset="-78"/>
              </a:rPr>
              <a:t>گزارش‌های مالی و بورسی</a:t>
            </a:r>
          </a:p>
          <a:p>
            <a:pPr marL="571500" indent="-571500">
              <a:buFontTx/>
              <a:buChar char="-"/>
            </a:pPr>
            <a:r>
              <a:rPr lang="fa-IR" sz="4000" dirty="0">
                <a:cs typeface="B Koodak" panose="00000700000000000000" pitchFamily="2" charset="-78"/>
              </a:rPr>
              <a:t>وضع </a:t>
            </a:r>
            <a:r>
              <a:rPr lang="fa-IR" sz="4000" dirty="0" err="1">
                <a:cs typeface="B Koodak" panose="00000700000000000000" pitchFamily="2" charset="-78"/>
              </a:rPr>
              <a:t>آب‌وهوا</a:t>
            </a:r>
            <a:r>
              <a:rPr lang="fa-IR" sz="4000" dirty="0">
                <a:cs typeface="B Koodak" panose="00000700000000000000" pitchFamily="2" charset="-78"/>
              </a:rPr>
              <a:t> و آلودگی هوا</a:t>
            </a:r>
          </a:p>
          <a:p>
            <a:pPr marL="571500" indent="-571500">
              <a:buFontTx/>
              <a:buChar char="-"/>
            </a:pPr>
            <a:r>
              <a:rPr lang="fa-IR" sz="4000" dirty="0">
                <a:cs typeface="B Koodak" panose="00000700000000000000" pitchFamily="2" charset="-78"/>
              </a:rPr>
              <a:t>گزارش‌های ترافیکی و </a:t>
            </a:r>
            <a:r>
              <a:rPr lang="fa-IR" sz="4000" dirty="0" err="1">
                <a:cs typeface="B Koodak" panose="00000700000000000000" pitchFamily="2" charset="-78"/>
              </a:rPr>
              <a:t>حمل‌ونقل</a:t>
            </a:r>
            <a:endParaRPr lang="fa-IR" sz="4000" dirty="0">
              <a:cs typeface="B Koodak" panose="00000700000000000000" pitchFamily="2" charset="-78"/>
            </a:endParaRPr>
          </a:p>
          <a:p>
            <a:pPr marL="571500" indent="-571500">
              <a:buFontTx/>
              <a:buChar char="-"/>
            </a:pPr>
            <a:endParaRPr lang="fa-IR" sz="4000" dirty="0">
              <a:cs typeface="B Koodak" panose="00000700000000000000" pitchFamily="2" charset="-78"/>
            </a:endParaRPr>
          </a:p>
          <a:p>
            <a:pPr marL="571500" indent="-571500">
              <a:buFontTx/>
              <a:buChar char="-"/>
            </a:pPr>
            <a:endParaRPr lang="fa-IR" sz="4000" dirty="0">
              <a:cs typeface="B Koodak" panose="00000700000000000000" pitchFamily="2" charset="-78"/>
            </a:endParaRPr>
          </a:p>
          <a:p>
            <a:r>
              <a:rPr lang="fa-IR" sz="4000" dirty="0">
                <a:solidFill>
                  <a:srgbClr val="CE7E42"/>
                </a:solidFill>
                <a:cs typeface="B Koodak" panose="00000700000000000000" pitchFamily="2" charset="-78"/>
              </a:rPr>
              <a:t>🎯 نکته: </a:t>
            </a:r>
            <a:r>
              <a:rPr lang="fa-IR" sz="4000" dirty="0">
                <a:cs typeface="B Koodak" panose="00000700000000000000" pitchFamily="2" charset="-78"/>
              </a:rPr>
              <a:t>هوش مصنوعی بهترین دستیار برای اخبار با ساختار تکراری و داده‌محور است!</a:t>
            </a:r>
          </a:p>
        </p:txBody>
      </p:sp>
      <p:sp>
        <p:nvSpPr>
          <p:cNvPr id="3" name="Slide Number Placeholder 2"/>
          <p:cNvSpPr>
            <a:spLocks noGrp="1"/>
          </p:cNvSpPr>
          <p:nvPr>
            <p:ph type="sldNum" sz="quarter" idx="12"/>
          </p:nvPr>
        </p:nvSpPr>
        <p:spPr/>
        <p:txBody>
          <a:bodyPr/>
          <a:lstStyle/>
          <a:p>
            <a:fld id="{FC7264DD-8205-481D-9B6A-9CE0D2D966EE}" type="slidenum">
              <a:rPr lang="fa-IR" smtClean="0"/>
              <a:t>4</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
        <p:nvSpPr>
          <p:cNvPr id="4" name="TextBox 3">
            <a:extLst>
              <a:ext uri="{FF2B5EF4-FFF2-40B4-BE49-F238E27FC236}">
                <a16:creationId xmlns:a16="http://schemas.microsoft.com/office/drawing/2014/main" id="{131FE56F-8BD7-4ABE-81F2-8355AEA38838}"/>
              </a:ext>
            </a:extLst>
          </p:cNvPr>
          <p:cNvSpPr txBox="1"/>
          <p:nvPr/>
        </p:nvSpPr>
        <p:spPr>
          <a:xfrm>
            <a:off x="4080933" y="4978400"/>
            <a:ext cx="7093531" cy="5672667"/>
          </a:xfrm>
          <a:prstGeom prst="rect">
            <a:avLst/>
          </a:prstGeom>
          <a:noFill/>
        </p:spPr>
        <p:txBody>
          <a:bodyPr wrap="square" rtlCol="1">
            <a:spAutoFit/>
          </a:bodyPr>
          <a:lstStyle/>
          <a:p>
            <a:endParaRPr lang="fa-IR" dirty="0"/>
          </a:p>
        </p:txBody>
      </p:sp>
      <p:pic>
        <p:nvPicPr>
          <p:cNvPr id="6" name="Picture 5">
            <a:extLst>
              <a:ext uri="{FF2B5EF4-FFF2-40B4-BE49-F238E27FC236}">
                <a16:creationId xmlns:a16="http://schemas.microsoft.com/office/drawing/2014/main" id="{AE3E7C5C-B255-4E55-AC4E-6982D80C6A9D}"/>
              </a:ext>
            </a:extLst>
          </p:cNvPr>
          <p:cNvPicPr>
            <a:picLocks noChangeAspect="1"/>
          </p:cNvPicPr>
          <p:nvPr/>
        </p:nvPicPr>
        <p:blipFill>
          <a:blip r:embed="rId2"/>
          <a:stretch>
            <a:fillRect/>
          </a:stretch>
        </p:blipFill>
        <p:spPr>
          <a:xfrm>
            <a:off x="6021519" y="4367608"/>
            <a:ext cx="6169687" cy="4066384"/>
          </a:xfrm>
          <a:prstGeom prst="rect">
            <a:avLst/>
          </a:prstGeom>
        </p:spPr>
      </p:pic>
    </p:spTree>
    <p:extLst>
      <p:ext uri="{BB962C8B-B14F-4D97-AF65-F5344CB8AC3E}">
        <p14:creationId xmlns:p14="http://schemas.microsoft.com/office/powerpoint/2010/main" val="3066090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cs typeface="B Koodak" panose="00000700000000000000" pitchFamily="2" charset="-78"/>
              </a:rPr>
              <a:t>📰 </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Associated Press + Automated Insights</a:t>
            </a:r>
          </a:p>
          <a:p>
            <a:pPr marL="571500" indent="-571500">
              <a:buFontTx/>
              <a:buChar char="-"/>
            </a:pPr>
            <a:r>
              <a:rPr lang="fa-IR" sz="4000" dirty="0">
                <a:cs typeface="B Koodak" panose="00000700000000000000" pitchFamily="2" charset="-78"/>
              </a:rPr>
              <a:t>از ۲۰۱۴: تولید خودکار ۳۰۰۰+ خبر فصلی در بازارهای مالی </a:t>
            </a:r>
          </a:p>
          <a:p>
            <a:pPr marL="571500" indent="-571500">
              <a:buFontTx/>
              <a:buChar char="-"/>
            </a:pPr>
            <a:r>
              <a:rPr lang="fa-IR" sz="4000" dirty="0">
                <a:cs typeface="B Koodak" panose="00000700000000000000" pitchFamily="2" charset="-78"/>
              </a:rPr>
              <a:t>قالب استاندارد: “شرکت الف در فصل ب با درآمد ج</a:t>
            </a:r>
            <a:r>
              <a:rPr lang="en-US" sz="4000" dirty="0">
                <a:cs typeface="B Koodak" panose="00000700000000000000" pitchFamily="2" charset="-78"/>
              </a:rPr>
              <a:t> </a:t>
            </a:r>
            <a:r>
              <a:rPr lang="fa-IR" sz="4000" dirty="0">
                <a:cs typeface="B Koodak" panose="00000700000000000000" pitchFamily="2" charset="-78"/>
              </a:rPr>
              <a:t>رشد دال</a:t>
            </a:r>
            <a:r>
              <a:rPr lang="en-US" sz="4000" dirty="0">
                <a:cs typeface="B Koodak" panose="00000700000000000000" pitchFamily="2" charset="-78"/>
              </a:rPr>
              <a:t>% </a:t>
            </a:r>
            <a:r>
              <a:rPr lang="fa-IR" sz="4000" dirty="0">
                <a:cs typeface="B Koodak" panose="00000700000000000000" pitchFamily="2" charset="-78"/>
              </a:rPr>
              <a:t> داشت”  </a:t>
            </a:r>
          </a:p>
          <a:p>
            <a:pPr marL="571500" indent="-571500">
              <a:buFontTx/>
              <a:buChar char="-"/>
            </a:pPr>
            <a:r>
              <a:rPr lang="fa-IR" sz="4000" dirty="0">
                <a:cs typeface="B Koodak" panose="00000700000000000000" pitchFamily="2" charset="-78"/>
              </a:rPr>
              <a:t>فرصت بیش‌تر به خبرنگاران (زمان) برای تحقیقات عمیق‌تر  </a:t>
            </a:r>
          </a:p>
          <a:p>
            <a:pPr marL="571500" indent="-571500">
              <a:buFontTx/>
              <a:buChar char="-"/>
            </a:pPr>
            <a:r>
              <a:rPr lang="fa-IR" sz="4000" dirty="0">
                <a:cs typeface="B Koodak" panose="00000700000000000000" pitchFamily="2" charset="-78"/>
              </a:rPr>
              <a:t>کاهش خطای انسانی در گزارش‌های عددی</a:t>
            </a:r>
          </a:p>
          <a:p>
            <a:pPr marL="571500" indent="-571500">
              <a:buFontTx/>
              <a:buChar char="-"/>
            </a:pPr>
            <a:endParaRPr lang="fa-IR" sz="4000" dirty="0">
              <a:cs typeface="B Koodak" panose="00000700000000000000" pitchFamily="2" charset="-78"/>
            </a:endParaRPr>
          </a:p>
          <a:p>
            <a:pPr marL="571500" indent="-571500">
              <a:buFontTx/>
              <a:buChar char="-"/>
            </a:pPr>
            <a:endParaRPr lang="fa-IR" sz="4000" dirty="0">
              <a:cs typeface="B Koodak" panose="00000700000000000000" pitchFamily="2" charset="-78"/>
            </a:endParaRPr>
          </a:p>
          <a:p>
            <a:pPr marL="571500" indent="-571500">
              <a:buFontTx/>
              <a:buChar char="-"/>
            </a:pPr>
            <a:endParaRPr lang="fa-IR" sz="4000" dirty="0">
              <a:cs typeface="B Koodak" panose="00000700000000000000" pitchFamily="2" charset="-78"/>
            </a:endParaRPr>
          </a:p>
          <a:p>
            <a:r>
              <a:rPr lang="fa-IR" sz="4000" dirty="0">
                <a:solidFill>
                  <a:srgbClr val="CE7E42"/>
                </a:solidFill>
                <a:cs typeface="B Koodak" panose="00000700000000000000" pitchFamily="2" charset="-78"/>
              </a:rPr>
              <a:t>✅ نتیجه:</a:t>
            </a:r>
            <a:r>
              <a:rPr lang="fa-IR" sz="4000" dirty="0">
                <a:cs typeface="B Koodak" panose="00000700000000000000" pitchFamily="2" charset="-78"/>
              </a:rPr>
              <a:t> ترکیب هوش مصنوعی</a:t>
            </a:r>
            <a:r>
              <a:rPr lang="en-US" sz="4000" dirty="0">
                <a:cs typeface="B Koodak" panose="00000700000000000000" pitchFamily="2" charset="-78"/>
              </a:rPr>
              <a:t> + </a:t>
            </a:r>
            <a:r>
              <a:rPr lang="fa-IR" sz="4000" dirty="0">
                <a:cs typeface="B Koodak" panose="00000700000000000000" pitchFamily="2" charset="-78"/>
              </a:rPr>
              <a:t>انسان = بهترین خروجی!</a:t>
            </a:r>
          </a:p>
        </p:txBody>
      </p:sp>
      <p:sp>
        <p:nvSpPr>
          <p:cNvPr id="3" name="Slide Number Placeholder 2"/>
          <p:cNvSpPr>
            <a:spLocks noGrp="1"/>
          </p:cNvSpPr>
          <p:nvPr>
            <p:ph type="sldNum" sz="quarter" idx="12"/>
          </p:nvPr>
        </p:nvSpPr>
        <p:spPr/>
        <p:txBody>
          <a:bodyPr/>
          <a:lstStyle/>
          <a:p>
            <a:fld id="{FC7264DD-8205-481D-9B6A-9CE0D2D966EE}" type="slidenum">
              <a:rPr lang="fa-IR" smtClean="0"/>
              <a:t>5</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85879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cs typeface="B Koodak" panose="00000700000000000000" pitchFamily="2" charset="-78"/>
              </a:rPr>
              <a:t>🛠️ </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Wordsmith</a:t>
            </a:r>
            <a:r>
              <a:rPr lang="en-US" sz="6200" dirty="0">
                <a:solidFill>
                  <a:srgbClr val="CE7E42"/>
                </a:solidFill>
                <a:cs typeface="B Koodak" panose="00000700000000000000" pitchFamily="2" charset="-78"/>
              </a:rPr>
              <a:t> (</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Automated Insights</a:t>
            </a:r>
            <a:r>
              <a:rPr lang="en-US" sz="6200" dirty="0">
                <a:solidFill>
                  <a:srgbClr val="CE7E42"/>
                </a:solidFill>
                <a:cs typeface="B Koodak" panose="00000700000000000000" pitchFamily="2" charset="-78"/>
              </a:rPr>
              <a:t>)</a:t>
            </a:r>
          </a:p>
          <a:p>
            <a:pPr marL="571500" indent="-571500">
              <a:buFontTx/>
              <a:buChar char="-"/>
            </a:pPr>
            <a:r>
              <a:rPr lang="fa-IR" sz="4000" dirty="0">
                <a:cs typeface="B Koodak" panose="00000700000000000000" pitchFamily="2" charset="-78"/>
              </a:rPr>
              <a:t>تبدیل داده‌های خام ← خبر کامل</a:t>
            </a:r>
          </a:p>
          <a:p>
            <a:pPr marL="571500" indent="-571500">
              <a:buFontTx/>
              <a:buChar char="-"/>
            </a:pPr>
            <a:r>
              <a:rPr lang="fa-IR" sz="4000" dirty="0">
                <a:cs typeface="B Koodak" panose="00000700000000000000" pitchFamily="2" charset="-78"/>
              </a:rPr>
              <a:t>قابلیت شخصی‌سازی لحن و سبک</a:t>
            </a:r>
          </a:p>
          <a:p>
            <a:pPr marL="571500" indent="-571500">
              <a:buFontTx/>
              <a:buChar char="-"/>
            </a:pPr>
            <a:r>
              <a:rPr lang="fa-IR" sz="4000" dirty="0">
                <a:cs typeface="B Koodak" panose="00000700000000000000" pitchFamily="2" charset="-78"/>
              </a:rPr>
              <a:t>استفاده در ورزش، مالی، بیمه</a:t>
            </a:r>
          </a:p>
          <a:p>
            <a:pPr marL="571500" indent="-571500">
              <a:buFontTx/>
              <a:buChar char="-"/>
            </a:pPr>
            <a:endParaRPr lang="fa-IR" sz="4000" dirty="0">
              <a:cs typeface="B Koodak" panose="00000700000000000000" pitchFamily="2" charset="-78"/>
            </a:endParaRPr>
          </a:p>
          <a:p>
            <a:pPr marL="571500" indent="-571500">
              <a:buFontTx/>
              <a:buChar char="-"/>
            </a:pPr>
            <a:endParaRPr lang="fa-IR" sz="4000" dirty="0">
              <a:cs typeface="B Koodak" panose="00000700000000000000" pitchFamily="2" charset="-78"/>
            </a:endParaRPr>
          </a:p>
          <a:p>
            <a:r>
              <a:rPr lang="fa-IR" sz="4000" dirty="0">
                <a:solidFill>
                  <a:srgbClr val="CE7E42"/>
                </a:solidFill>
                <a:cs typeface="B Koodak" panose="00000700000000000000" pitchFamily="2" charset="-78"/>
              </a:rPr>
              <a:t>🌐</a:t>
            </a:r>
            <a:r>
              <a:rPr lang="fa-IR" sz="4000" dirty="0">
                <a:cs typeface="B Koodak" panose="00000700000000000000" pitchFamily="2" charset="-78"/>
              </a:rPr>
              <a:t> </a:t>
            </a:r>
            <a:r>
              <a:rPr lang="en-US" sz="4000" dirty="0">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https://automatedinsights.com</a:t>
            </a:r>
            <a:endParaRPr lang="fa-IR" sz="4000" dirty="0">
              <a:latin typeface="Calibri" panose="020F0502020204030204" pitchFamily="34" charset="0"/>
              <a:ea typeface="Calibri" panose="020F0502020204030204" pitchFamily="34" charset="0"/>
              <a:cs typeface="Calibri" panose="020F0502020204030204" pitchFamily="34" charset="0"/>
            </a:endParaRPr>
          </a:p>
          <a:p>
            <a:endParaRPr lang="fa-IR" sz="4000" dirty="0">
              <a:latin typeface="Calibri" panose="020F0502020204030204" pitchFamily="34" charset="0"/>
              <a:ea typeface="Calibri" panose="020F0502020204030204" pitchFamily="34" charset="0"/>
              <a:cs typeface="Calibri" panose="020F0502020204030204" pitchFamily="34" charset="0"/>
            </a:endParaRPr>
          </a:p>
          <a:p>
            <a:r>
              <a:rPr lang="fa-IR" sz="4000" dirty="0">
                <a:solidFill>
                  <a:srgbClr val="CE7E42"/>
                </a:solidFill>
                <a:cs typeface="B Koodak" panose="00000700000000000000" pitchFamily="2" charset="-78"/>
              </a:rPr>
              <a:t>📌 نکته:</a:t>
            </a:r>
            <a:r>
              <a:rPr lang="fa-IR" sz="4000" dirty="0">
                <a:cs typeface="B Koodak" panose="00000700000000000000" pitchFamily="2" charset="-78"/>
              </a:rPr>
              <a:t> نیاز به آپلود داده </a:t>
            </a:r>
            <a:r>
              <a:rPr lang="en-US" sz="4000" dirty="0">
                <a:latin typeface="Calibri" panose="020F0502020204030204" pitchFamily="34" charset="0"/>
                <a:ea typeface="Calibri" panose="020F0502020204030204" pitchFamily="34" charset="0"/>
                <a:cs typeface="Calibri" panose="020F0502020204030204" pitchFamily="34" charset="0"/>
              </a:rPr>
              <a:t>Excel/CSV</a:t>
            </a:r>
            <a:r>
              <a:rPr lang="en-US" sz="4000" dirty="0">
                <a:cs typeface="B Koodak" panose="00000700000000000000" pitchFamily="2" charset="-78"/>
              </a:rPr>
              <a:t> — </a:t>
            </a:r>
            <a:r>
              <a:rPr lang="fa-IR" sz="4000" dirty="0">
                <a:cs typeface="B Koodak" panose="00000700000000000000" pitchFamily="2" charset="-78"/>
              </a:rPr>
              <a:t> مناسب برای تیم‌های فنی</a:t>
            </a:r>
          </a:p>
        </p:txBody>
      </p:sp>
      <p:sp>
        <p:nvSpPr>
          <p:cNvPr id="3" name="Slide Number Placeholder 2"/>
          <p:cNvSpPr>
            <a:spLocks noGrp="1"/>
          </p:cNvSpPr>
          <p:nvPr>
            <p:ph type="sldNum" sz="quarter" idx="12"/>
          </p:nvPr>
        </p:nvSpPr>
        <p:spPr/>
        <p:txBody>
          <a:bodyPr/>
          <a:lstStyle/>
          <a:p>
            <a:fld id="{FC7264DD-8205-481D-9B6A-9CE0D2D966EE}" type="slidenum">
              <a:rPr lang="fa-IR" smtClean="0"/>
              <a:t>6</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2417421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 </a:t>
            </a:r>
            <a:r>
              <a:rPr lang="en-US" sz="6200" dirty="0" err="1">
                <a:solidFill>
                  <a:srgbClr val="CE7E42"/>
                </a:solidFill>
                <a:latin typeface="Calibri" panose="020F0502020204030204" pitchFamily="34" charset="0"/>
                <a:ea typeface="Calibri" panose="020F0502020204030204" pitchFamily="34" charset="0"/>
                <a:cs typeface="Calibri" panose="020F0502020204030204" pitchFamily="34" charset="0"/>
              </a:rPr>
              <a:t>Arria</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 NLG </a:t>
            </a:r>
          </a:p>
          <a:p>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 </a:t>
            </a:r>
            <a:r>
              <a:rPr lang="en-US" sz="4000" dirty="0">
                <a:latin typeface="Calibri" panose="020F0502020204030204" pitchFamily="34" charset="0"/>
                <a:ea typeface="Calibri" panose="020F0502020204030204" pitchFamily="34" charset="0"/>
                <a:cs typeface="Calibri" panose="020F0502020204030204" pitchFamily="34" charset="0"/>
              </a:rPr>
              <a:t>https://arria.com </a:t>
            </a:r>
          </a:p>
          <a:p>
            <a:pPr marL="571500" indent="-571500">
              <a:buFontTx/>
              <a:buChar char="-"/>
            </a:pPr>
            <a:r>
              <a:rPr lang="fa-IR" sz="4000" dirty="0">
                <a:cs typeface="B Koodak" panose="00000700000000000000" pitchFamily="2" charset="-78"/>
              </a:rPr>
              <a:t>تبدیل داده به داستان (</a:t>
            </a:r>
            <a:r>
              <a:rPr lang="fa-IR" sz="4000" dirty="0" err="1">
                <a:cs typeface="B Koodak" panose="00000700000000000000" pitchFamily="2" charset="-78"/>
              </a:rPr>
              <a:t>چندزبانه</a:t>
            </a:r>
            <a:r>
              <a:rPr lang="fa-IR" sz="4000" dirty="0">
                <a:cs typeface="B Koodak" panose="00000700000000000000" pitchFamily="2" charset="-78"/>
              </a:rPr>
              <a:t>)</a:t>
            </a:r>
          </a:p>
          <a:p>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 </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Quill (by Narrative Science) </a:t>
            </a:r>
          </a:p>
          <a:p>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 </a:t>
            </a:r>
            <a:r>
              <a:rPr lang="en-US" sz="4000" dirty="0">
                <a:latin typeface="Calibri" panose="020F0502020204030204" pitchFamily="34" charset="0"/>
                <a:ea typeface="Calibri" panose="020F0502020204030204" pitchFamily="34" charset="0"/>
                <a:cs typeface="Calibri" panose="020F0502020204030204" pitchFamily="34" charset="0"/>
              </a:rPr>
              <a:t>https://narrativescience.com     </a:t>
            </a:r>
          </a:p>
          <a:p>
            <a:pPr marL="571500" indent="-571500">
              <a:buFontTx/>
              <a:buChar char="-"/>
            </a:pPr>
            <a:r>
              <a:rPr lang="fa-IR" sz="4000" dirty="0">
                <a:cs typeface="B Koodak" panose="00000700000000000000" pitchFamily="2" charset="-78"/>
              </a:rPr>
              <a:t>استفاده در گزارش‌های تجاری و مالی</a:t>
            </a:r>
          </a:p>
          <a:p>
            <a:r>
              <a:rPr lang="fa-IR" sz="4000" dirty="0">
                <a:solidFill>
                  <a:srgbClr val="CE7E42"/>
                </a:solidFill>
                <a:cs typeface="B Koodak" panose="00000700000000000000" pitchFamily="2" charset="-78"/>
              </a:rPr>
              <a:t>📌</a:t>
            </a:r>
            <a:r>
              <a:rPr lang="fa-IR" sz="4000" dirty="0">
                <a:cs typeface="B Koodak" panose="00000700000000000000" pitchFamily="2" charset="-78"/>
              </a:rPr>
              <a:t> هر دو ابزار حرفه‌ای و پولی — مناسب </a:t>
            </a:r>
            <a:r>
              <a:rPr lang="fa-IR" sz="4000" dirty="0" err="1">
                <a:cs typeface="B Koodak" panose="00000700000000000000" pitchFamily="2" charset="-78"/>
              </a:rPr>
              <a:t>خبرگزاری‌های</a:t>
            </a:r>
            <a:r>
              <a:rPr lang="fa-IR" sz="4000" dirty="0">
                <a:cs typeface="B Koodak" panose="00000700000000000000" pitchFamily="2" charset="-78"/>
              </a:rPr>
              <a:t> بزرگ</a:t>
            </a:r>
          </a:p>
          <a:p>
            <a:r>
              <a:rPr lang="fa-IR" sz="4000" dirty="0">
                <a:solidFill>
                  <a:srgbClr val="CE7E42"/>
                </a:solidFill>
                <a:cs typeface="B Koodak" panose="00000700000000000000" pitchFamily="2" charset="-78"/>
              </a:rPr>
              <a:t>💡</a:t>
            </a:r>
            <a:r>
              <a:rPr lang="fa-IR" sz="4000" dirty="0">
                <a:cs typeface="B Koodak" panose="00000700000000000000" pitchFamily="2" charset="-78"/>
              </a:rPr>
              <a:t> جایگزین رایگان:</a:t>
            </a:r>
            <a:r>
              <a:rPr lang="fa-IR" sz="4000" dirty="0">
                <a:latin typeface="Calibri" panose="020F0502020204030204" pitchFamily="34" charset="0"/>
                <a:ea typeface="Calibri" panose="020F0502020204030204" pitchFamily="34" charset="0"/>
                <a:cs typeface="Calibri" panose="020F0502020204030204" pitchFamily="34" charset="0"/>
              </a:rPr>
              <a:t> </a:t>
            </a:r>
            <a:r>
              <a:rPr lang="en-US" sz="4000" dirty="0" err="1">
                <a:latin typeface="Calibri" panose="020F0502020204030204" pitchFamily="34" charset="0"/>
                <a:ea typeface="Calibri" panose="020F0502020204030204" pitchFamily="34" charset="0"/>
                <a:cs typeface="Calibri" panose="020F0502020204030204" pitchFamily="34" charset="0"/>
              </a:rPr>
              <a:t>ChatGPT</a:t>
            </a:r>
            <a:r>
              <a:rPr lang="en-US" sz="4000" dirty="0">
                <a:latin typeface="Calibri" panose="020F0502020204030204" pitchFamily="34" charset="0"/>
                <a:ea typeface="Calibri" panose="020F0502020204030204" pitchFamily="34" charset="0"/>
                <a:cs typeface="Calibri" panose="020F0502020204030204" pitchFamily="34" charset="0"/>
              </a:rPr>
              <a:t> + Prompt</a:t>
            </a:r>
            <a:r>
              <a:rPr lang="fa-IR" sz="4000" dirty="0">
                <a:cs typeface="B Koodak" panose="00000700000000000000" pitchFamily="2" charset="-78"/>
              </a:rPr>
              <a:t>های حرفه‌ای (جلسه امروز آموزش می‌دهیم!)</a:t>
            </a:r>
          </a:p>
        </p:txBody>
      </p:sp>
      <p:sp>
        <p:nvSpPr>
          <p:cNvPr id="3" name="Slide Number Placeholder 2"/>
          <p:cNvSpPr>
            <a:spLocks noGrp="1"/>
          </p:cNvSpPr>
          <p:nvPr>
            <p:ph type="sldNum" sz="quarter" idx="12"/>
          </p:nvPr>
        </p:nvSpPr>
        <p:spPr/>
        <p:txBody>
          <a:bodyPr/>
          <a:lstStyle/>
          <a:p>
            <a:fld id="{FC7264DD-8205-481D-9B6A-9CE0D2D966EE}" type="slidenum">
              <a:rPr lang="fa-IR" smtClean="0"/>
              <a:t>7</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451413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نمونه خبر مالی تولیدشده خودکار:</a:t>
            </a:r>
          </a:p>
          <a:p>
            <a:r>
              <a:rPr lang="fa-IR" sz="4000" dirty="0">
                <a:cs typeface="B Koodak" panose="00000700000000000000" pitchFamily="2" charset="-78"/>
              </a:rPr>
              <a:t>“شرکت فولاد مبارکه در فصل اول سال ۱۴۰۳ با درآمد ۱۲,۵۰۰ میلیارد تومان، رشد ۱۸٪ نسبت به مدت مشابه سال گذشته را ثبت کرد. این رشد عمدتاً ناشی از افزایش صادرات به کشورهای همسایه بود.”</a:t>
            </a:r>
          </a:p>
          <a:p>
            <a:endParaRPr lang="fa-IR" sz="4000" dirty="0">
              <a:cs typeface="B Koodak" panose="00000700000000000000" pitchFamily="2" charset="-78"/>
            </a:endParaRPr>
          </a:p>
          <a:p>
            <a:endParaRPr lang="fa-IR" sz="4000" dirty="0">
              <a:cs typeface="B Koodak" panose="00000700000000000000" pitchFamily="2" charset="-78"/>
            </a:endParaRPr>
          </a:p>
          <a:p>
            <a:endParaRPr lang="fa-IR" sz="4000" dirty="0">
              <a:cs typeface="B Koodak" panose="00000700000000000000" pitchFamily="2" charset="-78"/>
            </a:endParaRPr>
          </a:p>
          <a:p>
            <a:endParaRPr lang="fa-IR" sz="4000" dirty="0">
              <a:cs typeface="B Koodak" panose="00000700000000000000" pitchFamily="2" charset="-78"/>
            </a:endParaRPr>
          </a:p>
          <a:p>
            <a:endParaRPr lang="fa-IR" sz="4000" dirty="0">
              <a:cs typeface="B Koodak" panose="00000700000000000000" pitchFamily="2" charset="-78"/>
            </a:endParaRPr>
          </a:p>
          <a:p>
            <a:r>
              <a:rPr lang="fa-IR" sz="4000" dirty="0">
                <a:solidFill>
                  <a:srgbClr val="CE7E42"/>
                </a:solidFill>
                <a:cs typeface="B Koodak" panose="00000700000000000000" pitchFamily="2" charset="-78"/>
              </a:rPr>
              <a:t>✅ مقایسه با نسخه انسانی:</a:t>
            </a:r>
            <a:r>
              <a:rPr lang="fa-IR" sz="4000" dirty="0">
                <a:cs typeface="B Koodak" panose="00000700000000000000" pitchFamily="2" charset="-78"/>
              </a:rPr>
              <a:t> تفاوت در لحن، جزئیات تحلیلی و منابع</a:t>
            </a:r>
            <a:endParaRPr lang="en-US" sz="4000" dirty="0">
              <a:latin typeface="Calibri" panose="020F0502020204030204" pitchFamily="34" charset="0"/>
              <a:ea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8</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3699318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هوش مصنوعی</a:t>
            </a:r>
            <a:r>
              <a:rPr lang="en-US" sz="6200" dirty="0">
                <a:solidFill>
                  <a:srgbClr val="CE7E42"/>
                </a:solidFill>
                <a:latin typeface="Calibri" panose="020F0502020204030204" pitchFamily="34" charset="0"/>
                <a:ea typeface="Calibri" panose="020F0502020204030204" pitchFamily="34" charset="0"/>
                <a:cs typeface="+mj-cs"/>
              </a:rPr>
              <a:t> </a:t>
            </a:r>
            <a:r>
              <a:rPr lang="fa-IR" sz="6200" dirty="0">
                <a:solidFill>
                  <a:srgbClr val="CE7E42"/>
                </a:solidFill>
                <a:latin typeface="Calibri" panose="020F0502020204030204" pitchFamily="34" charset="0"/>
                <a:ea typeface="Calibri" panose="020F0502020204030204" pitchFamily="34" charset="0"/>
                <a:cs typeface="+mj-cs"/>
              </a:rPr>
              <a:t>همکار شماست — نه جایگزین!</a:t>
            </a:r>
          </a:p>
          <a:p>
            <a:r>
              <a:rPr lang="fa-IR" sz="4000" dirty="0">
                <a:cs typeface="B Koodak" panose="00000700000000000000" pitchFamily="2" charset="-78"/>
              </a:rPr>
              <a:t>نقش هوش مصنوعی</a:t>
            </a:r>
            <a:r>
              <a:rPr lang="en-US" sz="4000" dirty="0">
                <a:cs typeface="B Koodak" panose="00000700000000000000" pitchFamily="2" charset="-78"/>
              </a:rPr>
              <a:t>:</a:t>
            </a:r>
          </a:p>
          <a:p>
            <a:pPr marL="571500" indent="-571500">
              <a:buFontTx/>
              <a:buChar char="-"/>
            </a:pPr>
            <a:r>
              <a:rPr lang="fa-IR" sz="4000" dirty="0">
                <a:cs typeface="B Koodak" panose="00000700000000000000" pitchFamily="2" charset="-78"/>
              </a:rPr>
              <a:t>نوشتن پیش‌نویس اولیه</a:t>
            </a:r>
          </a:p>
          <a:p>
            <a:pPr marL="571500" indent="-571500">
              <a:buFontTx/>
              <a:buChar char="-"/>
            </a:pPr>
            <a:r>
              <a:rPr lang="fa-IR" sz="4000" dirty="0">
                <a:cs typeface="B Koodak" panose="00000700000000000000" pitchFamily="2" charset="-78"/>
              </a:rPr>
              <a:t>بازنویسی جملات سنگین</a:t>
            </a:r>
          </a:p>
          <a:p>
            <a:pPr marL="571500" indent="-571500">
              <a:buFontTx/>
              <a:buChar char="-"/>
            </a:pPr>
            <a:r>
              <a:rPr lang="fa-IR" sz="4000" dirty="0">
                <a:cs typeface="B Koodak" panose="00000700000000000000" pitchFamily="2" charset="-78"/>
              </a:rPr>
              <a:t>پیشنهاد واژه‌های بهتر</a:t>
            </a:r>
          </a:p>
          <a:p>
            <a:pPr marL="571500" indent="-571500">
              <a:buFontTx/>
              <a:buChar char="-"/>
            </a:pPr>
            <a:r>
              <a:rPr lang="fa-IR" sz="4000" dirty="0">
                <a:cs typeface="B Koodak" panose="00000700000000000000" pitchFamily="2" charset="-78"/>
              </a:rPr>
              <a:t>تولید ایده برای زوایای جدید خبر</a:t>
            </a:r>
          </a:p>
          <a:p>
            <a:endParaRPr lang="fa-IR" sz="4000" dirty="0">
              <a:cs typeface="B Koodak" panose="00000700000000000000" pitchFamily="2" charset="-78"/>
            </a:endParaRPr>
          </a:p>
          <a:p>
            <a:endParaRPr lang="fa-IR" sz="4000" dirty="0">
              <a:cs typeface="B Koodak" panose="00000700000000000000" pitchFamily="2" charset="-78"/>
            </a:endParaRPr>
          </a:p>
          <a:p>
            <a:r>
              <a:rPr lang="fa-IR" sz="4000" dirty="0">
                <a:solidFill>
                  <a:srgbClr val="CE7E42"/>
                </a:solidFill>
                <a:cs typeface="B Koodak" panose="00000700000000000000" pitchFamily="2" charset="-78"/>
              </a:rPr>
              <a:t>🎯 نتیجه:</a:t>
            </a:r>
            <a:r>
              <a:rPr lang="fa-IR" sz="4000" dirty="0">
                <a:cs typeface="B Koodak" panose="00000700000000000000" pitchFamily="2" charset="-78"/>
              </a:rPr>
              <a:t> تولید سریع‌تر + کیفیت بالاتر!</a:t>
            </a:r>
            <a:endParaRPr lang="en-US" sz="4000" dirty="0">
              <a:latin typeface="Calibri" panose="020F0502020204030204" pitchFamily="34" charset="0"/>
              <a:ea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9</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
        <p:nvSpPr>
          <p:cNvPr id="8" name="Rectangle 7">
            <a:extLst>
              <a:ext uri="{FF2B5EF4-FFF2-40B4-BE49-F238E27FC236}">
                <a16:creationId xmlns:a16="http://schemas.microsoft.com/office/drawing/2014/main" id="{A18ACEE1-9C2F-4AA0-A2D9-B29E1B4DAF26}"/>
              </a:ext>
            </a:extLst>
          </p:cNvPr>
          <p:cNvSpPr/>
          <p:nvPr/>
        </p:nvSpPr>
        <p:spPr>
          <a:xfrm>
            <a:off x="5554133" y="4232576"/>
            <a:ext cx="7345892" cy="4708981"/>
          </a:xfrm>
          <a:prstGeom prst="rect">
            <a:avLst/>
          </a:prstGeom>
        </p:spPr>
        <p:txBody>
          <a:bodyPr wrap="square">
            <a:spAutoFit/>
          </a:bodyPr>
          <a:lstStyle/>
          <a:p>
            <a:pPr lvl="0" algn="just" rtl="1">
              <a:lnSpc>
                <a:spcPct val="150000"/>
              </a:lnSpc>
            </a:pPr>
            <a:r>
              <a:rPr lang="fa-IR" sz="4000" b="1" dirty="0">
                <a:solidFill>
                  <a:srgbClr val="164193"/>
                </a:solidFill>
                <a:cs typeface="B Koodak" panose="00000700000000000000" pitchFamily="2" charset="-78"/>
              </a:rPr>
              <a:t>نقش شما:</a:t>
            </a:r>
          </a:p>
          <a:p>
            <a:pPr marL="571500" lvl="0" indent="-571500" algn="just" rtl="1">
              <a:lnSpc>
                <a:spcPct val="150000"/>
              </a:lnSpc>
              <a:buFontTx/>
              <a:buChar char="-"/>
            </a:pPr>
            <a:r>
              <a:rPr lang="fa-IR" sz="4000" b="1" dirty="0">
                <a:solidFill>
                  <a:srgbClr val="164193"/>
                </a:solidFill>
                <a:cs typeface="B Koodak" panose="00000700000000000000" pitchFamily="2" charset="-78"/>
              </a:rPr>
              <a:t>ویرایش نهایی</a:t>
            </a:r>
          </a:p>
          <a:p>
            <a:pPr marL="571500" lvl="0" indent="-571500" algn="just" rtl="1">
              <a:lnSpc>
                <a:spcPct val="150000"/>
              </a:lnSpc>
              <a:buFontTx/>
              <a:buChar char="-"/>
            </a:pPr>
            <a:r>
              <a:rPr lang="fa-IR" sz="4000" b="1" dirty="0">
                <a:solidFill>
                  <a:srgbClr val="164193"/>
                </a:solidFill>
                <a:cs typeface="B Koodak" panose="00000700000000000000" pitchFamily="2" charset="-78"/>
              </a:rPr>
              <a:t>افزودن تحلیل و زمینه</a:t>
            </a:r>
          </a:p>
          <a:p>
            <a:pPr marL="571500" lvl="0" indent="-571500" algn="just" rtl="1">
              <a:lnSpc>
                <a:spcPct val="150000"/>
              </a:lnSpc>
              <a:buFontTx/>
              <a:buChar char="-"/>
            </a:pPr>
            <a:r>
              <a:rPr lang="fa-IR" sz="4000" b="1" dirty="0">
                <a:solidFill>
                  <a:srgbClr val="164193"/>
                </a:solidFill>
                <a:cs typeface="B Koodak" panose="00000700000000000000" pitchFamily="2" charset="-78"/>
              </a:rPr>
              <a:t>تأیید صحت اطلاعات</a:t>
            </a:r>
          </a:p>
          <a:p>
            <a:pPr marL="571500" lvl="0" indent="-571500" algn="just" rtl="1">
              <a:lnSpc>
                <a:spcPct val="150000"/>
              </a:lnSpc>
              <a:buFontTx/>
              <a:buChar char="-"/>
            </a:pPr>
            <a:r>
              <a:rPr lang="fa-IR" sz="4000" b="1" dirty="0">
                <a:solidFill>
                  <a:srgbClr val="164193"/>
                </a:solidFill>
                <a:cs typeface="B Koodak" panose="00000700000000000000" pitchFamily="2" charset="-78"/>
              </a:rPr>
              <a:t>انتخاب لحن و سبک خبر</a:t>
            </a:r>
            <a:endParaRPr lang="fa-IR" dirty="0"/>
          </a:p>
        </p:txBody>
      </p:sp>
    </p:spTree>
    <p:extLst>
      <p:ext uri="{BB962C8B-B14F-4D97-AF65-F5344CB8AC3E}">
        <p14:creationId xmlns:p14="http://schemas.microsoft.com/office/powerpoint/2010/main" val="4068532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a:t>
            </a:r>
            <a:r>
              <a:rPr lang="en-US" sz="6200" dirty="0" err="1">
                <a:solidFill>
                  <a:srgbClr val="CE7E42"/>
                </a:solidFill>
                <a:latin typeface="Calibri" panose="020F0502020204030204" pitchFamily="34" charset="0"/>
                <a:ea typeface="Calibri" panose="020F0502020204030204" pitchFamily="34" charset="0"/>
                <a:cs typeface="+mj-cs"/>
              </a:rPr>
              <a:t>ChatGPT</a:t>
            </a:r>
            <a:r>
              <a:rPr lang="en-US" sz="6200" dirty="0">
                <a:solidFill>
                  <a:srgbClr val="CE7E42"/>
                </a:solidFill>
                <a:latin typeface="Calibri" panose="020F0502020204030204" pitchFamily="34" charset="0"/>
                <a:ea typeface="Calibri" panose="020F0502020204030204" pitchFamily="34" charset="0"/>
                <a:cs typeface="+mj-cs"/>
              </a:rPr>
              <a:t> (</a:t>
            </a:r>
            <a:r>
              <a:rPr lang="en-US" sz="6200" dirty="0" err="1">
                <a:solidFill>
                  <a:srgbClr val="CE7E42"/>
                </a:solidFill>
                <a:latin typeface="Calibri" panose="020F0502020204030204" pitchFamily="34" charset="0"/>
                <a:ea typeface="Calibri" panose="020F0502020204030204" pitchFamily="34" charset="0"/>
                <a:cs typeface="+mj-cs"/>
              </a:rPr>
              <a:t>OpenAI</a:t>
            </a:r>
            <a:r>
              <a:rPr lang="en-US" sz="6200" dirty="0">
                <a:solidFill>
                  <a:srgbClr val="CE7E42"/>
                </a:solidFill>
                <a:latin typeface="Calibri" panose="020F0502020204030204" pitchFamily="34" charset="0"/>
                <a:ea typeface="Calibri" panose="020F0502020204030204" pitchFamily="34" charset="0"/>
                <a:cs typeface="+mj-cs"/>
              </a:rPr>
              <a:t>) </a:t>
            </a:r>
          </a:p>
          <a:p>
            <a:r>
              <a:rPr lang="en-US" sz="4000" dirty="0">
                <a:latin typeface="Calibri" panose="020F0502020204030204" pitchFamily="34" charset="0"/>
                <a:ea typeface="Calibri" panose="020F0502020204030204" pitchFamily="34" charset="0"/>
                <a:cs typeface="Calibri" panose="020F0502020204030204" pitchFamily="34" charset="0"/>
              </a:rPr>
              <a:t> https://chat.openai.com     </a:t>
            </a:r>
          </a:p>
          <a:p>
            <a:pPr marL="571500" indent="-571500">
              <a:buFontTx/>
              <a:buChar char="-"/>
            </a:pPr>
            <a:r>
              <a:rPr lang="fa-IR" sz="4000" dirty="0" err="1">
                <a:cs typeface="B Koodak" panose="00000700000000000000" pitchFamily="2" charset="-78"/>
              </a:rPr>
              <a:t>قدرتمندترین</a:t>
            </a:r>
            <a:r>
              <a:rPr lang="fa-IR" sz="4000" dirty="0">
                <a:cs typeface="B Koodak" panose="00000700000000000000" pitchFamily="2" charset="-78"/>
              </a:rPr>
              <a:t> ابزار کمک نویسندگی</a:t>
            </a:r>
          </a:p>
          <a:p>
            <a:pPr marL="571500" indent="-571500">
              <a:buFontTx/>
              <a:buChar char="-"/>
            </a:pPr>
            <a:r>
              <a:rPr lang="fa-IR" sz="4000" dirty="0">
                <a:cs typeface="B Koodak" panose="00000700000000000000" pitchFamily="2" charset="-78"/>
              </a:rPr>
              <a:t>پشتیبانی از فارسی (با کیفیت خوب)</a:t>
            </a:r>
          </a:p>
          <a:p>
            <a:pPr marL="571500" indent="-571500">
              <a:buFontTx/>
              <a:buChar char="-"/>
            </a:pPr>
            <a:endParaRPr lang="fa-IR" sz="4000" dirty="0">
              <a:cs typeface="B Koodak" panose="00000700000000000000" pitchFamily="2" charset="-78"/>
            </a:endParaRPr>
          </a:p>
          <a:p>
            <a:endParaRPr lang="fa-IR" sz="4000" dirty="0">
              <a:cs typeface="B Koodak" panose="00000700000000000000" pitchFamily="2" charset="-78"/>
            </a:endParaRPr>
          </a:p>
          <a:p>
            <a:endParaRPr lang="fa-IR" sz="4000" dirty="0">
              <a:cs typeface="B Koodak" panose="00000700000000000000" pitchFamily="2" charset="-78"/>
            </a:endParaRPr>
          </a:p>
          <a:p>
            <a:endParaRPr lang="fa-IR" sz="4000" dirty="0">
              <a:cs typeface="B Koodak" panose="00000700000000000000" pitchFamily="2" charset="-78"/>
            </a:endParaRPr>
          </a:p>
          <a:p>
            <a:r>
              <a:rPr lang="fa-IR" sz="4000" dirty="0">
                <a:solidFill>
                  <a:srgbClr val="CE7E42"/>
                </a:solidFill>
                <a:cs typeface="B Koodak" panose="00000700000000000000" pitchFamily="2" charset="-78"/>
              </a:rPr>
              <a:t>✅ نکته:</a:t>
            </a:r>
            <a:r>
              <a:rPr lang="fa-IR" sz="4000" dirty="0">
                <a:cs typeface="B Koodak" panose="00000700000000000000" pitchFamily="2" charset="-78"/>
              </a:rPr>
              <a:t> هر دو ابزار رایگان (با محدودیت) — شروع عالی برای خبرنگاران!</a:t>
            </a:r>
            <a:endParaRPr lang="en-US" sz="4000" dirty="0">
              <a:latin typeface="Calibri" panose="020F0502020204030204" pitchFamily="34" charset="0"/>
              <a:ea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10</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
        <p:nvSpPr>
          <p:cNvPr id="5" name="Rectangle 4">
            <a:extLst>
              <a:ext uri="{FF2B5EF4-FFF2-40B4-BE49-F238E27FC236}">
                <a16:creationId xmlns:a16="http://schemas.microsoft.com/office/drawing/2014/main" id="{BAA243C1-58CE-454C-8532-38E103D53C86}"/>
              </a:ext>
            </a:extLst>
          </p:cNvPr>
          <p:cNvSpPr/>
          <p:nvPr/>
        </p:nvSpPr>
        <p:spPr>
          <a:xfrm>
            <a:off x="984807" y="2920931"/>
            <a:ext cx="12188825" cy="4216539"/>
          </a:xfrm>
          <a:prstGeom prst="rect">
            <a:avLst/>
          </a:prstGeom>
        </p:spPr>
        <p:txBody>
          <a:bodyPr>
            <a:spAutoFit/>
          </a:bodyPr>
          <a:lstStyle/>
          <a:p>
            <a:pPr lvl="0" algn="just" rtl="1">
              <a:lnSpc>
                <a:spcPct val="150000"/>
              </a:lnSpc>
            </a:pPr>
            <a:r>
              <a:rPr lang="fa-IR" sz="6200" b="1" dirty="0">
                <a:solidFill>
                  <a:srgbClr val="CE7E42"/>
                </a:solidFill>
                <a:latin typeface="Calibri" panose="020F0502020204030204" pitchFamily="34" charset="0"/>
                <a:ea typeface="Calibri" panose="020F0502020204030204" pitchFamily="34" charset="0"/>
              </a:rPr>
              <a:t>🤖 </a:t>
            </a:r>
            <a:r>
              <a:rPr lang="en-US" sz="6200" b="1" dirty="0">
                <a:solidFill>
                  <a:srgbClr val="CE7E42"/>
                </a:solidFill>
                <a:latin typeface="Calibri" panose="020F0502020204030204" pitchFamily="34" charset="0"/>
                <a:ea typeface="Calibri" panose="020F0502020204030204" pitchFamily="34" charset="0"/>
              </a:rPr>
              <a:t>Claude (Anthropic)</a:t>
            </a:r>
          </a:p>
          <a:p>
            <a:pPr lvl="0" algn="just" rtl="1">
              <a:lnSpc>
                <a:spcPct val="150000"/>
              </a:lnSpc>
            </a:pPr>
            <a:r>
              <a:rPr lang="en-US" sz="4000" b="1" dirty="0">
                <a:solidFill>
                  <a:srgbClr val="164193"/>
                </a:solidFill>
                <a:latin typeface="Calibri" panose="020F0502020204030204" pitchFamily="34" charset="0"/>
                <a:ea typeface="Calibri" panose="020F0502020204030204" pitchFamily="34" charset="0"/>
                <a:cs typeface="Calibri" panose="020F0502020204030204" pitchFamily="34" charset="0"/>
              </a:rPr>
              <a:t>https://claude.ai  </a:t>
            </a:r>
          </a:p>
          <a:p>
            <a:pPr marL="571500" lvl="0" indent="-571500" algn="just" rtl="1">
              <a:lnSpc>
                <a:spcPct val="150000"/>
              </a:lnSpc>
              <a:buFontTx/>
              <a:buChar char="-"/>
            </a:pPr>
            <a:r>
              <a:rPr lang="fa-IR" sz="4000" b="1" dirty="0">
                <a:solidFill>
                  <a:srgbClr val="164193"/>
                </a:solidFill>
                <a:cs typeface="B Koodak" panose="00000700000000000000" pitchFamily="2" charset="-78"/>
              </a:rPr>
              <a:t>تخصص در نوشتن طولانی و تحلیلی</a:t>
            </a:r>
          </a:p>
          <a:p>
            <a:pPr marL="571500" lvl="0" indent="-571500" algn="just" rtl="1">
              <a:lnSpc>
                <a:spcPct val="150000"/>
              </a:lnSpc>
              <a:buFontTx/>
              <a:buChar char="-"/>
            </a:pPr>
            <a:r>
              <a:rPr lang="fa-IR" sz="4000" b="1" dirty="0">
                <a:solidFill>
                  <a:srgbClr val="164193"/>
                </a:solidFill>
                <a:cs typeface="B Koodak" panose="00000700000000000000" pitchFamily="2" charset="-78"/>
              </a:rPr>
              <a:t>حافظه مکالمه بیشتر — مناسب برای پروژه‌های </a:t>
            </a:r>
            <a:r>
              <a:rPr lang="fa-IR" sz="4000" b="1" dirty="0" err="1">
                <a:solidFill>
                  <a:srgbClr val="164193"/>
                </a:solidFill>
                <a:cs typeface="B Koodak" panose="00000700000000000000" pitchFamily="2" charset="-78"/>
              </a:rPr>
              <a:t>چندمرحله‌ای</a:t>
            </a:r>
            <a:endParaRPr lang="fa-IR" dirty="0"/>
          </a:p>
        </p:txBody>
      </p:sp>
    </p:spTree>
    <p:extLst>
      <p:ext uri="{BB962C8B-B14F-4D97-AF65-F5344CB8AC3E}">
        <p14:creationId xmlns:p14="http://schemas.microsoft.com/office/powerpoint/2010/main" val="3168372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en-US" sz="6200" dirty="0">
                <a:solidFill>
                  <a:srgbClr val="CE7E42"/>
                </a:solidFill>
                <a:latin typeface="Calibri" panose="020F0502020204030204" pitchFamily="34" charset="0"/>
                <a:ea typeface="Calibri" panose="020F0502020204030204" pitchFamily="34" charset="0"/>
                <a:cs typeface="+mj-cs"/>
              </a:rPr>
              <a:t>✍️ </a:t>
            </a:r>
            <a:r>
              <a:rPr lang="fa-IR" sz="6200" dirty="0">
                <a:solidFill>
                  <a:srgbClr val="CE7E42"/>
                </a:solidFill>
                <a:latin typeface="Calibri" panose="020F0502020204030204" pitchFamily="34" charset="0"/>
                <a:ea typeface="Calibri" panose="020F0502020204030204" pitchFamily="34" charset="0"/>
                <a:cs typeface="+mj-cs"/>
              </a:rPr>
              <a:t>مهندسی </a:t>
            </a:r>
            <a:r>
              <a:rPr lang="fa-IR" sz="6200" dirty="0" err="1">
                <a:solidFill>
                  <a:srgbClr val="CE7E42"/>
                </a:solidFill>
                <a:latin typeface="Calibri" panose="020F0502020204030204" pitchFamily="34" charset="0"/>
                <a:ea typeface="Calibri" panose="020F0502020204030204" pitchFamily="34" charset="0"/>
                <a:cs typeface="+mj-cs"/>
              </a:rPr>
              <a:t>پرامپت</a:t>
            </a:r>
            <a:r>
              <a:rPr lang="en-US" sz="6200" dirty="0">
                <a:solidFill>
                  <a:srgbClr val="CE7E42"/>
                </a:solidFill>
                <a:latin typeface="Calibri" panose="020F0502020204030204" pitchFamily="34" charset="0"/>
                <a:ea typeface="Calibri" panose="020F0502020204030204" pitchFamily="34" charset="0"/>
                <a:cs typeface="+mj-cs"/>
              </a:rPr>
              <a:t> — </a:t>
            </a:r>
            <a:r>
              <a:rPr lang="fa-IR" sz="6200" dirty="0">
                <a:solidFill>
                  <a:srgbClr val="CE7E42"/>
                </a:solidFill>
                <a:latin typeface="Calibri" panose="020F0502020204030204" pitchFamily="34" charset="0"/>
                <a:ea typeface="Calibri" panose="020F0502020204030204" pitchFamily="34" charset="0"/>
                <a:cs typeface="+mj-cs"/>
              </a:rPr>
              <a:t>کلید موفقیت با </a:t>
            </a:r>
            <a:r>
              <a:rPr lang="en-US" sz="6200" dirty="0" err="1">
                <a:solidFill>
                  <a:srgbClr val="CE7E42"/>
                </a:solidFill>
                <a:latin typeface="Calibri" panose="020F0502020204030204" pitchFamily="34" charset="0"/>
                <a:ea typeface="Calibri" panose="020F0502020204030204" pitchFamily="34" charset="0"/>
                <a:cs typeface="+mj-cs"/>
              </a:rPr>
              <a:t>ChatGPT</a:t>
            </a:r>
            <a:r>
              <a:rPr lang="en-US" sz="6200" dirty="0">
                <a:solidFill>
                  <a:srgbClr val="CE7E42"/>
                </a:solidFill>
                <a:latin typeface="Calibri" panose="020F0502020204030204" pitchFamily="34" charset="0"/>
                <a:ea typeface="Calibri" panose="020F0502020204030204" pitchFamily="34" charset="0"/>
                <a:cs typeface="+mj-cs"/>
              </a:rPr>
              <a:t>!</a:t>
            </a:r>
          </a:p>
          <a:p>
            <a:r>
              <a:rPr lang="fa-IR" sz="4000" dirty="0" err="1">
                <a:cs typeface="B Koodak" panose="00000700000000000000" pitchFamily="2" charset="-78"/>
              </a:rPr>
              <a:t>پرامپت</a:t>
            </a:r>
            <a:r>
              <a:rPr lang="fa-IR" sz="4000" dirty="0">
                <a:cs typeface="B Koodak" panose="00000700000000000000" pitchFamily="2" charset="-78"/>
              </a:rPr>
              <a:t> ضعیف:  “</a:t>
            </a:r>
            <a:r>
              <a:rPr lang="fa-IR" sz="4000" dirty="0" err="1">
                <a:cs typeface="B Koodak" panose="00000700000000000000" pitchFamily="2" charset="-78"/>
              </a:rPr>
              <a:t>یه</a:t>
            </a:r>
            <a:r>
              <a:rPr lang="fa-IR" sz="4000" dirty="0">
                <a:cs typeface="B Koodak" panose="00000700000000000000" pitchFamily="2" charset="-78"/>
              </a:rPr>
              <a:t> خبر بنویس درباره تورم”</a:t>
            </a:r>
          </a:p>
          <a:p>
            <a:endParaRPr lang="fa-IR" sz="4000" dirty="0">
              <a:cs typeface="B Koodak" panose="00000700000000000000" pitchFamily="2" charset="-78"/>
            </a:endParaRPr>
          </a:p>
          <a:p>
            <a:r>
              <a:rPr lang="fa-IR" sz="4000" dirty="0" err="1">
                <a:cs typeface="B Koodak" panose="00000700000000000000" pitchFamily="2" charset="-78"/>
              </a:rPr>
              <a:t>پرامپت</a:t>
            </a:r>
            <a:r>
              <a:rPr lang="fa-IR" sz="4000" dirty="0">
                <a:cs typeface="B Koodak" panose="00000700000000000000" pitchFamily="2" charset="-78"/>
              </a:rPr>
              <a:t> قوی:  “یک خبر ۲۰۰ کلمه‌ای به سبک خبرگزاری </a:t>
            </a:r>
            <a:r>
              <a:rPr lang="fa-IR" sz="4000" dirty="0" err="1">
                <a:cs typeface="B Koodak" panose="00000700000000000000" pitchFamily="2" charset="-78"/>
              </a:rPr>
              <a:t>تسنیم</a:t>
            </a:r>
            <a:r>
              <a:rPr lang="fa-IR" sz="4000" dirty="0">
                <a:cs typeface="B Koodak" panose="00000700000000000000" pitchFamily="2" charset="-78"/>
              </a:rPr>
              <a:t> درباره افزایش تورم در ایران در فروردین ۱۴۰۳ بنویس. از آمار مرکز آمار ایران استفاده کن و در پایان یک تحلیل کوتاه ۵۰ کلمه‌ای از علت افزایش اضافه کن.”</a:t>
            </a:r>
          </a:p>
          <a:p>
            <a:endParaRPr lang="fa-IR" sz="4000" dirty="0">
              <a:cs typeface="B Koodak" panose="00000700000000000000" pitchFamily="2" charset="-78"/>
            </a:endParaRPr>
          </a:p>
          <a:p>
            <a:endParaRPr lang="fa-IR" sz="4000" dirty="0">
              <a:cs typeface="B Koodak" panose="00000700000000000000" pitchFamily="2" charset="-78"/>
            </a:endParaRPr>
          </a:p>
          <a:p>
            <a:endParaRPr lang="fa-IR" sz="4000" dirty="0">
              <a:cs typeface="B Koodak" panose="00000700000000000000" pitchFamily="2" charset="-78"/>
            </a:endParaRPr>
          </a:p>
          <a:p>
            <a:r>
              <a:rPr lang="fa-IR" sz="4000" dirty="0">
                <a:solidFill>
                  <a:srgbClr val="CE7E42"/>
                </a:solidFill>
                <a:cs typeface="B Koodak" panose="00000700000000000000" pitchFamily="2" charset="-78"/>
              </a:rPr>
              <a:t>✅ نتیجه: </a:t>
            </a:r>
            <a:r>
              <a:rPr lang="fa-IR" sz="4000" dirty="0">
                <a:cs typeface="B Koodak" panose="00000700000000000000" pitchFamily="2" charset="-78"/>
              </a:rPr>
              <a:t>خروجی دقیق‌تر، </a:t>
            </a:r>
            <a:r>
              <a:rPr lang="fa-IR" sz="4000" dirty="0" err="1">
                <a:cs typeface="B Koodak" panose="00000700000000000000" pitchFamily="2" charset="-78"/>
              </a:rPr>
              <a:t>کاربردی‌تر</a:t>
            </a:r>
            <a:r>
              <a:rPr lang="fa-IR" sz="4000" dirty="0">
                <a:cs typeface="B Koodak" panose="00000700000000000000" pitchFamily="2" charset="-78"/>
              </a:rPr>
              <a:t>، حرفه‌ای‌تر!</a:t>
            </a:r>
            <a:endParaRPr lang="en-US" sz="4000" dirty="0">
              <a:latin typeface="Calibri" panose="020F0502020204030204" pitchFamily="34" charset="0"/>
              <a:ea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11</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4038785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a:t>
            </a:r>
            <a:r>
              <a:rPr lang="fa-IR" sz="6200" dirty="0" err="1">
                <a:solidFill>
                  <a:srgbClr val="CE7E42"/>
                </a:solidFill>
                <a:latin typeface="Calibri" panose="020F0502020204030204" pitchFamily="34" charset="0"/>
                <a:ea typeface="Calibri" panose="020F0502020204030204" pitchFamily="34" charset="0"/>
                <a:cs typeface="+mj-cs"/>
              </a:rPr>
              <a:t>قالب‌های</a:t>
            </a:r>
            <a:r>
              <a:rPr lang="fa-IR" sz="6200" dirty="0">
                <a:solidFill>
                  <a:srgbClr val="CE7E42"/>
                </a:solidFill>
                <a:latin typeface="Calibri" panose="020F0502020204030204" pitchFamily="34" charset="0"/>
                <a:ea typeface="Calibri" panose="020F0502020204030204" pitchFamily="34" charset="0"/>
                <a:cs typeface="+mj-cs"/>
              </a:rPr>
              <a:t> </a:t>
            </a:r>
            <a:r>
              <a:rPr lang="fa-IR" sz="6200" dirty="0" err="1">
                <a:solidFill>
                  <a:srgbClr val="CE7E42"/>
                </a:solidFill>
                <a:latin typeface="Calibri" panose="020F0502020204030204" pitchFamily="34" charset="0"/>
                <a:ea typeface="Calibri" panose="020F0502020204030204" pitchFamily="34" charset="0"/>
                <a:cs typeface="+mj-cs"/>
              </a:rPr>
              <a:t>پرامپت</a:t>
            </a:r>
            <a:r>
              <a:rPr lang="fa-IR" sz="6200" dirty="0">
                <a:solidFill>
                  <a:srgbClr val="CE7E42"/>
                </a:solidFill>
                <a:latin typeface="Calibri" panose="020F0502020204030204" pitchFamily="34" charset="0"/>
                <a:ea typeface="Calibri" panose="020F0502020204030204" pitchFamily="34" charset="0"/>
                <a:cs typeface="+mj-cs"/>
              </a:rPr>
              <a:t> آماده کپی و استفاده فوری:</a:t>
            </a:r>
          </a:p>
          <a:p>
            <a:pPr marL="571500" indent="-571500">
              <a:buFontTx/>
              <a:buChar char="-"/>
            </a:pPr>
            <a:r>
              <a:rPr lang="fa-IR" sz="4000" dirty="0">
                <a:latin typeface="Calibri" panose="020F0502020204030204" pitchFamily="34" charset="0"/>
                <a:ea typeface="Calibri" panose="020F0502020204030204" pitchFamily="34" charset="0"/>
                <a:cs typeface="+mj-cs"/>
              </a:rPr>
              <a:t>۱. “یک خبر ۱۵۰ کلمه‌ای درباره [موضوع] به سبک [خبرگزاری] بنویس. از داده‌های [منبع] استفاده کن.”</a:t>
            </a:r>
          </a:p>
          <a:p>
            <a:pPr marL="571500" indent="-571500">
              <a:buFontTx/>
              <a:buChar char="-"/>
            </a:pPr>
            <a:r>
              <a:rPr lang="fa-IR" sz="4000" dirty="0">
                <a:latin typeface="Calibri" panose="020F0502020204030204" pitchFamily="34" charset="0"/>
                <a:ea typeface="Calibri" panose="020F0502020204030204" pitchFamily="34" charset="0"/>
                <a:cs typeface="+mj-cs"/>
              </a:rPr>
              <a:t>۲. “این متن را به زبان ساده‌تر و جذاب‌تر بازنویسی کن: [متن خود را وارد کنید]”</a:t>
            </a:r>
          </a:p>
          <a:p>
            <a:pPr marL="571500" indent="-571500">
              <a:buFontTx/>
              <a:buChar char="-"/>
            </a:pPr>
            <a:r>
              <a:rPr lang="fa-IR" sz="4000" dirty="0">
                <a:latin typeface="Calibri" panose="020F0502020204030204" pitchFamily="34" charset="0"/>
                <a:ea typeface="Calibri" panose="020F0502020204030204" pitchFamily="34" charset="0"/>
                <a:cs typeface="+mj-cs"/>
              </a:rPr>
              <a:t>۳. “۵ زاویه مختلف خبری برای [موضوع] پیشنهاد بده.”</a:t>
            </a:r>
          </a:p>
          <a:p>
            <a:pPr marL="571500" indent="-571500">
              <a:buFontTx/>
              <a:buChar char="-"/>
            </a:pPr>
            <a:r>
              <a:rPr lang="fa-IR" sz="4000" dirty="0">
                <a:latin typeface="Calibri" panose="020F0502020204030204" pitchFamily="34" charset="0"/>
                <a:ea typeface="Calibri" panose="020F0502020204030204" pitchFamily="34" charset="0"/>
                <a:cs typeface="+mj-cs"/>
              </a:rPr>
              <a:t>۴. “یک </a:t>
            </a:r>
            <a:r>
              <a:rPr lang="fa-IR" sz="4000" dirty="0" err="1">
                <a:latin typeface="Calibri" panose="020F0502020204030204" pitchFamily="34" charset="0"/>
                <a:ea typeface="Calibri" panose="020F0502020204030204" pitchFamily="34" charset="0"/>
                <a:cs typeface="+mj-cs"/>
              </a:rPr>
              <a:t>لید</a:t>
            </a:r>
            <a:r>
              <a:rPr lang="fa-IR" sz="4000" dirty="0">
                <a:latin typeface="Calibri" panose="020F0502020204030204" pitchFamily="34" charset="0"/>
                <a:ea typeface="Calibri" panose="020F0502020204030204" pitchFamily="34" charset="0"/>
                <a:cs typeface="+mj-cs"/>
              </a:rPr>
              <a:t> جذاب و یک تیتر کوتاه برای این خبر بنویس: [خبر خود را وارد کنید]”</a:t>
            </a:r>
          </a:p>
          <a:p>
            <a:pPr marL="571500" indent="-571500">
              <a:buFontTx/>
              <a:buChar char="-"/>
            </a:pPr>
            <a:endParaRPr lang="fa-IR" sz="4000" dirty="0">
              <a:latin typeface="Calibri" panose="020F0502020204030204" pitchFamily="34" charset="0"/>
              <a:ea typeface="Calibri" panose="020F0502020204030204" pitchFamily="34" charset="0"/>
              <a:cs typeface="+mj-cs"/>
            </a:endParaRPr>
          </a:p>
          <a:p>
            <a:pPr marL="571500" indent="-571500">
              <a:buFontTx/>
              <a:buChar char="-"/>
            </a:pPr>
            <a:endParaRPr lang="fa-IR" sz="4000" dirty="0">
              <a:latin typeface="Calibri" panose="020F0502020204030204" pitchFamily="34" charset="0"/>
              <a:ea typeface="Calibri" panose="020F0502020204030204" pitchFamily="34" charset="0"/>
              <a:cs typeface="+mj-cs"/>
            </a:endParaRPr>
          </a:p>
          <a:p>
            <a:pPr marL="571500" indent="-571500">
              <a:buFontTx/>
              <a:buChar char="-"/>
            </a:pPr>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لینک دانلود تمام </a:t>
            </a:r>
            <a:r>
              <a:rPr lang="fa-IR" sz="4000" dirty="0" err="1">
                <a:latin typeface="Calibri" panose="020F0502020204030204" pitchFamily="34" charset="0"/>
                <a:ea typeface="Calibri" panose="020F0502020204030204" pitchFamily="34" charset="0"/>
                <a:cs typeface="+mj-cs"/>
              </a:rPr>
              <a:t>قالب‌ها</a:t>
            </a:r>
            <a:r>
              <a:rPr lang="fa-IR" sz="4000" dirty="0">
                <a:latin typeface="Calibri" panose="020F0502020204030204" pitchFamily="34" charset="0"/>
                <a:ea typeface="Calibri" panose="020F0502020204030204" pitchFamily="34" charset="0"/>
                <a:cs typeface="+mj-cs"/>
              </a:rPr>
              <a:t>: [</a:t>
            </a:r>
            <a:r>
              <a:rPr lang="en-US" sz="4000" dirty="0">
                <a:latin typeface="Calibri" panose="020F0502020204030204" pitchFamily="34" charset="0"/>
                <a:ea typeface="Calibri" panose="020F0502020204030204" pitchFamily="34" charset="0"/>
                <a:cs typeface="+mj-cs"/>
              </a:rPr>
              <a:t>QR Code </a:t>
            </a:r>
            <a:r>
              <a:rPr lang="fa-IR" sz="4000" dirty="0">
                <a:latin typeface="Calibri" panose="020F0502020204030204" pitchFamily="34" charset="0"/>
                <a:ea typeface="Calibri" panose="020F0502020204030204" pitchFamily="34" charset="0"/>
                <a:cs typeface="+mj-cs"/>
              </a:rPr>
              <a:t> در اسلاید ۲۸]</a:t>
            </a:r>
            <a:endParaRPr lang="fa-IR" sz="4000" dirty="0">
              <a:solidFill>
                <a:srgbClr val="CE7E42"/>
              </a:solidFill>
              <a:cs typeface="B Koodak" panose="00000700000000000000" pitchFamily="2" charset="-78"/>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12</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2197035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a:t>
            </a:r>
            <a:r>
              <a:rPr lang="en-US" sz="6200" dirty="0">
                <a:solidFill>
                  <a:srgbClr val="CE7E42"/>
                </a:solidFill>
                <a:latin typeface="Calibri" panose="020F0502020204030204" pitchFamily="34" charset="0"/>
                <a:ea typeface="Calibri" panose="020F0502020204030204" pitchFamily="34" charset="0"/>
                <a:cs typeface="+mj-cs"/>
              </a:rPr>
              <a:t>Paraphrasing </a:t>
            </a:r>
            <a:r>
              <a:rPr lang="fa-IR" sz="6200" dirty="0">
                <a:solidFill>
                  <a:srgbClr val="CE7E42"/>
                </a:solidFill>
                <a:latin typeface="Calibri" panose="020F0502020204030204" pitchFamily="34" charset="0"/>
                <a:ea typeface="Calibri" panose="020F0502020204030204" pitchFamily="34" charset="0"/>
                <a:cs typeface="+mj-cs"/>
              </a:rPr>
              <a:t> با هوش مصنوعی</a:t>
            </a:r>
          </a:p>
          <a:p>
            <a:r>
              <a:rPr lang="fa-IR" sz="4000" dirty="0">
                <a:latin typeface="Calibri" panose="020F0502020204030204" pitchFamily="34" charset="0"/>
                <a:ea typeface="Calibri" panose="020F0502020204030204" pitchFamily="34" charset="0"/>
                <a:cs typeface="+mj-cs"/>
              </a:rPr>
              <a:t>ابزارهای پیشنهادی:</a:t>
            </a:r>
          </a:p>
          <a:p>
            <a:pPr marL="571500" indent="-571500">
              <a:buFontTx/>
              <a:buChar char="-"/>
            </a:pPr>
            <a:r>
              <a:rPr lang="en-US" sz="4000" dirty="0" err="1">
                <a:latin typeface="Calibri" panose="020F0502020204030204" pitchFamily="34" charset="0"/>
                <a:ea typeface="Calibri" panose="020F0502020204030204" pitchFamily="34" charset="0"/>
                <a:cs typeface="+mj-cs"/>
              </a:rPr>
              <a:t>QuillBot</a:t>
            </a:r>
            <a:r>
              <a:rPr lang="en-US" sz="4000" dirty="0">
                <a:latin typeface="Calibri" panose="020F0502020204030204" pitchFamily="34" charset="0"/>
                <a:ea typeface="Calibri" panose="020F0502020204030204" pitchFamily="34" charset="0"/>
                <a:cs typeface="+mj-cs"/>
              </a:rPr>
              <a:t> — </a:t>
            </a:r>
            <a:r>
              <a:rPr lang="en-US" sz="4000" dirty="0">
                <a:latin typeface="Calibri" panose="020F0502020204030204" pitchFamily="34" charset="0"/>
                <a:ea typeface="Calibri" panose="020F0502020204030204" pitchFamily="34" charset="0"/>
                <a:cs typeface="+mj-cs"/>
                <a:hlinkClick r:id="rId2">
                  <a:extLst>
                    <a:ext uri="{A12FA001-AC4F-418D-AE19-62706E023703}">
                      <ahyp:hlinkClr xmlns:ahyp="http://schemas.microsoft.com/office/drawing/2018/hyperlinkcolor" val="tx"/>
                    </a:ext>
                  </a:extLst>
                </a:hlinkClick>
              </a:rPr>
              <a:t>https://quillbot.com</a:t>
            </a:r>
            <a:r>
              <a:rPr lang="fa-IR" sz="4000" dirty="0">
                <a:latin typeface="Calibri" panose="020F0502020204030204" pitchFamily="34" charset="0"/>
                <a:ea typeface="Calibri" panose="020F0502020204030204" pitchFamily="34" charset="0"/>
                <a:cs typeface="+mj-cs"/>
              </a:rPr>
              <a:t> رایگان — پشتیبانی از زبان فارسی</a:t>
            </a:r>
          </a:p>
          <a:p>
            <a:pPr marL="571500" indent="-571500">
              <a:buFontTx/>
              <a:buChar char="-"/>
            </a:pPr>
            <a:r>
              <a:rPr lang="en-US" sz="4000" dirty="0" err="1">
                <a:latin typeface="Calibri" panose="020F0502020204030204" pitchFamily="34" charset="0"/>
                <a:ea typeface="Calibri" panose="020F0502020204030204" pitchFamily="34" charset="0"/>
                <a:cs typeface="+mj-cs"/>
              </a:rPr>
              <a:t>Wordtune</a:t>
            </a:r>
            <a:r>
              <a:rPr lang="en-US" sz="4000" dirty="0">
                <a:latin typeface="Calibri" panose="020F0502020204030204" pitchFamily="34" charset="0"/>
                <a:ea typeface="Calibri" panose="020F0502020204030204" pitchFamily="34" charset="0"/>
                <a:cs typeface="+mj-cs"/>
              </a:rPr>
              <a:t> — </a:t>
            </a:r>
            <a:r>
              <a:rPr lang="en-US" sz="4000" dirty="0">
                <a:latin typeface="Calibri" panose="020F0502020204030204" pitchFamily="34" charset="0"/>
                <a:ea typeface="Calibri" panose="020F0502020204030204" pitchFamily="34" charset="0"/>
                <a:cs typeface="+mj-cs"/>
                <a:hlinkClick r:id="rId3">
                  <a:extLst>
                    <a:ext uri="{A12FA001-AC4F-418D-AE19-62706E023703}">
                      <ahyp:hlinkClr xmlns:ahyp="http://schemas.microsoft.com/office/drawing/2018/hyperlinkcolor" val="tx"/>
                    </a:ext>
                  </a:extLst>
                </a:hlinkClick>
              </a:rPr>
              <a:t>https://www.wordtune.com</a:t>
            </a:r>
            <a:r>
              <a:rPr lang="fa-IR" sz="4000" dirty="0">
                <a:latin typeface="Calibri" panose="020F0502020204030204" pitchFamily="34" charset="0"/>
                <a:ea typeface="Calibri" panose="020F0502020204030204" pitchFamily="34" charset="0"/>
                <a:cs typeface="+mj-cs"/>
              </a:rPr>
              <a:t> پیشرفته — پولی</a:t>
            </a:r>
          </a:p>
          <a:p>
            <a:pPr marL="571500" indent="-571500">
              <a:buFontTx/>
              <a:buChar char="-"/>
            </a:pPr>
            <a:r>
              <a:rPr lang="en-US" sz="4000" dirty="0">
                <a:latin typeface="Calibri" panose="020F0502020204030204" pitchFamily="34" charset="0"/>
                <a:ea typeface="Calibri" panose="020F0502020204030204" pitchFamily="34" charset="0"/>
                <a:cs typeface="+mj-cs"/>
              </a:rPr>
              <a:t>Jasper — </a:t>
            </a:r>
            <a:r>
              <a:rPr lang="en-US" sz="4000" dirty="0">
                <a:latin typeface="Calibri" panose="020F0502020204030204" pitchFamily="34" charset="0"/>
                <a:ea typeface="Calibri" panose="020F0502020204030204" pitchFamily="34" charset="0"/>
                <a:cs typeface="+mj-cs"/>
                <a:hlinkClick r:id="rId4">
                  <a:extLst>
                    <a:ext uri="{A12FA001-AC4F-418D-AE19-62706E023703}">
                      <ahyp:hlinkClr xmlns:ahyp="http://schemas.microsoft.com/office/drawing/2018/hyperlinkcolor" val="tx"/>
                    </a:ext>
                  </a:extLst>
                </a:hlinkClick>
              </a:rPr>
              <a:t>https://www.jasper.ai</a:t>
            </a: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حرفه‌ای — برای تیم‌های بزرگ</a:t>
            </a:r>
          </a:p>
          <a:p>
            <a:pPr marL="571500" indent="-571500">
              <a:buFontTx/>
              <a:buChar char="-"/>
            </a:pPr>
            <a:endParaRPr lang="fa-IR" sz="4000" dirty="0">
              <a:latin typeface="Calibri" panose="020F0502020204030204" pitchFamily="34" charset="0"/>
              <a:ea typeface="Calibri" panose="020F0502020204030204" pitchFamily="34" charset="0"/>
              <a:cs typeface="+mj-cs"/>
            </a:endParaRPr>
          </a:p>
          <a:p>
            <a:r>
              <a:rPr lang="fa-IR" sz="4000" dirty="0">
                <a:latin typeface="Calibri" panose="020F0502020204030204" pitchFamily="34" charset="0"/>
                <a:ea typeface="Calibri" panose="020F0502020204030204" pitchFamily="34" charset="0"/>
                <a:cs typeface="+mj-cs"/>
              </a:rPr>
              <a:t>کاربرد:</a:t>
            </a:r>
          </a:p>
          <a:p>
            <a:pPr marL="571500" indent="-571500">
              <a:buFontTx/>
              <a:buChar char="-"/>
            </a:pPr>
            <a:r>
              <a:rPr lang="fa-IR" sz="4000" dirty="0">
                <a:latin typeface="Calibri" panose="020F0502020204030204" pitchFamily="34" charset="0"/>
                <a:ea typeface="Calibri" panose="020F0502020204030204" pitchFamily="34" charset="0"/>
                <a:cs typeface="+mj-cs"/>
              </a:rPr>
              <a:t>جلوگیری از سرقت ادبی</a:t>
            </a:r>
          </a:p>
          <a:p>
            <a:pPr marL="571500" indent="-571500">
              <a:buFontTx/>
              <a:buChar char="-"/>
            </a:pPr>
            <a:r>
              <a:rPr lang="fa-IR" sz="4000" dirty="0">
                <a:latin typeface="Calibri" panose="020F0502020204030204" pitchFamily="34" charset="0"/>
                <a:ea typeface="Calibri" panose="020F0502020204030204" pitchFamily="34" charset="0"/>
                <a:cs typeface="+mj-cs"/>
              </a:rPr>
              <a:t>ساده‌سازی </a:t>
            </a:r>
            <a:r>
              <a:rPr lang="fa-IR" sz="4000" dirty="0" err="1">
                <a:latin typeface="Calibri" panose="020F0502020204030204" pitchFamily="34" charset="0"/>
                <a:ea typeface="Calibri" panose="020F0502020204030204" pitchFamily="34" charset="0"/>
                <a:cs typeface="+mj-cs"/>
              </a:rPr>
              <a:t>متن‌های</a:t>
            </a:r>
            <a:r>
              <a:rPr lang="fa-IR" sz="4000" dirty="0">
                <a:latin typeface="Calibri" panose="020F0502020204030204" pitchFamily="34" charset="0"/>
                <a:ea typeface="Calibri" panose="020F0502020204030204" pitchFamily="34" charset="0"/>
                <a:cs typeface="+mj-cs"/>
              </a:rPr>
              <a:t> پیچیده</a:t>
            </a:r>
          </a:p>
          <a:p>
            <a:pPr marL="571500" indent="-571500">
              <a:buFontTx/>
              <a:buChar char="-"/>
            </a:pPr>
            <a:r>
              <a:rPr lang="fa-IR" sz="4000" dirty="0">
                <a:latin typeface="Calibri" panose="020F0502020204030204" pitchFamily="34" charset="0"/>
                <a:ea typeface="Calibri" panose="020F0502020204030204" pitchFamily="34" charset="0"/>
                <a:cs typeface="+mj-cs"/>
              </a:rPr>
              <a:t>تغییر لحن (رسمی ← عامیانه و بالعکس)</a:t>
            </a:r>
            <a:endParaRPr lang="fa-IR" sz="4000" dirty="0">
              <a:solidFill>
                <a:srgbClr val="CE7E42"/>
              </a:solidFill>
              <a:cs typeface="B Koodak" panose="00000700000000000000" pitchFamily="2" charset="-78"/>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13</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4010926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تولید تیتر با هوش مصنوعی</a:t>
            </a:r>
          </a:p>
          <a:p>
            <a:r>
              <a:rPr lang="fa-IR" sz="4000" dirty="0">
                <a:latin typeface="Calibri" panose="020F0502020204030204" pitchFamily="34" charset="0"/>
                <a:ea typeface="Calibri" panose="020F0502020204030204" pitchFamily="34" charset="0"/>
                <a:cs typeface="+mj-cs"/>
              </a:rPr>
              <a:t>ابزار:</a:t>
            </a:r>
          </a:p>
          <a:p>
            <a:pPr marL="571500" indent="-571500">
              <a:buFontTx/>
              <a:buChar char="-"/>
            </a:pPr>
            <a:r>
              <a:rPr lang="en-US" sz="4000" dirty="0" err="1">
                <a:latin typeface="Calibri" panose="020F0502020204030204" pitchFamily="34" charset="0"/>
                <a:ea typeface="Calibri" panose="020F0502020204030204" pitchFamily="34" charset="0"/>
                <a:cs typeface="+mj-cs"/>
              </a:rPr>
              <a:t>Headlime</a:t>
            </a:r>
            <a:r>
              <a:rPr lang="en-US" sz="4000" dirty="0">
                <a:latin typeface="Calibri" panose="020F0502020204030204" pitchFamily="34" charset="0"/>
                <a:ea typeface="Calibri" panose="020F0502020204030204" pitchFamily="34" charset="0"/>
                <a:cs typeface="+mj-cs"/>
              </a:rPr>
              <a:t> — https://headlime.com</a:t>
            </a:r>
            <a:r>
              <a:rPr lang="fa-IR" sz="4000" dirty="0">
                <a:latin typeface="Calibri" panose="020F0502020204030204" pitchFamily="34" charset="0"/>
                <a:ea typeface="Calibri" panose="020F0502020204030204" pitchFamily="34" charset="0"/>
                <a:cs typeface="+mj-cs"/>
              </a:rPr>
              <a:t> تخصص در تیتر</a:t>
            </a:r>
          </a:p>
          <a:p>
            <a:r>
              <a:rPr lang="fa-IR" sz="4000" dirty="0">
                <a:latin typeface="Calibri" panose="020F0502020204030204" pitchFamily="34" charset="0"/>
                <a:ea typeface="Calibri" panose="020F0502020204030204" pitchFamily="34" charset="0"/>
                <a:cs typeface="+mj-cs"/>
              </a:rPr>
              <a:t>- </a:t>
            </a:r>
            <a:r>
              <a:rPr lang="en-US" sz="4000" dirty="0">
                <a:latin typeface="Calibri" panose="020F0502020204030204" pitchFamily="34" charset="0"/>
                <a:ea typeface="Calibri" panose="020F0502020204030204" pitchFamily="34" charset="0"/>
                <a:cs typeface="+mj-cs"/>
              </a:rPr>
              <a:t>HubSpot AI Title Generator — </a:t>
            </a:r>
            <a:r>
              <a:rPr lang="en-US" sz="4000" dirty="0">
                <a:latin typeface="Calibri" panose="020F0502020204030204" pitchFamily="34" charset="0"/>
                <a:ea typeface="Calibri" panose="020F0502020204030204" pitchFamily="34" charset="0"/>
                <a:cs typeface="+mj-cs"/>
                <a:hlinkClick r:id="rId2">
                  <a:extLst>
                    <a:ext uri="{A12FA001-AC4F-418D-AE19-62706E023703}">
                      <ahyp:hlinkClr xmlns:ahyp="http://schemas.microsoft.com/office/drawing/2018/hyperlinkcolor" val="tx"/>
                    </a:ext>
                  </a:extLst>
                </a:hlinkClick>
              </a:rPr>
              <a:t>https://www.hubspot.com</a:t>
            </a:r>
            <a:endParaRPr lang="en-US" sz="4000" dirty="0">
              <a:latin typeface="Calibri" panose="020F0502020204030204" pitchFamily="34" charset="0"/>
              <a:ea typeface="Calibri" panose="020F0502020204030204" pitchFamily="34" charset="0"/>
              <a:cs typeface="+mj-cs"/>
            </a:endParaRPr>
          </a:p>
          <a:p>
            <a:pPr marL="571500" indent="-571500">
              <a:buFontTx/>
              <a:buChar char="-"/>
            </a:pPr>
            <a:r>
              <a:rPr lang="fa-IR" sz="4000" dirty="0" err="1">
                <a:latin typeface="Calibri" panose="020F0502020204030204" pitchFamily="34" charset="0"/>
                <a:ea typeface="Calibri" panose="020F0502020204030204" pitchFamily="34" charset="0"/>
                <a:cs typeface="+mj-cs"/>
              </a:rPr>
              <a:t>پرامپت</a:t>
            </a:r>
            <a:r>
              <a:rPr lang="fa-IR" sz="4000" dirty="0">
                <a:latin typeface="Calibri" panose="020F0502020204030204" pitchFamily="34" charset="0"/>
                <a:ea typeface="Calibri" panose="020F0502020204030204" pitchFamily="34" charset="0"/>
                <a:cs typeface="+mj-cs"/>
              </a:rPr>
              <a:t> نمونه در چت جی پی تی 5:</a:t>
            </a:r>
          </a:p>
          <a:p>
            <a:r>
              <a:rPr lang="fa-IR" sz="4000" dirty="0">
                <a:latin typeface="Calibri" panose="020F0502020204030204" pitchFamily="34" charset="0"/>
                <a:ea typeface="Calibri" panose="020F0502020204030204" pitchFamily="34" charset="0"/>
                <a:cs typeface="+mj-cs"/>
              </a:rPr>
              <a:t> </a:t>
            </a: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۵ تیتر جذاب و کوتاه برای خبر افزایش ۳۰٪ی قیمت نان پیشنهاد بده — حالت هشداردهنده داشته باشد.”</a:t>
            </a: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نکته:</a:t>
            </a:r>
            <a:r>
              <a:rPr lang="fa-IR" sz="4000" dirty="0">
                <a:latin typeface="Calibri" panose="020F0502020204030204" pitchFamily="34" charset="0"/>
                <a:ea typeface="Calibri" panose="020F0502020204030204" pitchFamily="34" charset="0"/>
                <a:cs typeface="+mj-cs"/>
              </a:rPr>
              <a:t> همیشه چند تیتر تولید کنید و بهترین را انتخاب کنید!</a:t>
            </a:r>
          </a:p>
        </p:txBody>
      </p:sp>
      <p:sp>
        <p:nvSpPr>
          <p:cNvPr id="3" name="Slide Number Placeholder 2"/>
          <p:cNvSpPr>
            <a:spLocks noGrp="1"/>
          </p:cNvSpPr>
          <p:nvPr>
            <p:ph type="sldNum" sz="quarter" idx="12"/>
          </p:nvPr>
        </p:nvSpPr>
        <p:spPr/>
        <p:txBody>
          <a:bodyPr/>
          <a:lstStyle/>
          <a:p>
            <a:fld id="{FC7264DD-8205-481D-9B6A-9CE0D2D966EE}" type="slidenum">
              <a:rPr lang="fa-IR" smtClean="0"/>
              <a:t>14</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1359337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a:t>
            </a:r>
            <a:r>
              <a:rPr lang="fa-IR" sz="6200" dirty="0" err="1">
                <a:solidFill>
                  <a:srgbClr val="CE7E42"/>
                </a:solidFill>
                <a:latin typeface="Calibri" panose="020F0502020204030204" pitchFamily="34" charset="0"/>
                <a:ea typeface="Calibri" panose="020F0502020204030204" pitchFamily="34" charset="0"/>
                <a:cs typeface="+mj-cs"/>
              </a:rPr>
              <a:t>لید</a:t>
            </a:r>
            <a:r>
              <a:rPr lang="fa-IR" sz="6200" dirty="0">
                <a:solidFill>
                  <a:srgbClr val="CE7E42"/>
                </a:solidFill>
                <a:latin typeface="Calibri" panose="020F0502020204030204" pitchFamily="34" charset="0"/>
                <a:ea typeface="Calibri" panose="020F0502020204030204" pitchFamily="34" charset="0"/>
                <a:cs typeface="+mj-cs"/>
              </a:rPr>
              <a:t> = اولین پاراگراف خبر — تعیین‌کننده ماندن مخاطب!</a:t>
            </a:r>
          </a:p>
          <a:p>
            <a:endParaRPr lang="fa-IR" sz="4000" dirty="0">
              <a:latin typeface="Calibri" panose="020F0502020204030204" pitchFamily="34" charset="0"/>
              <a:ea typeface="Calibri" panose="020F0502020204030204" pitchFamily="34" charset="0"/>
              <a:cs typeface="+mj-cs"/>
            </a:endParaRPr>
          </a:p>
          <a:p>
            <a:r>
              <a:rPr lang="fa-IR" sz="4000" dirty="0" err="1">
                <a:latin typeface="Calibri" panose="020F0502020204030204" pitchFamily="34" charset="0"/>
                <a:ea typeface="Calibri" panose="020F0502020204030204" pitchFamily="34" charset="0"/>
                <a:cs typeface="+mj-cs"/>
              </a:rPr>
              <a:t>پرامپت</a:t>
            </a:r>
            <a:r>
              <a:rPr lang="fa-IR" sz="4000" dirty="0">
                <a:latin typeface="Calibri" panose="020F0502020204030204" pitchFamily="34" charset="0"/>
                <a:ea typeface="Calibri" panose="020F0502020204030204" pitchFamily="34" charset="0"/>
                <a:cs typeface="+mj-cs"/>
              </a:rPr>
              <a:t> نمونه:</a:t>
            </a:r>
          </a:p>
          <a:p>
            <a:r>
              <a:rPr lang="fa-IR" sz="4000" dirty="0">
                <a:latin typeface="Calibri" panose="020F0502020204030204" pitchFamily="34" charset="0"/>
                <a:ea typeface="Calibri" panose="020F0502020204030204" pitchFamily="34" charset="0"/>
                <a:cs typeface="+mj-cs"/>
              </a:rPr>
              <a:t> “یک </a:t>
            </a:r>
            <a:r>
              <a:rPr lang="fa-IR" sz="4000" dirty="0" err="1">
                <a:latin typeface="Calibri" panose="020F0502020204030204" pitchFamily="34" charset="0"/>
                <a:ea typeface="Calibri" panose="020F0502020204030204" pitchFamily="34" charset="0"/>
                <a:cs typeface="+mj-cs"/>
              </a:rPr>
              <a:t>لید</a:t>
            </a:r>
            <a:r>
              <a:rPr lang="fa-IR" sz="4000" dirty="0">
                <a:latin typeface="Calibri" panose="020F0502020204030204" pitchFamily="34" charset="0"/>
                <a:ea typeface="Calibri" panose="020F0502020204030204" pitchFamily="34" charset="0"/>
                <a:cs typeface="+mj-cs"/>
              </a:rPr>
              <a:t> ۳ خطی برای خبر کاهش ۴۰٪ی صادرات نفت در سه ماه اول سال بنویس — از یک آمار </a:t>
            </a:r>
            <a:r>
              <a:rPr lang="fa-IR" sz="4000" dirty="0" err="1">
                <a:latin typeface="Calibri" panose="020F0502020204030204" pitchFamily="34" charset="0"/>
                <a:ea typeface="Calibri" panose="020F0502020204030204" pitchFamily="34" charset="0"/>
                <a:cs typeface="+mj-cs"/>
              </a:rPr>
              <a:t>شوکه‌کننده</a:t>
            </a:r>
            <a:r>
              <a:rPr lang="fa-IR" sz="4000" dirty="0">
                <a:latin typeface="Calibri" panose="020F0502020204030204" pitchFamily="34" charset="0"/>
                <a:ea typeface="Calibri" panose="020F0502020204030204" pitchFamily="34" charset="0"/>
                <a:cs typeface="+mj-cs"/>
              </a:rPr>
              <a:t> استفاده کن.”</a:t>
            </a: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نکته:</a:t>
            </a:r>
            <a:r>
              <a:rPr lang="fa-IR" sz="4000" dirty="0">
                <a:latin typeface="Calibri" panose="020F0502020204030204" pitchFamily="34" charset="0"/>
                <a:ea typeface="Calibri" panose="020F0502020204030204" pitchFamily="34" charset="0"/>
                <a:cs typeface="+mj-cs"/>
              </a:rPr>
              <a:t> </a:t>
            </a:r>
            <a:r>
              <a:rPr lang="fa-IR" sz="4000" dirty="0" err="1">
                <a:latin typeface="Calibri" panose="020F0502020204030204" pitchFamily="34" charset="0"/>
                <a:ea typeface="Calibri" panose="020F0502020204030204" pitchFamily="34" charset="0"/>
                <a:cs typeface="+mj-cs"/>
              </a:rPr>
              <a:t>لید</a:t>
            </a:r>
            <a:r>
              <a:rPr lang="fa-IR" sz="4000" dirty="0">
                <a:latin typeface="Calibri" panose="020F0502020204030204" pitchFamily="34" charset="0"/>
                <a:ea typeface="Calibri" panose="020F0502020204030204" pitchFamily="34" charset="0"/>
                <a:cs typeface="+mj-cs"/>
              </a:rPr>
              <a:t> باید پاسخ دهد: چه کسی؟ چه چیزی؟ کجا؟ چرا؟ چگونه؟</a:t>
            </a:r>
          </a:p>
        </p:txBody>
      </p:sp>
      <p:sp>
        <p:nvSpPr>
          <p:cNvPr id="3" name="Slide Number Placeholder 2"/>
          <p:cNvSpPr>
            <a:spLocks noGrp="1"/>
          </p:cNvSpPr>
          <p:nvPr>
            <p:ph type="sldNum" sz="quarter" idx="12"/>
          </p:nvPr>
        </p:nvSpPr>
        <p:spPr/>
        <p:txBody>
          <a:bodyPr/>
          <a:lstStyle/>
          <a:p>
            <a:fld id="{FC7264DD-8205-481D-9B6A-9CE0D2D966EE}" type="slidenum">
              <a:rPr lang="fa-IR" smtClean="0"/>
              <a:t>15</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2623384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فعالیت: تولید تیتر و </a:t>
            </a:r>
            <a:r>
              <a:rPr lang="fa-IR" sz="6200" dirty="0" err="1">
                <a:solidFill>
                  <a:srgbClr val="CE7E42"/>
                </a:solidFill>
                <a:latin typeface="Calibri" panose="020F0502020204030204" pitchFamily="34" charset="0"/>
                <a:ea typeface="Calibri" panose="020F0502020204030204" pitchFamily="34" charset="0"/>
                <a:cs typeface="+mj-cs"/>
              </a:rPr>
              <a:t>لید</a:t>
            </a:r>
            <a:r>
              <a:rPr lang="fa-IR" sz="6200" dirty="0">
                <a:solidFill>
                  <a:srgbClr val="CE7E42"/>
                </a:solidFill>
                <a:latin typeface="Calibri" panose="020F0502020204030204" pitchFamily="34" charset="0"/>
                <a:ea typeface="Calibri" panose="020F0502020204030204" pitchFamily="34" charset="0"/>
                <a:cs typeface="+mj-cs"/>
              </a:rPr>
              <a:t> </a:t>
            </a:r>
          </a:p>
          <a:p>
            <a:pPr marL="571500" indent="-571500">
              <a:buFontTx/>
              <a:buChar char="-"/>
            </a:pPr>
            <a:r>
              <a:rPr lang="fa-IR" sz="4000" dirty="0">
                <a:latin typeface="Calibri" panose="020F0502020204030204" pitchFamily="34" charset="0"/>
                <a:ea typeface="Calibri" panose="020F0502020204030204" pitchFamily="34" charset="0"/>
                <a:cs typeface="+mj-cs"/>
              </a:rPr>
              <a:t>یک خبر کوتاه (۱۰۰ کلمه) به شرکت‌کنندگان داده می‌شود</a:t>
            </a:r>
          </a:p>
          <a:p>
            <a:pPr marL="571500" indent="-571500">
              <a:buFontTx/>
              <a:buChar char="-"/>
            </a:pPr>
            <a:r>
              <a:rPr lang="fa-IR" sz="4000" dirty="0">
                <a:latin typeface="Calibri" panose="020F0502020204030204" pitchFamily="34" charset="0"/>
                <a:ea typeface="Calibri" panose="020F0502020204030204" pitchFamily="34" charset="0"/>
                <a:cs typeface="+mj-cs"/>
              </a:rPr>
              <a:t>با استفاده از </a:t>
            </a:r>
            <a:r>
              <a:rPr lang="en-US" sz="4000" dirty="0" err="1">
                <a:latin typeface="Calibri" panose="020F0502020204030204" pitchFamily="34" charset="0"/>
                <a:ea typeface="Calibri" panose="020F0502020204030204" pitchFamily="34" charset="0"/>
                <a:cs typeface="+mj-cs"/>
              </a:rPr>
              <a:t>ChatGPT</a:t>
            </a: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 یا </a:t>
            </a:r>
            <a:r>
              <a:rPr lang="en-US" sz="4000" dirty="0" err="1">
                <a:latin typeface="Calibri" panose="020F0502020204030204" pitchFamily="34" charset="0"/>
                <a:ea typeface="Calibri" panose="020F0502020204030204" pitchFamily="34" charset="0"/>
                <a:cs typeface="+mj-cs"/>
              </a:rPr>
              <a:t>QuillBot</a:t>
            </a:r>
            <a:r>
              <a:rPr lang="en-US" sz="4000" dirty="0">
                <a:latin typeface="Calibri" panose="020F0502020204030204" pitchFamily="34" charset="0"/>
                <a:ea typeface="Calibri" panose="020F0502020204030204" pitchFamily="34" charset="0"/>
                <a:cs typeface="+mj-cs"/>
              </a:rPr>
              <a:t>:</a:t>
            </a:r>
          </a:p>
          <a:p>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۱. یک تیتر جذاب تولید کنند</a:t>
            </a:r>
          </a:p>
          <a:p>
            <a:r>
              <a:rPr lang="fa-IR" sz="4000" dirty="0">
                <a:latin typeface="Calibri" panose="020F0502020204030204" pitchFamily="34" charset="0"/>
                <a:ea typeface="Calibri" panose="020F0502020204030204" pitchFamily="34" charset="0"/>
                <a:cs typeface="+mj-cs"/>
              </a:rPr>
              <a:t>    ۲. یک </a:t>
            </a:r>
            <a:r>
              <a:rPr lang="fa-IR" sz="4000" dirty="0" err="1">
                <a:latin typeface="Calibri" panose="020F0502020204030204" pitchFamily="34" charset="0"/>
                <a:ea typeface="Calibri" panose="020F0502020204030204" pitchFamily="34" charset="0"/>
                <a:cs typeface="+mj-cs"/>
              </a:rPr>
              <a:t>لید</a:t>
            </a:r>
            <a:r>
              <a:rPr lang="fa-IR" sz="4000" dirty="0">
                <a:latin typeface="Calibri" panose="020F0502020204030204" pitchFamily="34" charset="0"/>
                <a:ea typeface="Calibri" panose="020F0502020204030204" pitchFamily="34" charset="0"/>
                <a:cs typeface="+mj-cs"/>
              </a:rPr>
              <a:t> ۳ خطی بنویسند </a:t>
            </a:r>
          </a:p>
          <a:p>
            <a:endParaRPr lang="fa-IR" sz="4000" dirty="0">
              <a:latin typeface="Calibri" panose="020F0502020204030204" pitchFamily="34" charset="0"/>
              <a:ea typeface="Calibri" panose="020F0502020204030204" pitchFamily="34" charset="0"/>
              <a:cs typeface="+mj-cs"/>
            </a:endParaRPr>
          </a:p>
          <a:p>
            <a:pPr marL="571500" indent="-571500">
              <a:buFontTx/>
              <a:buChar char="-"/>
            </a:pPr>
            <a:r>
              <a:rPr lang="fa-IR" sz="4000" dirty="0">
                <a:latin typeface="Calibri" panose="020F0502020204030204" pitchFamily="34" charset="0"/>
                <a:ea typeface="Calibri" panose="020F0502020204030204" pitchFamily="34" charset="0"/>
                <a:cs typeface="+mj-cs"/>
              </a:rPr>
              <a:t>انتخاب بهترین نمونه‌ها توسط گروه</a:t>
            </a:r>
          </a:p>
          <a:p>
            <a:endParaRPr lang="fa-IR" sz="4000" dirty="0">
              <a:latin typeface="Calibri" panose="020F0502020204030204" pitchFamily="34" charset="0"/>
              <a:ea typeface="Calibri" panose="020F0502020204030204" pitchFamily="34" charset="0"/>
              <a:cs typeface="+mj-cs"/>
            </a:endParaRPr>
          </a:p>
          <a:p>
            <a:r>
              <a:rPr lang="en-US" sz="4000" dirty="0">
                <a:solidFill>
                  <a:srgbClr val="CE7E42"/>
                </a:solidFill>
                <a:latin typeface="Calibri" panose="020F0502020204030204" pitchFamily="34" charset="0"/>
                <a:ea typeface="Calibri" panose="020F0502020204030204" pitchFamily="34" charset="0"/>
                <a:cs typeface="+mj-cs"/>
              </a:rPr>
              <a:t>⏱️ </a:t>
            </a:r>
            <a:r>
              <a:rPr lang="fa-IR" sz="4000" dirty="0">
                <a:solidFill>
                  <a:srgbClr val="CE7E42"/>
                </a:solidFill>
                <a:latin typeface="Calibri" panose="020F0502020204030204" pitchFamily="34" charset="0"/>
                <a:ea typeface="Calibri" panose="020F0502020204030204" pitchFamily="34" charset="0"/>
                <a:cs typeface="+mj-cs"/>
              </a:rPr>
              <a:t>زمان:</a:t>
            </a:r>
            <a:r>
              <a:rPr lang="fa-IR" sz="4000" dirty="0">
                <a:latin typeface="Calibri" panose="020F0502020204030204" pitchFamily="34" charset="0"/>
                <a:ea typeface="Calibri" panose="020F0502020204030204" pitchFamily="34" charset="0"/>
                <a:cs typeface="+mj-cs"/>
              </a:rPr>
              <a:t> ۱۰ دقیقه — ارائه: ۵ دقیقه</a:t>
            </a:r>
          </a:p>
        </p:txBody>
      </p:sp>
      <p:sp>
        <p:nvSpPr>
          <p:cNvPr id="3" name="Slide Number Placeholder 2"/>
          <p:cNvSpPr>
            <a:spLocks noGrp="1"/>
          </p:cNvSpPr>
          <p:nvPr>
            <p:ph type="sldNum" sz="quarter" idx="12"/>
          </p:nvPr>
        </p:nvSpPr>
        <p:spPr/>
        <p:txBody>
          <a:bodyPr/>
          <a:lstStyle/>
          <a:p>
            <a:fld id="{FC7264DD-8205-481D-9B6A-9CE0D2D966EE}" type="slidenum">
              <a:rPr lang="fa-IR" smtClean="0"/>
              <a:t>16</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2149366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en-US" sz="6200" dirty="0">
                <a:solidFill>
                  <a:srgbClr val="CE7E42"/>
                </a:solidFill>
                <a:latin typeface="Calibri" panose="020F0502020204030204" pitchFamily="34" charset="0"/>
                <a:ea typeface="Calibri" panose="020F0502020204030204" pitchFamily="34" charset="0"/>
                <a:cs typeface="+mj-cs"/>
              </a:rPr>
              <a:t>📊 </a:t>
            </a:r>
            <a:r>
              <a:rPr lang="fa-IR" sz="6200" dirty="0">
                <a:solidFill>
                  <a:srgbClr val="CE7E42"/>
                </a:solidFill>
                <a:latin typeface="Calibri" panose="020F0502020204030204" pitchFamily="34" charset="0"/>
                <a:ea typeface="Calibri" panose="020F0502020204030204" pitchFamily="34" charset="0"/>
                <a:cs typeface="+mj-cs"/>
              </a:rPr>
              <a:t>هوش مصنوعی در گزارش‌های عمیق:</a:t>
            </a:r>
          </a:p>
          <a:p>
            <a:pPr marL="571500" indent="-571500">
              <a:buFontTx/>
              <a:buChar char="-"/>
            </a:pPr>
            <a:r>
              <a:rPr lang="fa-IR" sz="4000" dirty="0">
                <a:latin typeface="Calibri" panose="020F0502020204030204" pitchFamily="34" charset="0"/>
                <a:ea typeface="Calibri" panose="020F0502020204030204" pitchFamily="34" charset="0"/>
                <a:cs typeface="+mj-cs"/>
              </a:rPr>
              <a:t>تولید پیش‌نویس بر اساس داده‌های تحقیق</a:t>
            </a:r>
          </a:p>
          <a:p>
            <a:pPr marL="571500" indent="-571500">
              <a:buFontTx/>
              <a:buChar char="-"/>
            </a:pPr>
            <a:r>
              <a:rPr lang="fa-IR" sz="4000" dirty="0">
                <a:latin typeface="Calibri" panose="020F0502020204030204" pitchFamily="34" charset="0"/>
                <a:ea typeface="Calibri" panose="020F0502020204030204" pitchFamily="34" charset="0"/>
                <a:cs typeface="+mj-cs"/>
              </a:rPr>
              <a:t>پیشنهاد ساختار منطقی گزارش</a:t>
            </a:r>
          </a:p>
          <a:p>
            <a:pPr marL="571500" indent="-571500">
              <a:buFontTx/>
              <a:buChar char="-"/>
            </a:pPr>
            <a:r>
              <a:rPr lang="fa-IR" sz="4000" dirty="0">
                <a:latin typeface="Calibri" panose="020F0502020204030204" pitchFamily="34" charset="0"/>
                <a:ea typeface="Calibri" panose="020F0502020204030204" pitchFamily="34" charset="0"/>
                <a:cs typeface="+mj-cs"/>
              </a:rPr>
              <a:t>استخراج نکات کلیدی از منابع طولانی</a:t>
            </a:r>
          </a:p>
          <a:p>
            <a:pPr marL="571500" indent="-571500">
              <a:buFontTx/>
              <a:buChar char="-"/>
            </a:pPr>
            <a:r>
              <a:rPr lang="fa-IR" sz="4000" dirty="0">
                <a:latin typeface="Calibri" panose="020F0502020204030204" pitchFamily="34" charset="0"/>
                <a:ea typeface="Calibri" panose="020F0502020204030204" pitchFamily="34" charset="0"/>
                <a:cs typeface="+mj-cs"/>
              </a:rPr>
              <a:t>پیشنهاد منابع مرتبط - در </a:t>
            </a:r>
            <a:r>
              <a:rPr lang="en-US" sz="4000" dirty="0">
                <a:latin typeface="Calibri" panose="020F0502020204030204" pitchFamily="34" charset="0"/>
                <a:ea typeface="Calibri" panose="020F0502020204030204" pitchFamily="34" charset="0"/>
                <a:cs typeface="+mj-cs"/>
              </a:rPr>
              <a:t>Claude </a:t>
            </a:r>
            <a:r>
              <a:rPr lang="fa-IR" sz="4000" dirty="0">
                <a:latin typeface="Calibri" panose="020F0502020204030204" pitchFamily="34" charset="0"/>
                <a:ea typeface="Calibri" panose="020F0502020204030204" pitchFamily="34" charset="0"/>
                <a:cs typeface="+mj-cs"/>
              </a:rPr>
              <a:t> و </a:t>
            </a:r>
            <a:r>
              <a:rPr lang="en-US" sz="4000" dirty="0">
                <a:latin typeface="Calibri" panose="020F0502020204030204" pitchFamily="34" charset="0"/>
                <a:ea typeface="Calibri" panose="020F0502020204030204" pitchFamily="34" charset="0"/>
                <a:cs typeface="+mj-cs"/>
              </a:rPr>
              <a:t>Perplexity Prompt </a:t>
            </a:r>
            <a:endParaRPr lang="fa-IR" sz="4000" dirty="0">
              <a:latin typeface="Calibri" panose="020F0502020204030204" pitchFamily="34" charset="0"/>
              <a:ea typeface="Calibri" panose="020F0502020204030204" pitchFamily="34" charset="0"/>
              <a:cs typeface="+mj-cs"/>
            </a:endParaRPr>
          </a:p>
          <a:p>
            <a:pPr marL="571500" indent="-571500">
              <a:buFontTx/>
              <a:buChar char="-"/>
            </a:pPr>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نمونه:  </a:t>
            </a:r>
            <a:r>
              <a:rPr lang="fa-IR" sz="4000" dirty="0">
                <a:latin typeface="Calibri" panose="020F0502020204030204" pitchFamily="34" charset="0"/>
                <a:ea typeface="Calibri" panose="020F0502020204030204" pitchFamily="34" charset="0"/>
                <a:cs typeface="+mj-cs"/>
              </a:rPr>
              <a:t>“ساختار استاندارد یک گزارش تحلیلی ۱۰۰۰ کلمه‌ای درباره فرصت‌های گردشگری در ایران را پیشنهاد بده.”</a:t>
            </a:r>
          </a:p>
        </p:txBody>
      </p:sp>
      <p:sp>
        <p:nvSpPr>
          <p:cNvPr id="3" name="Slide Number Placeholder 2"/>
          <p:cNvSpPr>
            <a:spLocks noGrp="1"/>
          </p:cNvSpPr>
          <p:nvPr>
            <p:ph type="sldNum" sz="quarter" idx="12"/>
          </p:nvPr>
        </p:nvSpPr>
        <p:spPr/>
        <p:txBody>
          <a:bodyPr/>
          <a:lstStyle/>
          <a:p>
            <a:fld id="{FC7264DD-8205-481D-9B6A-9CE0D2D966EE}" type="slidenum">
              <a:rPr lang="fa-IR" smtClean="0"/>
              <a:t>17</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3229608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هوش مصنوعی به عنوان دستیار مصاحبه!</a:t>
            </a:r>
          </a:p>
          <a:p>
            <a:endParaRPr lang="fa-IR" sz="4000" dirty="0">
              <a:latin typeface="Calibri" panose="020F0502020204030204" pitchFamily="34" charset="0"/>
              <a:ea typeface="Calibri" panose="020F0502020204030204" pitchFamily="34" charset="0"/>
              <a:cs typeface="+mj-cs"/>
            </a:endParaRPr>
          </a:p>
          <a:p>
            <a:r>
              <a:rPr lang="fa-IR" sz="4000" dirty="0" err="1">
                <a:latin typeface="Calibri" panose="020F0502020204030204" pitchFamily="34" charset="0"/>
                <a:ea typeface="Calibri" panose="020F0502020204030204" pitchFamily="34" charset="0"/>
                <a:cs typeface="+mj-cs"/>
              </a:rPr>
              <a:t>پرامپت</a:t>
            </a:r>
            <a:r>
              <a:rPr lang="fa-IR" sz="4000" dirty="0">
                <a:latin typeface="Calibri" panose="020F0502020204030204" pitchFamily="34" charset="0"/>
                <a:ea typeface="Calibri" panose="020F0502020204030204" pitchFamily="34" charset="0"/>
                <a:cs typeface="+mj-cs"/>
              </a:rPr>
              <a:t>: </a:t>
            </a:r>
          </a:p>
          <a:p>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۱۰ سوال عمیق و غیرمنتظره برای مصاحبه با یک اقتصاددان درباره تورم در ایران طراحی کن — از جمله ۲ سوال چالشی.”</a:t>
            </a: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مزیت: </a:t>
            </a:r>
            <a:r>
              <a:rPr lang="fa-IR" sz="4000" dirty="0">
                <a:latin typeface="Calibri" panose="020F0502020204030204" pitchFamily="34" charset="0"/>
                <a:ea typeface="Calibri" panose="020F0502020204030204" pitchFamily="34" charset="0"/>
                <a:cs typeface="+mj-cs"/>
              </a:rPr>
              <a:t>صرفه‌جویی در زمان — افزایش کیفیت مصاحبه!</a:t>
            </a:r>
          </a:p>
          <a:p>
            <a:r>
              <a:rPr lang="fa-IR" sz="4000" dirty="0">
                <a:solidFill>
                  <a:srgbClr val="CE7E42"/>
                </a:solidFill>
                <a:latin typeface="Calibri" panose="020F0502020204030204" pitchFamily="34" charset="0"/>
                <a:ea typeface="Calibri" panose="020F0502020204030204" pitchFamily="34" charset="0"/>
                <a:cs typeface="+mj-cs"/>
              </a:rPr>
              <a:t>📌 نکته: </a:t>
            </a:r>
            <a:r>
              <a:rPr lang="fa-IR" sz="4000" dirty="0">
                <a:latin typeface="Calibri" panose="020F0502020204030204" pitchFamily="34" charset="0"/>
                <a:ea typeface="Calibri" panose="020F0502020204030204" pitchFamily="34" charset="0"/>
                <a:cs typeface="+mj-cs"/>
              </a:rPr>
              <a:t>سوالات را حتماً شخصی‌سازی و ویرایش کنید!</a:t>
            </a:r>
          </a:p>
        </p:txBody>
      </p:sp>
      <p:sp>
        <p:nvSpPr>
          <p:cNvPr id="3" name="Slide Number Placeholder 2"/>
          <p:cNvSpPr>
            <a:spLocks noGrp="1"/>
          </p:cNvSpPr>
          <p:nvPr>
            <p:ph type="sldNum" sz="quarter" idx="12"/>
          </p:nvPr>
        </p:nvSpPr>
        <p:spPr/>
        <p:txBody>
          <a:bodyPr/>
          <a:lstStyle/>
          <a:p>
            <a:fld id="{FC7264DD-8205-481D-9B6A-9CE0D2D966EE}" type="slidenum">
              <a:rPr lang="fa-IR" smtClean="0"/>
              <a:t>18</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3026915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استخراج </a:t>
            </a:r>
            <a:r>
              <a:rPr lang="fa-IR" sz="6200" dirty="0" err="1">
                <a:solidFill>
                  <a:srgbClr val="CE7E42"/>
                </a:solidFill>
                <a:latin typeface="Calibri" panose="020F0502020204030204" pitchFamily="34" charset="0"/>
                <a:ea typeface="Calibri" panose="020F0502020204030204" pitchFamily="34" charset="0"/>
                <a:cs typeface="+mj-cs"/>
              </a:rPr>
              <a:t>نقل‌قول</a:t>
            </a:r>
            <a:r>
              <a:rPr lang="fa-IR" sz="6200" dirty="0">
                <a:solidFill>
                  <a:srgbClr val="CE7E42"/>
                </a:solidFill>
                <a:latin typeface="Calibri" panose="020F0502020204030204" pitchFamily="34" charset="0"/>
                <a:ea typeface="Calibri" panose="020F0502020204030204" pitchFamily="34" charset="0"/>
                <a:cs typeface="+mj-cs"/>
              </a:rPr>
              <a:t> از مصاحبه‌های طولانی</a:t>
            </a:r>
          </a:p>
          <a:p>
            <a:endParaRPr lang="fa-IR" sz="4000" dirty="0">
              <a:latin typeface="Calibri" panose="020F0502020204030204" pitchFamily="34" charset="0"/>
              <a:ea typeface="Calibri" panose="020F0502020204030204" pitchFamily="34" charset="0"/>
              <a:cs typeface="+mj-cs"/>
            </a:endParaRPr>
          </a:p>
          <a:p>
            <a:r>
              <a:rPr lang="fa-IR" sz="4000" dirty="0" err="1">
                <a:latin typeface="Calibri" panose="020F0502020204030204" pitchFamily="34" charset="0"/>
                <a:ea typeface="Calibri" panose="020F0502020204030204" pitchFamily="34" charset="0"/>
                <a:cs typeface="+mj-cs"/>
              </a:rPr>
              <a:t>پرامپت</a:t>
            </a:r>
            <a:r>
              <a:rPr lang="fa-IR" sz="4000" dirty="0">
                <a:latin typeface="Calibri" panose="020F0502020204030204" pitchFamily="34" charset="0"/>
                <a:ea typeface="Calibri" panose="020F0502020204030204" pitchFamily="34" charset="0"/>
                <a:cs typeface="+mj-cs"/>
              </a:rPr>
              <a:t> در چت جی پی تی: </a:t>
            </a:r>
          </a:p>
          <a:p>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از این متن مصاحبه ۲۰۰۰ کلمه‌ای، ۳  </a:t>
            </a:r>
            <a:r>
              <a:rPr lang="fa-IR" sz="4000" dirty="0" err="1">
                <a:latin typeface="Calibri" panose="020F0502020204030204" pitchFamily="34" charset="0"/>
                <a:ea typeface="Calibri" panose="020F0502020204030204" pitchFamily="34" charset="0"/>
                <a:cs typeface="+mj-cs"/>
              </a:rPr>
              <a:t>نقل‌قول</a:t>
            </a:r>
            <a:r>
              <a:rPr lang="fa-IR" sz="4000" dirty="0">
                <a:latin typeface="Calibri" panose="020F0502020204030204" pitchFamily="34" charset="0"/>
                <a:ea typeface="Calibri" panose="020F0502020204030204" pitchFamily="34" charset="0"/>
                <a:cs typeface="+mj-cs"/>
              </a:rPr>
              <a:t> کلیدی و تأثیرگذار را استخراج کن که بتوان در خبر استفاده کرد.”</a:t>
            </a: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کاربرد:</a:t>
            </a:r>
            <a:r>
              <a:rPr lang="fa-IR" sz="4000" dirty="0">
                <a:latin typeface="Calibri" panose="020F0502020204030204" pitchFamily="34" charset="0"/>
                <a:ea typeface="Calibri" panose="020F0502020204030204" pitchFamily="34" charset="0"/>
                <a:cs typeface="+mj-cs"/>
              </a:rPr>
              <a:t> تبدیل مصاحبه‌های طولانی → خبرهای کوتاه و جذاب</a:t>
            </a:r>
          </a:p>
          <a:p>
            <a:r>
              <a:rPr lang="fa-IR" sz="4000" dirty="0">
                <a:solidFill>
                  <a:srgbClr val="CE7E42"/>
                </a:solidFill>
                <a:latin typeface="Calibri" panose="020F0502020204030204" pitchFamily="34" charset="0"/>
                <a:ea typeface="Calibri" panose="020F0502020204030204" pitchFamily="34" charset="0"/>
                <a:cs typeface="+mj-cs"/>
              </a:rPr>
              <a:t>📌 نکته:</a:t>
            </a:r>
            <a:r>
              <a:rPr lang="fa-IR" sz="4000" dirty="0">
                <a:latin typeface="Calibri" panose="020F0502020204030204" pitchFamily="34" charset="0"/>
                <a:ea typeface="Calibri" panose="020F0502020204030204" pitchFamily="34" charset="0"/>
                <a:cs typeface="+mj-cs"/>
              </a:rPr>
              <a:t> همیشه نقل‌قول‌ها را با متن اصلی تطبیق دهید!</a:t>
            </a:r>
          </a:p>
        </p:txBody>
      </p:sp>
      <p:sp>
        <p:nvSpPr>
          <p:cNvPr id="3" name="Slide Number Placeholder 2"/>
          <p:cNvSpPr>
            <a:spLocks noGrp="1"/>
          </p:cNvSpPr>
          <p:nvPr>
            <p:ph type="sldNum" sz="quarter" idx="12"/>
          </p:nvPr>
        </p:nvSpPr>
        <p:spPr/>
        <p:txBody>
          <a:bodyPr/>
          <a:lstStyle/>
          <a:p>
            <a:fld id="{FC7264DD-8205-481D-9B6A-9CE0D2D966EE}" type="slidenum">
              <a:rPr lang="fa-IR" smtClean="0"/>
              <a:t>19</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2651480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تولید خبر به زبان‌های دیگر با هوش مصنوعی</a:t>
            </a:r>
          </a:p>
          <a:p>
            <a:r>
              <a:rPr lang="fa-IR" sz="4000" dirty="0">
                <a:latin typeface="Calibri" panose="020F0502020204030204" pitchFamily="34" charset="0"/>
                <a:ea typeface="Calibri" panose="020F0502020204030204" pitchFamily="34" charset="0"/>
                <a:cs typeface="+mj-cs"/>
              </a:rPr>
              <a:t>ابزار:</a:t>
            </a:r>
          </a:p>
          <a:p>
            <a:pPr marL="571500" indent="-571500">
              <a:buFontTx/>
              <a:buChar char="-"/>
            </a:pPr>
            <a:r>
              <a:rPr lang="en-US" sz="4000" dirty="0" err="1">
                <a:latin typeface="Calibri" panose="020F0502020204030204" pitchFamily="34" charset="0"/>
                <a:ea typeface="Calibri" panose="020F0502020204030204" pitchFamily="34" charset="0"/>
                <a:cs typeface="+mj-cs"/>
              </a:rPr>
              <a:t>DeepL</a:t>
            </a:r>
            <a:r>
              <a:rPr lang="en-US" sz="4000" dirty="0">
                <a:latin typeface="Calibri" panose="020F0502020204030204" pitchFamily="34" charset="0"/>
                <a:ea typeface="Calibri" panose="020F0502020204030204" pitchFamily="34" charset="0"/>
                <a:cs typeface="+mj-cs"/>
              </a:rPr>
              <a:t> — https://www.deepl.com </a:t>
            </a:r>
            <a:r>
              <a:rPr lang="fa-IR" sz="4000" dirty="0">
                <a:latin typeface="Calibri" panose="020F0502020204030204" pitchFamily="34" charset="0"/>
                <a:ea typeface="Calibri" panose="020F0502020204030204" pitchFamily="34" charset="0"/>
                <a:cs typeface="+mj-cs"/>
              </a:rPr>
              <a:t> کیفیت بالا در ترجمه 35 زبان</a:t>
            </a:r>
          </a:p>
          <a:p>
            <a:pPr marL="571500" indent="-571500">
              <a:buFontTx/>
              <a:buChar char="-"/>
            </a:pPr>
            <a:r>
              <a:rPr lang="en-US" sz="4000" dirty="0">
                <a:latin typeface="Calibri" panose="020F0502020204030204" pitchFamily="34" charset="0"/>
                <a:ea typeface="Calibri" panose="020F0502020204030204" pitchFamily="34" charset="0"/>
                <a:cs typeface="+mj-cs"/>
              </a:rPr>
              <a:t>Google Translate + </a:t>
            </a:r>
            <a:r>
              <a:rPr lang="fa-IR" sz="4000" dirty="0">
                <a:latin typeface="Calibri" panose="020F0502020204030204" pitchFamily="34" charset="0"/>
                <a:ea typeface="Calibri" panose="020F0502020204030204" pitchFamily="34" charset="0"/>
                <a:cs typeface="+mj-cs"/>
              </a:rPr>
              <a:t> ویرایش انسانی</a:t>
            </a:r>
          </a:p>
          <a:p>
            <a:pPr marL="571500" indent="-571500">
              <a:buFontTx/>
              <a:buChar char="-"/>
            </a:pPr>
            <a:r>
              <a:rPr lang="fa-IR" sz="4000" dirty="0" err="1">
                <a:latin typeface="Calibri" panose="020F0502020204030204" pitchFamily="34" charset="0"/>
                <a:ea typeface="Calibri" panose="020F0502020204030204" pitchFamily="34" charset="0"/>
                <a:cs typeface="+mj-cs"/>
              </a:rPr>
              <a:t>پرامپت</a:t>
            </a:r>
            <a:r>
              <a:rPr lang="fa-IR" sz="4000" dirty="0">
                <a:latin typeface="Calibri" panose="020F0502020204030204" pitchFamily="34" charset="0"/>
                <a:ea typeface="Calibri" panose="020F0502020204030204" pitchFamily="34" charset="0"/>
                <a:cs typeface="+mj-cs"/>
              </a:rPr>
              <a:t>: </a:t>
            </a:r>
            <a:r>
              <a:rPr lang="en-US" sz="4000" dirty="0">
                <a:latin typeface="Calibri" panose="020F0502020204030204" pitchFamily="34" charset="0"/>
                <a:ea typeface="Calibri" panose="020F0502020204030204" pitchFamily="34" charset="0"/>
                <a:cs typeface="+mj-cs"/>
              </a:rPr>
              <a:t>“</a:t>
            </a:r>
            <a:r>
              <a:rPr lang="fa-IR" sz="4000" dirty="0">
                <a:latin typeface="Calibri" panose="020F0502020204030204" pitchFamily="34" charset="0"/>
                <a:ea typeface="Calibri" panose="020F0502020204030204" pitchFamily="34" charset="0"/>
                <a:cs typeface="+mj-cs"/>
              </a:rPr>
              <a:t>این خبر را به زبان انگلیسی ترجمه کن — لحن رسمی و مناسب برای خبرگزاری بین‌المللی داشته باشد.”</a:t>
            </a:r>
          </a:p>
          <a:p>
            <a:pPr marL="571500" indent="-571500">
              <a:buFontTx/>
              <a:buChar char="-"/>
            </a:pPr>
            <a:endParaRPr lang="fa-IR" sz="4000" dirty="0">
              <a:latin typeface="Calibri" panose="020F0502020204030204" pitchFamily="34" charset="0"/>
              <a:ea typeface="Calibri" panose="020F0502020204030204" pitchFamily="34" charset="0"/>
              <a:cs typeface="+mj-cs"/>
            </a:endParaRPr>
          </a:p>
          <a:p>
            <a:pPr marL="571500" indent="-571500">
              <a:buFontTx/>
              <a:buChar char="-"/>
            </a:pPr>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نکته:</a:t>
            </a:r>
            <a:r>
              <a:rPr lang="fa-IR" sz="4000" dirty="0">
                <a:latin typeface="Calibri" panose="020F0502020204030204" pitchFamily="34" charset="0"/>
                <a:ea typeface="Calibri" panose="020F0502020204030204" pitchFamily="34" charset="0"/>
                <a:cs typeface="+mj-cs"/>
              </a:rPr>
              <a:t> ترجمه ماشینی بدون ویرایش = خطر اشتباه مفهومی!</a:t>
            </a:r>
          </a:p>
        </p:txBody>
      </p:sp>
      <p:sp>
        <p:nvSpPr>
          <p:cNvPr id="3" name="Slide Number Placeholder 2"/>
          <p:cNvSpPr>
            <a:spLocks noGrp="1"/>
          </p:cNvSpPr>
          <p:nvPr>
            <p:ph type="sldNum" sz="quarter" idx="12"/>
          </p:nvPr>
        </p:nvSpPr>
        <p:spPr/>
        <p:txBody>
          <a:bodyPr/>
          <a:lstStyle/>
          <a:p>
            <a:fld id="{FC7264DD-8205-481D-9B6A-9CE0D2D966EE}" type="slidenum">
              <a:rPr lang="fa-IR" smtClean="0"/>
              <a:t>20</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522505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چالش‌های تولید محتوا با هوش مصنوعی </a:t>
            </a:r>
          </a:p>
          <a:p>
            <a:pPr marL="571500" indent="-571500">
              <a:buFontTx/>
              <a:buChar char="-"/>
            </a:pPr>
            <a:r>
              <a:rPr lang="fa-IR" sz="4000" dirty="0">
                <a:latin typeface="Calibri" panose="020F0502020204030204" pitchFamily="34" charset="0"/>
                <a:ea typeface="Calibri" panose="020F0502020204030204" pitchFamily="34" charset="0"/>
                <a:cs typeface="+mj-cs"/>
              </a:rPr>
              <a:t>یکنواختی در لحن و سبک</a:t>
            </a:r>
          </a:p>
          <a:p>
            <a:pPr marL="571500" indent="-571500">
              <a:buFontTx/>
              <a:buChar char="-"/>
            </a:pPr>
            <a:r>
              <a:rPr lang="fa-IR" sz="4000" dirty="0">
                <a:latin typeface="Calibri" panose="020F0502020204030204" pitchFamily="34" charset="0"/>
                <a:ea typeface="Calibri" panose="020F0502020204030204" pitchFamily="34" charset="0"/>
                <a:cs typeface="+mj-cs"/>
              </a:rPr>
              <a:t>فقدان صدای شخصی و انسانی</a:t>
            </a:r>
          </a:p>
          <a:p>
            <a:pPr marL="571500" indent="-571500">
              <a:buFontTx/>
              <a:buChar char="-"/>
            </a:pPr>
            <a:r>
              <a:rPr lang="fa-IR" sz="4000" dirty="0">
                <a:latin typeface="Calibri" panose="020F0502020204030204" pitchFamily="34" charset="0"/>
                <a:ea typeface="Calibri" panose="020F0502020204030204" pitchFamily="34" charset="0"/>
                <a:cs typeface="+mj-cs"/>
              </a:rPr>
              <a:t>خطاهای </a:t>
            </a:r>
            <a:r>
              <a:rPr lang="fa-IR" sz="4000" dirty="0" err="1">
                <a:latin typeface="Calibri" panose="020F0502020204030204" pitchFamily="34" charset="0"/>
                <a:ea typeface="Calibri" panose="020F0502020204030204" pitchFamily="34" charset="0"/>
                <a:cs typeface="+mj-cs"/>
              </a:rPr>
              <a:t>واقعیت‌محور</a:t>
            </a:r>
            <a:r>
              <a:rPr lang="fa-IR" sz="4000" dirty="0">
                <a:latin typeface="Calibri" panose="020F0502020204030204" pitchFamily="34" charset="0"/>
                <a:ea typeface="Calibri" panose="020F0502020204030204" pitchFamily="34" charset="0"/>
                <a:cs typeface="+mj-cs"/>
              </a:rPr>
              <a:t> </a:t>
            </a:r>
            <a:r>
              <a:rPr lang="en-US" sz="4000" dirty="0">
                <a:latin typeface="Calibri" panose="020F0502020204030204" pitchFamily="34" charset="0"/>
                <a:ea typeface="Calibri" panose="020F0502020204030204" pitchFamily="34" charset="0"/>
                <a:cs typeface="+mj-cs"/>
              </a:rPr>
              <a:t>Hallucination</a:t>
            </a:r>
          </a:p>
          <a:p>
            <a:pPr marL="571500" indent="-571500">
              <a:buFontTx/>
              <a:buChar char="-"/>
            </a:pP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خطر سرقت ادبی یا تکرار محتوا</a:t>
            </a:r>
          </a:p>
          <a:p>
            <a:r>
              <a:rPr lang="fa-IR" sz="4000" dirty="0">
                <a:solidFill>
                  <a:srgbClr val="CE7E42"/>
                </a:solidFill>
                <a:latin typeface="Calibri" panose="020F0502020204030204" pitchFamily="34" charset="0"/>
                <a:ea typeface="Calibri" panose="020F0502020204030204" pitchFamily="34" charset="0"/>
                <a:cs typeface="+mj-cs"/>
              </a:rPr>
              <a:t>✅ راهکار:</a:t>
            </a:r>
            <a:endParaRPr lang="fa-IR" sz="4000" dirty="0">
              <a:latin typeface="Calibri" panose="020F0502020204030204" pitchFamily="34" charset="0"/>
              <a:ea typeface="Calibri" panose="020F0502020204030204" pitchFamily="34" charset="0"/>
              <a:cs typeface="+mj-cs"/>
            </a:endParaRPr>
          </a:p>
          <a:p>
            <a:pPr marL="571500" indent="-571500">
              <a:buFontTx/>
              <a:buChar char="-"/>
            </a:pPr>
            <a:r>
              <a:rPr lang="fa-IR" sz="4000" dirty="0">
                <a:latin typeface="Calibri" panose="020F0502020204030204" pitchFamily="34" charset="0"/>
                <a:ea typeface="Calibri" panose="020F0502020204030204" pitchFamily="34" charset="0"/>
                <a:cs typeface="+mj-cs"/>
              </a:rPr>
              <a:t>همیشه ویرایش انسانی انجام دهید</a:t>
            </a:r>
          </a:p>
          <a:p>
            <a:pPr marL="571500" indent="-571500">
              <a:buFontTx/>
              <a:buChar char="-"/>
            </a:pPr>
            <a:r>
              <a:rPr lang="fa-IR" sz="4000" dirty="0">
                <a:latin typeface="Calibri" panose="020F0502020204030204" pitchFamily="34" charset="0"/>
                <a:ea typeface="Calibri" panose="020F0502020204030204" pitchFamily="34" charset="0"/>
                <a:cs typeface="+mj-cs"/>
              </a:rPr>
              <a:t>لحن خود را اضافه کنید</a:t>
            </a:r>
          </a:p>
          <a:p>
            <a:pPr marL="571500" indent="-571500">
              <a:buFontTx/>
              <a:buChar char="-"/>
            </a:pPr>
            <a:r>
              <a:rPr lang="fa-IR" sz="4000" dirty="0">
                <a:latin typeface="Calibri" panose="020F0502020204030204" pitchFamily="34" charset="0"/>
                <a:ea typeface="Calibri" panose="020F0502020204030204" pitchFamily="34" charset="0"/>
                <a:cs typeface="+mj-cs"/>
              </a:rPr>
              <a:t>از چند منبع برای تأیید استفاده کنید</a:t>
            </a:r>
          </a:p>
        </p:txBody>
      </p:sp>
      <p:sp>
        <p:nvSpPr>
          <p:cNvPr id="3" name="Slide Number Placeholder 2"/>
          <p:cNvSpPr>
            <a:spLocks noGrp="1"/>
          </p:cNvSpPr>
          <p:nvPr>
            <p:ph type="sldNum" sz="quarter" idx="12"/>
          </p:nvPr>
        </p:nvSpPr>
        <p:spPr/>
        <p:txBody>
          <a:bodyPr/>
          <a:lstStyle/>
          <a:p>
            <a:fld id="{FC7264DD-8205-481D-9B6A-9CE0D2D966EE}" type="slidenum">
              <a:rPr lang="fa-IR" smtClean="0"/>
              <a:t>21</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2527680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a:t>
            </a:r>
            <a:r>
              <a:rPr lang="en-US" sz="6200" dirty="0">
                <a:solidFill>
                  <a:srgbClr val="CE7E42"/>
                </a:solidFill>
                <a:latin typeface="Calibri" panose="020F0502020204030204" pitchFamily="34" charset="0"/>
                <a:ea typeface="Calibri" panose="020F0502020204030204" pitchFamily="34" charset="0"/>
                <a:cs typeface="+mj-cs"/>
              </a:rPr>
              <a:t>ESPN — </a:t>
            </a:r>
            <a:r>
              <a:rPr lang="fa-IR" sz="6200" dirty="0">
                <a:solidFill>
                  <a:srgbClr val="CE7E42"/>
                </a:solidFill>
                <a:latin typeface="Calibri" panose="020F0502020204030204" pitchFamily="34" charset="0"/>
                <a:ea typeface="Calibri" panose="020F0502020204030204" pitchFamily="34" charset="0"/>
                <a:cs typeface="+mj-cs"/>
              </a:rPr>
              <a:t> تولید خبر ورزشی با هوش مصنوعی</a:t>
            </a:r>
          </a:p>
          <a:p>
            <a:pPr marL="571500" indent="-571500">
              <a:buFontTx/>
              <a:buChar char="-"/>
            </a:pPr>
            <a:r>
              <a:rPr lang="fa-IR" sz="4000" dirty="0">
                <a:latin typeface="Calibri" panose="020F0502020204030204" pitchFamily="34" charset="0"/>
                <a:ea typeface="Calibri" panose="020F0502020204030204" pitchFamily="34" charset="0"/>
                <a:cs typeface="+mj-cs"/>
              </a:rPr>
              <a:t>استفاده از داده‌های بازی (</a:t>
            </a:r>
            <a:r>
              <a:rPr lang="fa-IR" sz="4000" dirty="0" err="1">
                <a:latin typeface="Calibri" panose="020F0502020204030204" pitchFamily="34" charset="0"/>
                <a:ea typeface="Calibri" panose="020F0502020204030204" pitchFamily="34" charset="0"/>
                <a:cs typeface="+mj-cs"/>
              </a:rPr>
              <a:t>شوت‌ها</a:t>
            </a:r>
            <a:r>
              <a:rPr lang="fa-IR" sz="4000" dirty="0">
                <a:latin typeface="Calibri" panose="020F0502020204030204" pitchFamily="34" charset="0"/>
                <a:ea typeface="Calibri" panose="020F0502020204030204" pitchFamily="34" charset="0"/>
                <a:cs typeface="+mj-cs"/>
              </a:rPr>
              <a:t>، </a:t>
            </a:r>
            <a:r>
              <a:rPr lang="fa-IR" sz="4000" dirty="0" err="1">
                <a:latin typeface="Calibri" panose="020F0502020204030204" pitchFamily="34" charset="0"/>
                <a:ea typeface="Calibri" panose="020F0502020204030204" pitchFamily="34" charset="0"/>
                <a:cs typeface="+mj-cs"/>
              </a:rPr>
              <a:t>گل‌ها</a:t>
            </a:r>
            <a:r>
              <a:rPr lang="fa-IR" sz="4000" dirty="0">
                <a:latin typeface="Calibri" panose="020F0502020204030204" pitchFamily="34" charset="0"/>
                <a:ea typeface="Calibri" panose="020F0502020204030204" pitchFamily="34" charset="0"/>
                <a:cs typeface="+mj-cs"/>
              </a:rPr>
              <a:t>، خطاهای بازیکنان)</a:t>
            </a:r>
          </a:p>
          <a:p>
            <a:pPr marL="571500" indent="-571500">
              <a:buFontTx/>
              <a:buChar char="-"/>
            </a:pPr>
            <a:r>
              <a:rPr lang="fa-IR" sz="4000" dirty="0">
                <a:latin typeface="Calibri" panose="020F0502020204030204" pitchFamily="34" charset="0"/>
                <a:ea typeface="Calibri" panose="020F0502020204030204" pitchFamily="34" charset="0"/>
                <a:cs typeface="+mj-cs"/>
              </a:rPr>
              <a:t>تولید خودکار خبر پایان بازی در کمتر از ۳۰ ثانیه</a:t>
            </a:r>
          </a:p>
          <a:p>
            <a:pPr marL="571500" indent="-571500">
              <a:buFontTx/>
              <a:buChar char="-"/>
            </a:pPr>
            <a:r>
              <a:rPr lang="fa-IR" sz="4000" dirty="0">
                <a:latin typeface="Calibri" panose="020F0502020204030204" pitchFamily="34" charset="0"/>
                <a:ea typeface="Calibri" panose="020F0502020204030204" pitchFamily="34" charset="0"/>
                <a:cs typeface="+mj-cs"/>
              </a:rPr>
              <a:t>ارسال به </a:t>
            </a:r>
            <a:r>
              <a:rPr lang="fa-IR" sz="4000" dirty="0" err="1">
                <a:latin typeface="Calibri" panose="020F0502020204030204" pitchFamily="34" charset="0"/>
                <a:ea typeface="Calibri" panose="020F0502020204030204" pitchFamily="34" charset="0"/>
                <a:cs typeface="+mj-cs"/>
              </a:rPr>
              <a:t>اپلیکیشن</a:t>
            </a:r>
            <a:r>
              <a:rPr lang="fa-IR" sz="4000" dirty="0">
                <a:latin typeface="Calibri" panose="020F0502020204030204" pitchFamily="34" charset="0"/>
                <a:ea typeface="Calibri" panose="020F0502020204030204" pitchFamily="34" charset="0"/>
                <a:cs typeface="+mj-cs"/>
              </a:rPr>
              <a:t> و </a:t>
            </a:r>
            <a:r>
              <a:rPr lang="fa-IR" sz="4000" dirty="0" err="1">
                <a:latin typeface="Calibri" panose="020F0502020204030204" pitchFamily="34" charset="0"/>
                <a:ea typeface="Calibri" panose="020F0502020204030204" pitchFamily="34" charset="0"/>
                <a:cs typeface="+mj-cs"/>
              </a:rPr>
              <a:t>وبسایت</a:t>
            </a:r>
            <a:r>
              <a:rPr lang="fa-IR" sz="4000" dirty="0">
                <a:latin typeface="Calibri" panose="020F0502020204030204" pitchFamily="34" charset="0"/>
                <a:ea typeface="Calibri" panose="020F0502020204030204" pitchFamily="34" charset="0"/>
                <a:cs typeface="+mj-cs"/>
              </a:rPr>
              <a:t> — قبل از رقبا!</a:t>
            </a: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نتیجه:</a:t>
            </a:r>
            <a:r>
              <a:rPr lang="fa-IR" sz="4000" dirty="0">
                <a:latin typeface="Calibri" panose="020F0502020204030204" pitchFamily="34" charset="0"/>
                <a:ea typeface="Calibri" panose="020F0502020204030204" pitchFamily="34" charset="0"/>
                <a:cs typeface="+mj-cs"/>
              </a:rPr>
              <a:t> مخاطب را از رقبا جلو بگیرید — با سرعت و دقت!</a:t>
            </a:r>
          </a:p>
        </p:txBody>
      </p:sp>
      <p:sp>
        <p:nvSpPr>
          <p:cNvPr id="3" name="Slide Number Placeholder 2"/>
          <p:cNvSpPr>
            <a:spLocks noGrp="1"/>
          </p:cNvSpPr>
          <p:nvPr>
            <p:ph type="sldNum" sz="quarter" idx="12"/>
          </p:nvPr>
        </p:nvSpPr>
        <p:spPr/>
        <p:txBody>
          <a:bodyPr/>
          <a:lstStyle/>
          <a:p>
            <a:fld id="{FC7264DD-8205-481D-9B6A-9CE0D2D966EE}" type="slidenum">
              <a:rPr lang="fa-IR" smtClean="0"/>
              <a:t>22</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1344173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فعالیت گروهی (2 نفره — ۱۵ دقیقه)</a:t>
            </a:r>
          </a:p>
          <a:p>
            <a:r>
              <a:rPr lang="fa-IR" sz="4000" dirty="0">
                <a:latin typeface="Calibri" panose="020F0502020204030204" pitchFamily="34" charset="0"/>
                <a:ea typeface="Calibri" panose="020F0502020204030204" pitchFamily="34" charset="0"/>
                <a:cs typeface="+mj-cs"/>
              </a:rPr>
              <a:t>موضوع:  “قهرمانی تیم ملی والیبال زنان ایران”</a:t>
            </a:r>
          </a:p>
          <a:p>
            <a:r>
              <a:rPr lang="fa-IR" sz="4000" dirty="0">
                <a:latin typeface="Calibri" panose="020F0502020204030204" pitchFamily="34" charset="0"/>
                <a:ea typeface="Calibri" panose="020F0502020204030204" pitchFamily="34" charset="0"/>
                <a:cs typeface="+mj-cs"/>
              </a:rPr>
              <a:t>وظیفه:</a:t>
            </a:r>
          </a:p>
          <a:p>
            <a:r>
              <a:rPr lang="fa-IR" sz="4000" dirty="0">
                <a:latin typeface="Calibri" panose="020F0502020204030204" pitchFamily="34" charset="0"/>
                <a:ea typeface="Calibri" panose="020F0502020204030204" pitchFamily="34" charset="0"/>
                <a:cs typeface="+mj-cs"/>
              </a:rPr>
              <a:t>۱. با </a:t>
            </a:r>
            <a:r>
              <a:rPr lang="en-US" sz="4000" dirty="0" err="1">
                <a:latin typeface="Calibri" panose="020F0502020204030204" pitchFamily="34" charset="0"/>
                <a:ea typeface="Calibri" panose="020F0502020204030204" pitchFamily="34" charset="0"/>
                <a:cs typeface="+mj-cs"/>
              </a:rPr>
              <a:t>ChatGPT</a:t>
            </a: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 یک خبر ۲۰۰ کلمه‌ای تولید کنید</a:t>
            </a:r>
          </a:p>
          <a:p>
            <a:r>
              <a:rPr lang="fa-IR" sz="4000" dirty="0">
                <a:latin typeface="Calibri" panose="020F0502020204030204" pitchFamily="34" charset="0"/>
                <a:ea typeface="Calibri" panose="020F0502020204030204" pitchFamily="34" charset="0"/>
                <a:cs typeface="+mj-cs"/>
              </a:rPr>
              <a:t>۲. یک تیتر و یک </a:t>
            </a:r>
            <a:r>
              <a:rPr lang="fa-IR" sz="4000" dirty="0" err="1">
                <a:latin typeface="Calibri" panose="020F0502020204030204" pitchFamily="34" charset="0"/>
                <a:ea typeface="Calibri" panose="020F0502020204030204" pitchFamily="34" charset="0"/>
                <a:cs typeface="+mj-cs"/>
              </a:rPr>
              <a:t>لید</a:t>
            </a:r>
            <a:r>
              <a:rPr lang="fa-IR" sz="4000" dirty="0">
                <a:latin typeface="Calibri" panose="020F0502020204030204" pitchFamily="34" charset="0"/>
                <a:ea typeface="Calibri" panose="020F0502020204030204" pitchFamily="34" charset="0"/>
                <a:cs typeface="+mj-cs"/>
              </a:rPr>
              <a:t> جذاب اضافه کنید</a:t>
            </a:r>
          </a:p>
          <a:p>
            <a:r>
              <a:rPr lang="fa-IR" sz="4000" dirty="0">
                <a:latin typeface="Calibri" panose="020F0502020204030204" pitchFamily="34" charset="0"/>
                <a:ea typeface="Calibri" panose="020F0502020204030204" pitchFamily="34" charset="0"/>
                <a:cs typeface="+mj-cs"/>
              </a:rPr>
              <a:t>۳. یک </a:t>
            </a:r>
            <a:r>
              <a:rPr lang="fa-IR" sz="4000" dirty="0" err="1">
                <a:latin typeface="Calibri" panose="020F0502020204030204" pitchFamily="34" charset="0"/>
                <a:ea typeface="Calibri" panose="020F0502020204030204" pitchFamily="34" charset="0"/>
                <a:cs typeface="+mj-cs"/>
              </a:rPr>
              <a:t>نقل‌قول</a:t>
            </a:r>
            <a:r>
              <a:rPr lang="fa-IR" sz="4000" dirty="0">
                <a:latin typeface="Calibri" panose="020F0502020204030204" pitchFamily="34" charset="0"/>
                <a:ea typeface="Calibri" panose="020F0502020204030204" pitchFamily="34" charset="0"/>
                <a:cs typeface="+mj-cs"/>
              </a:rPr>
              <a:t> فرضی از مربی استخراج کنید</a:t>
            </a:r>
          </a:p>
          <a:p>
            <a:r>
              <a:rPr lang="fa-IR" sz="4000" dirty="0">
                <a:latin typeface="Calibri" panose="020F0502020204030204" pitchFamily="34" charset="0"/>
                <a:ea typeface="Calibri" panose="020F0502020204030204" pitchFamily="34" charset="0"/>
                <a:cs typeface="+mj-cs"/>
              </a:rPr>
              <a:t>۴. خبر را به زبان ساده‌تر بازنویسی کنید</a:t>
            </a:r>
          </a:p>
          <a:p>
            <a:endParaRPr lang="fa-IR" sz="4000" dirty="0">
              <a:solidFill>
                <a:srgbClr val="CE7E42"/>
              </a:solidFill>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ارائه:</a:t>
            </a:r>
            <a:r>
              <a:rPr lang="fa-IR" sz="4000" dirty="0">
                <a:latin typeface="Calibri" panose="020F0502020204030204" pitchFamily="34" charset="0"/>
                <a:ea typeface="Calibri" panose="020F0502020204030204" pitchFamily="34" charset="0"/>
                <a:cs typeface="+mj-cs"/>
              </a:rPr>
              <a:t> ۲ دقیقه برای هر گروه — رأی گیری برای انتخاب بهترین خبر!</a:t>
            </a:r>
          </a:p>
        </p:txBody>
      </p:sp>
      <p:sp>
        <p:nvSpPr>
          <p:cNvPr id="3" name="Slide Number Placeholder 2"/>
          <p:cNvSpPr>
            <a:spLocks noGrp="1"/>
          </p:cNvSpPr>
          <p:nvPr>
            <p:ph type="sldNum" sz="quarter" idx="12"/>
          </p:nvPr>
        </p:nvSpPr>
        <p:spPr/>
        <p:txBody>
          <a:bodyPr/>
          <a:lstStyle/>
          <a:p>
            <a:fld id="{FC7264DD-8205-481D-9B6A-9CE0D2D966EE}" type="slidenum">
              <a:rPr lang="fa-IR" smtClean="0"/>
              <a:t>23</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518652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تکلیف: تولید و ویرایش یک خبر با هوش مصنوعی</a:t>
            </a:r>
          </a:p>
          <a:p>
            <a:r>
              <a:rPr lang="fa-IR" sz="4000" dirty="0">
                <a:latin typeface="Calibri" panose="020F0502020204030204" pitchFamily="34" charset="0"/>
                <a:ea typeface="Calibri" panose="020F0502020204030204" pitchFamily="34" charset="0"/>
                <a:cs typeface="+mj-cs"/>
              </a:rPr>
              <a:t>۱. یک خبر واقعی (حداکثر ۱۰۰ کلمه) انتخاب کنید</a:t>
            </a:r>
          </a:p>
          <a:p>
            <a:r>
              <a:rPr lang="fa-IR" sz="4000" dirty="0">
                <a:latin typeface="Calibri" panose="020F0502020204030204" pitchFamily="34" charset="0"/>
                <a:ea typeface="Calibri" panose="020F0502020204030204" pitchFamily="34" charset="0"/>
                <a:cs typeface="+mj-cs"/>
              </a:rPr>
              <a:t>۲. با </a:t>
            </a:r>
            <a:r>
              <a:rPr lang="en-US" sz="4000" dirty="0" err="1">
                <a:latin typeface="Calibri" panose="020F0502020204030204" pitchFamily="34" charset="0"/>
                <a:ea typeface="Calibri" panose="020F0502020204030204" pitchFamily="34" charset="0"/>
                <a:cs typeface="+mj-cs"/>
              </a:rPr>
              <a:t>ChatGPT</a:t>
            </a: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 آن را به یک خبر ۲۰۰ کلمه‌ای گسترش دهید</a:t>
            </a:r>
          </a:p>
          <a:p>
            <a:r>
              <a:rPr lang="fa-IR" sz="4000" dirty="0">
                <a:latin typeface="Calibri" panose="020F0502020204030204" pitchFamily="34" charset="0"/>
                <a:ea typeface="Calibri" panose="020F0502020204030204" pitchFamily="34" charset="0"/>
                <a:cs typeface="+mj-cs"/>
              </a:rPr>
              <a:t>۳. تیتر و </a:t>
            </a:r>
            <a:r>
              <a:rPr lang="fa-IR" sz="4000" dirty="0" err="1">
                <a:latin typeface="Calibri" panose="020F0502020204030204" pitchFamily="34" charset="0"/>
                <a:ea typeface="Calibri" panose="020F0502020204030204" pitchFamily="34" charset="0"/>
                <a:cs typeface="+mj-cs"/>
              </a:rPr>
              <a:t>لید</a:t>
            </a:r>
            <a:r>
              <a:rPr lang="fa-IR" sz="4000" dirty="0">
                <a:latin typeface="Calibri" panose="020F0502020204030204" pitchFamily="34" charset="0"/>
                <a:ea typeface="Calibri" panose="020F0502020204030204" pitchFamily="34" charset="0"/>
                <a:cs typeface="+mj-cs"/>
              </a:rPr>
              <a:t> جذاب تولید کنید</a:t>
            </a:r>
          </a:p>
          <a:p>
            <a:r>
              <a:rPr lang="fa-IR" sz="4000" dirty="0">
                <a:latin typeface="Calibri" panose="020F0502020204030204" pitchFamily="34" charset="0"/>
                <a:ea typeface="Calibri" panose="020F0502020204030204" pitchFamily="34" charset="0"/>
                <a:cs typeface="+mj-cs"/>
              </a:rPr>
              <a:t>۴. با </a:t>
            </a:r>
            <a:r>
              <a:rPr lang="en-US" sz="4000" dirty="0" err="1">
                <a:latin typeface="Calibri" panose="020F0502020204030204" pitchFamily="34" charset="0"/>
                <a:ea typeface="Calibri" panose="020F0502020204030204" pitchFamily="34" charset="0"/>
                <a:cs typeface="+mj-cs"/>
              </a:rPr>
              <a:t>QuillBot</a:t>
            </a: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 آن را بازنویسی کنید (خبر انگلیسی)</a:t>
            </a:r>
          </a:p>
          <a:p>
            <a:r>
              <a:rPr lang="fa-IR" sz="4000" dirty="0">
                <a:latin typeface="Calibri" panose="020F0502020204030204" pitchFamily="34" charset="0"/>
                <a:ea typeface="Calibri" panose="020F0502020204030204" pitchFamily="34" charset="0"/>
                <a:cs typeface="+mj-cs"/>
              </a:rPr>
              <a:t>۵. نسخه نهایی را خودتان ویرایش کنید</a:t>
            </a:r>
          </a:p>
          <a:p>
            <a:r>
              <a:rPr lang="fa-IR" sz="4000" dirty="0">
                <a:latin typeface="Calibri" panose="020F0502020204030204" pitchFamily="34" charset="0"/>
                <a:ea typeface="Calibri" panose="020F0502020204030204" pitchFamily="34" charset="0"/>
                <a:cs typeface="+mj-cs"/>
              </a:rPr>
              <a:t>۶. در جلسه بعد ارائه دهید</a:t>
            </a:r>
          </a:p>
          <a:p>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هدف:</a:t>
            </a:r>
            <a:r>
              <a:rPr lang="fa-IR" sz="4000" dirty="0">
                <a:latin typeface="Calibri" panose="020F0502020204030204" pitchFamily="34" charset="0"/>
                <a:ea typeface="Calibri" panose="020F0502020204030204" pitchFamily="34" charset="0"/>
                <a:cs typeface="+mj-cs"/>
              </a:rPr>
              <a:t> تجربه عملی از چرخه تولید خبر هوشمند!</a:t>
            </a:r>
          </a:p>
        </p:txBody>
      </p:sp>
      <p:sp>
        <p:nvSpPr>
          <p:cNvPr id="3" name="Slide Number Placeholder 2"/>
          <p:cNvSpPr>
            <a:spLocks noGrp="1"/>
          </p:cNvSpPr>
          <p:nvPr>
            <p:ph type="sldNum" sz="quarter" idx="12"/>
          </p:nvPr>
        </p:nvSpPr>
        <p:spPr/>
        <p:txBody>
          <a:bodyPr/>
          <a:lstStyle/>
          <a:p>
            <a:fld id="{FC7264DD-8205-481D-9B6A-9CE0D2D966EE}" type="slidenum">
              <a:rPr lang="fa-IR" smtClean="0"/>
              <a:t>24</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641739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امنیت در استفاده از ابزارهای آنلاین (...ادامه)</a:t>
            </a:r>
          </a:p>
          <a:p>
            <a:pPr marL="571500" indent="-571500">
              <a:buFontTx/>
              <a:buChar char="-"/>
            </a:pPr>
            <a:r>
              <a:rPr lang="fa-IR" sz="4000" dirty="0">
                <a:latin typeface="Calibri" panose="020F0502020204030204" pitchFamily="34" charset="0"/>
                <a:ea typeface="Calibri" panose="020F0502020204030204" pitchFamily="34" charset="0"/>
                <a:cs typeface="+mj-cs"/>
              </a:rPr>
              <a:t>تمام پیام‌های شما برای همیشه ثبت می‌شود</a:t>
            </a:r>
          </a:p>
          <a:p>
            <a:pPr marL="571500" indent="-571500">
              <a:buFontTx/>
              <a:buChar char="-"/>
            </a:pPr>
            <a:r>
              <a:rPr lang="fa-IR" sz="4000" dirty="0">
                <a:latin typeface="Calibri" panose="020F0502020204030204" pitchFamily="34" charset="0"/>
                <a:ea typeface="Calibri" panose="020F0502020204030204" pitchFamily="34" charset="0"/>
                <a:cs typeface="+mj-cs"/>
              </a:rPr>
              <a:t>انتشار تاریخچه گفت و گوی کاربران در موتورهای جستجو</a:t>
            </a:r>
          </a:p>
          <a:p>
            <a:pPr marL="571500" indent="-571500">
              <a:buFontTx/>
              <a:buChar char="-"/>
            </a:pPr>
            <a:r>
              <a:rPr lang="fa-IR" sz="4000" dirty="0">
                <a:latin typeface="Calibri" panose="020F0502020204030204" pitchFamily="34" charset="0"/>
                <a:ea typeface="Calibri" panose="020F0502020204030204" pitchFamily="34" charset="0"/>
                <a:cs typeface="+mj-cs"/>
              </a:rPr>
              <a:t>بیش از آنچه به فکر می‌کنید شما را زیر نظر دارند</a:t>
            </a:r>
          </a:p>
          <a:p>
            <a:pPr marL="571500" indent="-571500">
              <a:buFontTx/>
              <a:buChar char="-"/>
            </a:pPr>
            <a:r>
              <a:rPr lang="fa-IR" sz="4000" dirty="0">
                <a:latin typeface="Calibri" panose="020F0502020204030204" pitchFamily="34" charset="0"/>
                <a:ea typeface="Calibri" panose="020F0502020204030204" pitchFamily="34" charset="0"/>
                <a:cs typeface="+mj-cs"/>
              </a:rPr>
              <a:t>توجه به میزان اهمیت داده‌هایی که آپلود می‌کنید</a:t>
            </a:r>
          </a:p>
        </p:txBody>
      </p:sp>
      <p:sp>
        <p:nvSpPr>
          <p:cNvPr id="3" name="Slide Number Placeholder 2"/>
          <p:cNvSpPr>
            <a:spLocks noGrp="1"/>
          </p:cNvSpPr>
          <p:nvPr>
            <p:ph type="sldNum" sz="quarter" idx="12"/>
          </p:nvPr>
        </p:nvSpPr>
        <p:spPr/>
        <p:txBody>
          <a:bodyPr/>
          <a:lstStyle/>
          <a:p>
            <a:fld id="{FC7264DD-8205-481D-9B6A-9CE0D2D966EE}" type="slidenum">
              <a:rPr lang="fa-IR" smtClean="0"/>
              <a:t>25</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1753921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مالکیت محتوای تولیدشده با هوش مصنوعی</a:t>
            </a:r>
          </a:p>
          <a:p>
            <a:pPr marL="571500" indent="-571500">
              <a:buFontTx/>
              <a:buChar char="-"/>
            </a:pPr>
            <a:r>
              <a:rPr lang="fa-IR" sz="4000" dirty="0">
                <a:latin typeface="Calibri" panose="020F0502020204030204" pitchFamily="34" charset="0"/>
                <a:ea typeface="Calibri" panose="020F0502020204030204" pitchFamily="34" charset="0"/>
                <a:cs typeface="+mj-cs"/>
              </a:rPr>
              <a:t>از نظر</a:t>
            </a:r>
            <a:r>
              <a:rPr lang="en-US" sz="4000" dirty="0" err="1">
                <a:latin typeface="Calibri" panose="020F0502020204030204" pitchFamily="34" charset="0"/>
                <a:ea typeface="Calibri" panose="020F0502020204030204" pitchFamily="34" charset="0"/>
                <a:cs typeface="+mj-cs"/>
              </a:rPr>
              <a:t>OpenAI</a:t>
            </a: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 شما مالک محتوای تولیدشده با </a:t>
            </a:r>
            <a:r>
              <a:rPr lang="en-US" sz="4000" dirty="0" err="1">
                <a:latin typeface="Calibri" panose="020F0502020204030204" pitchFamily="34" charset="0"/>
                <a:ea typeface="Calibri" panose="020F0502020204030204" pitchFamily="34" charset="0"/>
                <a:cs typeface="+mj-cs"/>
              </a:rPr>
              <a:t>ChatGPT</a:t>
            </a: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 هستید</a:t>
            </a:r>
          </a:p>
          <a:p>
            <a:pPr marL="571500" indent="-571500">
              <a:buFontTx/>
              <a:buChar char="-"/>
            </a:pPr>
            <a:r>
              <a:rPr lang="fa-IR" sz="4000" dirty="0">
                <a:latin typeface="Calibri" panose="020F0502020204030204" pitchFamily="34" charset="0"/>
                <a:ea typeface="Calibri" panose="020F0502020204030204" pitchFamily="34" charset="0"/>
                <a:cs typeface="+mj-cs"/>
              </a:rPr>
              <a:t>اگر محتوا </a:t>
            </a:r>
            <a:r>
              <a:rPr lang="fa-IR" sz="4000" dirty="0" err="1">
                <a:latin typeface="Calibri" panose="020F0502020204030204" pitchFamily="34" charset="0"/>
                <a:ea typeface="Calibri" panose="020F0502020204030204" pitchFamily="34" charset="0"/>
                <a:cs typeface="+mj-cs"/>
              </a:rPr>
              <a:t>کپی‌رایت</a:t>
            </a:r>
            <a:r>
              <a:rPr lang="fa-IR" sz="4000" dirty="0">
                <a:latin typeface="Calibri" panose="020F0502020204030204" pitchFamily="34" charset="0"/>
                <a:ea typeface="Calibri" panose="020F0502020204030204" pitchFamily="34" charset="0"/>
                <a:cs typeface="+mj-cs"/>
              </a:rPr>
              <a:t> داشته باشد، مسئولیت با شماست!</a:t>
            </a:r>
          </a:p>
          <a:p>
            <a:pPr marL="571500" indent="-571500">
              <a:buFontTx/>
              <a:buChar char="-"/>
            </a:pPr>
            <a:r>
              <a:rPr lang="fa-IR" sz="4000" dirty="0">
                <a:latin typeface="Calibri" panose="020F0502020204030204" pitchFamily="34" charset="0"/>
                <a:ea typeface="Calibri" panose="020F0502020204030204" pitchFamily="34" charset="0"/>
                <a:cs typeface="+mj-cs"/>
              </a:rPr>
              <a:t>همیشه منابع را ذکر کنید</a:t>
            </a:r>
          </a:p>
          <a:p>
            <a:pPr marL="571500" indent="-571500">
              <a:buFontTx/>
              <a:buChar char="-"/>
            </a:pPr>
            <a:r>
              <a:rPr lang="fa-IR" sz="4000" dirty="0">
                <a:latin typeface="Calibri" panose="020F0502020204030204" pitchFamily="34" charset="0"/>
                <a:ea typeface="Calibri" panose="020F0502020204030204" pitchFamily="34" charset="0"/>
                <a:cs typeface="+mj-cs"/>
              </a:rPr>
              <a:t>از تولید محتوای جعلی یا </a:t>
            </a:r>
            <a:r>
              <a:rPr lang="fa-IR" sz="4000" dirty="0" err="1">
                <a:latin typeface="Calibri" panose="020F0502020204030204" pitchFamily="34" charset="0"/>
                <a:ea typeface="Calibri" panose="020F0502020204030204" pitchFamily="34" charset="0"/>
                <a:cs typeface="+mj-cs"/>
              </a:rPr>
              <a:t>فریب‌دهنده</a:t>
            </a:r>
            <a:r>
              <a:rPr lang="fa-IR" sz="4000" dirty="0">
                <a:latin typeface="Calibri" panose="020F0502020204030204" pitchFamily="34" charset="0"/>
                <a:ea typeface="Calibri" panose="020F0502020204030204" pitchFamily="34" charset="0"/>
                <a:cs typeface="+mj-cs"/>
              </a:rPr>
              <a:t> خودداری کنید</a:t>
            </a:r>
          </a:p>
          <a:p>
            <a:pPr marL="571500" indent="-571500">
              <a:buFontTx/>
              <a:buChar char="-"/>
            </a:pPr>
            <a:endParaRPr lang="fa-IR" sz="4000" dirty="0">
              <a:latin typeface="Calibri" panose="020F0502020204030204" pitchFamily="34" charset="0"/>
              <a:ea typeface="Calibri" panose="020F0502020204030204" pitchFamily="34" charset="0"/>
              <a:cs typeface="+mj-cs"/>
            </a:endParaRPr>
          </a:p>
          <a:p>
            <a:pPr marL="571500" indent="-571500">
              <a:buFontTx/>
              <a:buChar char="-"/>
            </a:pPr>
            <a:endParaRPr lang="fa-IR" sz="4000" dirty="0">
              <a:latin typeface="Calibri" panose="020F0502020204030204" pitchFamily="34" charset="0"/>
              <a:ea typeface="Calibri" panose="020F0502020204030204" pitchFamily="34" charset="0"/>
              <a:cs typeface="+mj-cs"/>
            </a:endParaRPr>
          </a:p>
          <a:p>
            <a:pPr marL="571500" indent="-571500">
              <a:buFontTx/>
              <a:buChar char="-"/>
            </a:pPr>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نکته:</a:t>
            </a:r>
            <a:r>
              <a:rPr lang="fa-IR" sz="4000" dirty="0">
                <a:latin typeface="Calibri" panose="020F0502020204030204" pitchFamily="34" charset="0"/>
                <a:ea typeface="Calibri" panose="020F0502020204030204" pitchFamily="34" charset="0"/>
                <a:cs typeface="+mj-cs"/>
              </a:rPr>
              <a:t> </a:t>
            </a:r>
            <a:r>
              <a:rPr lang="fa-IR" sz="4000" dirty="0" err="1">
                <a:latin typeface="Calibri" panose="020F0502020204030204" pitchFamily="34" charset="0"/>
                <a:ea typeface="Calibri" panose="020F0502020204030204" pitchFamily="34" charset="0"/>
                <a:cs typeface="+mj-cs"/>
              </a:rPr>
              <a:t>خبرگزاری‌های</a:t>
            </a:r>
            <a:r>
              <a:rPr lang="fa-IR" sz="4000" dirty="0">
                <a:latin typeface="Calibri" panose="020F0502020204030204" pitchFamily="34" charset="0"/>
                <a:ea typeface="Calibri" panose="020F0502020204030204" pitchFamily="34" charset="0"/>
                <a:cs typeface="+mj-cs"/>
              </a:rPr>
              <a:t> بزرگ و پیشرو، محتوای تولید شده توسط هوش مصنوعی را ویرایش و تأیید نهایی می‌کنند.</a:t>
            </a:r>
          </a:p>
        </p:txBody>
      </p:sp>
      <p:sp>
        <p:nvSpPr>
          <p:cNvPr id="3" name="Slide Number Placeholder 2"/>
          <p:cNvSpPr>
            <a:spLocks noGrp="1"/>
          </p:cNvSpPr>
          <p:nvPr>
            <p:ph type="sldNum" sz="quarter" idx="12"/>
          </p:nvPr>
        </p:nvSpPr>
        <p:spPr/>
        <p:txBody>
          <a:bodyPr/>
          <a:lstStyle/>
          <a:p>
            <a:fld id="{FC7264DD-8205-481D-9B6A-9CE0D2D966EE}" type="slidenum">
              <a:rPr lang="fa-IR" smtClean="0"/>
              <a:t>26</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1013477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۳ نکته کلیدی جلسه سوم:</a:t>
            </a:r>
          </a:p>
          <a:p>
            <a:r>
              <a:rPr lang="fa-IR" sz="4000" dirty="0">
                <a:latin typeface="Calibri" panose="020F0502020204030204" pitchFamily="34" charset="0"/>
                <a:ea typeface="Calibri" panose="020F0502020204030204" pitchFamily="34" charset="0"/>
                <a:cs typeface="+mj-cs"/>
              </a:rPr>
              <a:t>۱. هوش مصنوعی بهترین دستیار برای تولید پیش‌نویس و بازنویسی خبر است</a:t>
            </a:r>
          </a:p>
          <a:p>
            <a:r>
              <a:rPr lang="fa-IR" sz="4000" dirty="0">
                <a:latin typeface="Calibri" panose="020F0502020204030204" pitchFamily="34" charset="0"/>
                <a:ea typeface="Calibri" panose="020F0502020204030204" pitchFamily="34" charset="0"/>
                <a:cs typeface="+mj-cs"/>
              </a:rPr>
              <a:t>۲. نوشتن </a:t>
            </a:r>
            <a:r>
              <a:rPr lang="fa-IR" sz="4000" dirty="0" err="1">
                <a:latin typeface="Calibri" panose="020F0502020204030204" pitchFamily="34" charset="0"/>
                <a:ea typeface="Calibri" panose="020F0502020204030204" pitchFamily="34" charset="0"/>
                <a:cs typeface="+mj-cs"/>
              </a:rPr>
              <a:t>پرامپت</a:t>
            </a: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دقیق = دریافت خروجی حرفه‌ای</a:t>
            </a:r>
          </a:p>
          <a:p>
            <a:r>
              <a:rPr lang="fa-IR" sz="4000" dirty="0">
                <a:latin typeface="Calibri" panose="020F0502020204030204" pitchFamily="34" charset="0"/>
                <a:ea typeface="Calibri" panose="020F0502020204030204" pitchFamily="34" charset="0"/>
                <a:cs typeface="+mj-cs"/>
              </a:rPr>
              <a:t>۳. شما همیشه مسئول نهایی محتوا هستید — ویرایش انسانی ضروری است!</a:t>
            </a: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هدف:</a:t>
            </a:r>
            <a:r>
              <a:rPr lang="fa-IR" sz="4000" dirty="0">
                <a:latin typeface="Calibri" panose="020F0502020204030204" pitchFamily="34" charset="0"/>
                <a:ea typeface="Calibri" panose="020F0502020204030204" pitchFamily="34" charset="0"/>
                <a:cs typeface="+mj-cs"/>
              </a:rPr>
              <a:t> تبدیل شدن به “نویسنده هوشمند” با کمک هوش مصنوعی</a:t>
            </a:r>
          </a:p>
        </p:txBody>
      </p:sp>
      <p:sp>
        <p:nvSpPr>
          <p:cNvPr id="3" name="Slide Number Placeholder 2"/>
          <p:cNvSpPr>
            <a:spLocks noGrp="1"/>
          </p:cNvSpPr>
          <p:nvPr>
            <p:ph type="sldNum" sz="quarter" idx="12"/>
          </p:nvPr>
        </p:nvSpPr>
        <p:spPr/>
        <p:txBody>
          <a:bodyPr/>
          <a:lstStyle/>
          <a:p>
            <a:fld id="{FC7264DD-8205-481D-9B6A-9CE0D2D966EE}" type="slidenum">
              <a:rPr lang="fa-IR" smtClean="0"/>
              <a:t>27</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29071425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latin typeface="Calibri" panose="020F0502020204030204" pitchFamily="34" charset="0"/>
                <a:ea typeface="Calibri" panose="020F0502020204030204" pitchFamily="34" charset="0"/>
                <a:cs typeface="+mj-cs"/>
              </a:rPr>
              <a:t>🔜 جلسه 4: بررسی صحت، قوانین و اخلاق در خبرنگاری هوشمند</a:t>
            </a:r>
          </a:p>
          <a:p>
            <a:pPr marL="571500" indent="-571500">
              <a:buFontTx/>
              <a:buChar char="-"/>
            </a:pPr>
            <a:r>
              <a:rPr lang="fa-IR" sz="4000" dirty="0">
                <a:latin typeface="Calibri" panose="020F0502020204030204" pitchFamily="34" charset="0"/>
                <a:ea typeface="Calibri" panose="020F0502020204030204" pitchFamily="34" charset="0"/>
                <a:cs typeface="+mj-cs"/>
              </a:rPr>
              <a:t>استفاده از هوش مصنوعی برای اعمال سبک نگارش</a:t>
            </a:r>
          </a:p>
          <a:p>
            <a:pPr marL="571500" indent="-571500">
              <a:buFontTx/>
              <a:buChar char="-"/>
            </a:pPr>
            <a:r>
              <a:rPr lang="fa-IR" sz="4000" dirty="0">
                <a:latin typeface="Calibri" panose="020F0502020204030204" pitchFamily="34" charset="0"/>
                <a:ea typeface="Calibri" panose="020F0502020204030204" pitchFamily="34" charset="0"/>
                <a:cs typeface="+mj-cs"/>
              </a:rPr>
              <a:t>معرفی ابزارهای بررسی صحت اخبار </a:t>
            </a:r>
            <a:r>
              <a:rPr lang="en-US" sz="4000" dirty="0">
                <a:latin typeface="Calibri" panose="020F0502020204030204" pitchFamily="34" charset="0"/>
                <a:ea typeface="Calibri" panose="020F0502020204030204" pitchFamily="34" charset="0"/>
                <a:cs typeface="+mj-cs"/>
              </a:rPr>
              <a:t>Fact-Checking</a:t>
            </a:r>
          </a:p>
          <a:p>
            <a:pPr marL="571500" indent="-571500">
              <a:buFontTx/>
              <a:buChar char="-"/>
            </a:pP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تشخیص اخبار جعلی و تصاویر </a:t>
            </a:r>
            <a:r>
              <a:rPr lang="en-US" sz="4000" dirty="0" err="1">
                <a:latin typeface="Calibri" panose="020F0502020204030204" pitchFamily="34" charset="0"/>
                <a:ea typeface="Calibri" panose="020F0502020204030204" pitchFamily="34" charset="0"/>
                <a:cs typeface="+mj-cs"/>
              </a:rPr>
              <a:t>Deepfake</a:t>
            </a:r>
            <a:r>
              <a:rPr lang="en-US" sz="4000" dirty="0">
                <a:latin typeface="Calibri" panose="020F0502020204030204" pitchFamily="34" charset="0"/>
                <a:ea typeface="Calibri" panose="020F0502020204030204" pitchFamily="34" charset="0"/>
                <a:cs typeface="+mj-cs"/>
              </a:rPr>
              <a:t>  </a:t>
            </a:r>
          </a:p>
          <a:p>
            <a:pPr marL="571500" indent="-571500">
              <a:buFontTx/>
              <a:buChar char="-"/>
            </a:pPr>
            <a:r>
              <a:rPr lang="en-US" sz="4000" dirty="0">
                <a:latin typeface="Calibri" panose="020F0502020204030204" pitchFamily="34" charset="0"/>
                <a:ea typeface="Calibri" panose="020F0502020204030204" pitchFamily="34" charset="0"/>
                <a:cs typeface="+mj-cs"/>
              </a:rPr>
              <a:t> </a:t>
            </a:r>
            <a:r>
              <a:rPr lang="fa-IR" sz="4000" dirty="0">
                <a:latin typeface="Calibri" panose="020F0502020204030204" pitchFamily="34" charset="0"/>
                <a:ea typeface="Calibri" panose="020F0502020204030204" pitchFamily="34" charset="0"/>
                <a:cs typeface="+mj-cs"/>
              </a:rPr>
              <a:t>چالش‌های اخلاقی و حرفه‌ای و قانونی</a:t>
            </a:r>
          </a:p>
          <a:p>
            <a:pPr marL="571500" indent="-571500">
              <a:buFontTx/>
              <a:buChar char="-"/>
            </a:pPr>
            <a:endParaRPr lang="fa-IR" sz="4000" dirty="0">
              <a:latin typeface="Calibri" panose="020F0502020204030204" pitchFamily="34" charset="0"/>
              <a:ea typeface="Calibri" panose="020F0502020204030204" pitchFamily="34" charset="0"/>
              <a:cs typeface="+mj-cs"/>
            </a:endParaRPr>
          </a:p>
          <a:p>
            <a:pPr marL="571500" indent="-571500">
              <a:buFontTx/>
              <a:buChar char="-"/>
            </a:pPr>
            <a:endParaRPr lang="fa-IR" sz="4000" dirty="0">
              <a:latin typeface="Calibri" panose="020F0502020204030204" pitchFamily="34" charset="0"/>
              <a:ea typeface="Calibri" panose="020F0502020204030204" pitchFamily="34" charset="0"/>
              <a:cs typeface="+mj-cs"/>
            </a:endParaRPr>
          </a:p>
          <a:p>
            <a:pPr marL="571500" indent="-571500">
              <a:buFontTx/>
              <a:buChar char="-"/>
            </a:pPr>
            <a:endParaRPr lang="fa-IR" sz="4000" dirty="0">
              <a:latin typeface="Calibri" panose="020F0502020204030204" pitchFamily="34" charset="0"/>
              <a:ea typeface="Calibri" panose="020F0502020204030204" pitchFamily="34" charset="0"/>
              <a:cs typeface="+mj-cs"/>
            </a:endParaRPr>
          </a:p>
          <a:p>
            <a:r>
              <a:rPr lang="fa-IR" sz="4000" dirty="0">
                <a:solidFill>
                  <a:srgbClr val="CE7E42"/>
                </a:solidFill>
                <a:latin typeface="Calibri" panose="020F0502020204030204" pitchFamily="34" charset="0"/>
                <a:ea typeface="Calibri" panose="020F0502020204030204" pitchFamily="34" charset="0"/>
                <a:cs typeface="+mj-cs"/>
              </a:rPr>
              <a:t>📌 جلسه بعدی:</a:t>
            </a:r>
            <a:r>
              <a:rPr lang="fa-IR" sz="4000" dirty="0">
                <a:latin typeface="Calibri" panose="020F0502020204030204" pitchFamily="34" charset="0"/>
                <a:ea typeface="Calibri" panose="020F0502020204030204" pitchFamily="34" charset="0"/>
                <a:cs typeface="+mj-cs"/>
              </a:rPr>
              <a:t> بررسی موضوعات “دقت” و “اخلاق” در خبرنگاری هوشمند!</a:t>
            </a:r>
          </a:p>
        </p:txBody>
      </p:sp>
      <p:sp>
        <p:nvSpPr>
          <p:cNvPr id="3" name="Slide Number Placeholder 2"/>
          <p:cNvSpPr>
            <a:spLocks noGrp="1"/>
          </p:cNvSpPr>
          <p:nvPr>
            <p:ph type="sldNum" sz="quarter" idx="12"/>
          </p:nvPr>
        </p:nvSpPr>
        <p:spPr/>
        <p:txBody>
          <a:bodyPr/>
          <a:lstStyle/>
          <a:p>
            <a:fld id="{FC7264DD-8205-481D-9B6A-9CE0D2D966EE}" type="slidenum">
              <a:rPr lang="fa-IR" smtClean="0"/>
              <a:t>28</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18347109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cs typeface="B Koodak" panose="00000700000000000000" pitchFamily="2" charset="-78"/>
              </a:rPr>
              <a:t>✅</a:t>
            </a:r>
            <a:r>
              <a:rPr lang="ko-KR" altLang="en-US" sz="6200" dirty="0">
                <a:solidFill>
                  <a:srgbClr val="CE7E42"/>
                </a:solidFill>
                <a:cs typeface="B Koodak" panose="00000700000000000000" pitchFamily="2" charset="-78"/>
              </a:rPr>
              <a:t> </a:t>
            </a:r>
            <a:r>
              <a:rPr lang="fa-IR" sz="6200" dirty="0">
                <a:solidFill>
                  <a:srgbClr val="CE7E42"/>
                </a:solidFill>
                <a:cs typeface="B Koodak" panose="00000700000000000000" pitchFamily="2" charset="-78"/>
              </a:rPr>
              <a:t>دسترسی </a:t>
            </a:r>
            <a:r>
              <a:rPr lang="fa-IR" sz="6200">
                <a:solidFill>
                  <a:srgbClr val="CE7E42"/>
                </a:solidFill>
                <a:cs typeface="B Koodak" panose="00000700000000000000" pitchFamily="2" charset="-78"/>
              </a:rPr>
              <a:t>به منابع:</a:t>
            </a:r>
            <a:endParaRPr lang="fa-IR" sz="6200" dirty="0">
              <a:solidFill>
                <a:srgbClr val="CE7E42"/>
              </a:solidFill>
              <a:cs typeface="B Koodak" panose="00000700000000000000" pitchFamily="2" charset="-78"/>
            </a:endParaRPr>
          </a:p>
          <a:p>
            <a:pPr rtl="0"/>
            <a:endParaRPr lang="en-US" sz="6200" dirty="0">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endParaRPr>
          </a:p>
          <a:p>
            <a:pPr rtl="0"/>
            <a:endParaRPr lang="en-US" sz="6200" dirty="0">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endParaRPr>
          </a:p>
          <a:p>
            <a:pPr rtl="0"/>
            <a:endParaRPr lang="en-US" sz="6200" dirty="0">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endParaRPr>
          </a:p>
          <a:p>
            <a:pPr rtl="0"/>
            <a:endParaRPr lang="en-US" sz="6200" dirty="0">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endParaRPr>
          </a:p>
          <a:p>
            <a:pPr rtl="0"/>
            <a:r>
              <a:rPr lang="en-US" sz="6200" dirty="0">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https://github.com/khadem/IrnaAI</a:t>
            </a:r>
            <a:endParaRPr lang="en-US" sz="6200" dirty="0">
              <a:latin typeface="Calibri" panose="020F0502020204030204" pitchFamily="34" charset="0"/>
              <a:ea typeface="Calibri" panose="020F0502020204030204" pitchFamily="34" charset="0"/>
              <a:cs typeface="Calibri" panose="020F0502020204030204" pitchFamily="34" charset="0"/>
            </a:endParaRPr>
          </a:p>
          <a:p>
            <a:pPr rtl="0"/>
            <a:endParaRPr lang="fa-IR" sz="6200" dirty="0">
              <a:latin typeface="Calibri" panose="020F0502020204030204" pitchFamily="34" charset="0"/>
              <a:ea typeface="Calibri" panose="020F0502020204030204" pitchFamily="34" charset="0"/>
              <a:cs typeface="Calibri" panose="020F0502020204030204" pitchFamily="34" charset="0"/>
            </a:endParaRPr>
          </a:p>
          <a:p>
            <a:pPr marL="571500" indent="-571500">
              <a:buFontTx/>
              <a:buChar char="-"/>
            </a:pPr>
            <a:endParaRPr lang="fa-IR" sz="4000" dirty="0">
              <a:cs typeface="B Koodak" panose="00000700000000000000" pitchFamily="2" charset="-78"/>
            </a:endParaRPr>
          </a:p>
          <a:p>
            <a:pPr marL="571500" indent="-571500">
              <a:buFontTx/>
              <a:buChar char="-"/>
            </a:pPr>
            <a:endParaRPr lang="fa-IR" sz="4000" dirty="0">
              <a:cs typeface="B Koodak" panose="00000700000000000000" pitchFamily="2" charset="-78"/>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29</a:t>
            </a:fld>
            <a:endParaRPr lang="fa-IR"/>
          </a:p>
        </p:txBody>
      </p:sp>
      <p:sp>
        <p:nvSpPr>
          <p:cNvPr id="4" name="Title 3"/>
          <p:cNvSpPr>
            <a:spLocks noGrp="1"/>
          </p:cNvSpPr>
          <p:nvPr>
            <p:ph type="title"/>
          </p:nvPr>
        </p:nvSpPr>
        <p:spPr/>
        <p:txBody>
          <a:bodyPr/>
          <a:lstStyle/>
          <a:p>
            <a:r>
              <a:rPr lang="fa-IR" dirty="0"/>
              <a:t>کاربردهای هوش مصنوعی در خبرنگاری</a:t>
            </a:r>
            <a:endParaRPr lang="fa-IR" dirty="0">
              <a:cs typeface="B Koodak" panose="00000700000000000000" pitchFamily="2" charset="-78"/>
            </a:endParaRPr>
          </a:p>
        </p:txBody>
      </p:sp>
      <p:pic>
        <p:nvPicPr>
          <p:cNvPr id="6" name="Graphic 5">
            <a:extLst>
              <a:ext uri="{FF2B5EF4-FFF2-40B4-BE49-F238E27FC236}">
                <a16:creationId xmlns:a16="http://schemas.microsoft.com/office/drawing/2014/main" id="{6D1633C1-3DA7-4DA7-AC74-527A9ECE8E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12657" y="4687237"/>
            <a:ext cx="4927293" cy="4927293"/>
          </a:xfrm>
          <a:prstGeom prst="rect">
            <a:avLst/>
          </a:prstGeom>
        </p:spPr>
      </p:pic>
    </p:spTree>
    <p:extLst>
      <p:ext uri="{BB962C8B-B14F-4D97-AF65-F5344CB8AC3E}">
        <p14:creationId xmlns:p14="http://schemas.microsoft.com/office/powerpoint/2010/main" val="2846113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305637"/>
          </a:xfrm>
          <a:solidFill>
            <a:schemeClr val="bg2">
              <a:alpha val="75000"/>
            </a:schemeClr>
          </a:solidFill>
        </p:spPr>
        <p:txBody>
          <a:bodyPr>
            <a:noAutofit/>
          </a:bodyPr>
          <a:lstStyle/>
          <a:p>
            <a:r>
              <a:rPr lang="fa-IR" sz="6200" dirty="0">
                <a:solidFill>
                  <a:srgbClr val="CE7E42"/>
                </a:solidFill>
                <a:cs typeface="B Koodak" panose="00000700000000000000" pitchFamily="2" charset="-78"/>
              </a:rPr>
              <a:t>✅ پیوندها: </a:t>
            </a:r>
            <a:endParaRPr lang="fa-IR" sz="6200" dirty="0">
              <a:cs typeface="B Koodak" panose="00000700000000000000" pitchFamily="2" charset="-78"/>
            </a:endParaRPr>
          </a:p>
          <a:p>
            <a:pPr marL="571500" indent="-571500" rtl="0">
              <a:buFont typeface="Courier New" panose="02070309020205020404" pitchFamily="49" charset="0"/>
              <a:buChar char="o"/>
            </a:pPr>
            <a:r>
              <a:rPr lang="en-US" sz="4000" dirty="0">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https://copilot.microsoft.com/</a:t>
            </a:r>
            <a:endParaRPr lang="en-US" sz="4000" dirty="0">
              <a:latin typeface="Calibri" panose="020F0502020204030204" pitchFamily="34" charset="0"/>
              <a:ea typeface="Calibri" panose="020F0502020204030204" pitchFamily="34" charset="0"/>
              <a:cs typeface="Calibri" panose="020F0502020204030204" pitchFamily="34" charset="0"/>
            </a:endParaRPr>
          </a:p>
          <a:p>
            <a:pPr marL="571500" indent="-571500" rtl="0">
              <a:buFont typeface="Courier New" panose="02070309020205020404" pitchFamily="49" charset="0"/>
              <a:buChar char="o"/>
            </a:pPr>
            <a:r>
              <a:rPr lang="en-US" sz="4000" dirty="0">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https://chat.qwen.ai/</a:t>
            </a:r>
            <a:endParaRPr lang="en-US" sz="4000" dirty="0">
              <a:latin typeface="Calibri" panose="020F0502020204030204" pitchFamily="34" charset="0"/>
              <a:ea typeface="Calibri" panose="020F0502020204030204" pitchFamily="34" charset="0"/>
              <a:cs typeface="Calibri" panose="020F0502020204030204" pitchFamily="34" charset="0"/>
            </a:endParaRPr>
          </a:p>
          <a:p>
            <a:pPr marL="571500" indent="-571500" rtl="0">
              <a:buFont typeface="Courier New" panose="02070309020205020404" pitchFamily="49" charset="0"/>
              <a:buChar char="o"/>
            </a:pPr>
            <a:r>
              <a:rPr lang="en-US" sz="4000" dirty="0">
                <a:latin typeface="Calibri" panose="020F0502020204030204" pitchFamily="34" charset="0"/>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https://grok.com/</a:t>
            </a:r>
            <a:endParaRPr lang="en-US" sz="4000" dirty="0">
              <a:latin typeface="Calibri" panose="020F0502020204030204" pitchFamily="34" charset="0"/>
              <a:ea typeface="Calibri" panose="020F0502020204030204" pitchFamily="34" charset="0"/>
              <a:cs typeface="Calibri" panose="020F0502020204030204" pitchFamily="34" charset="0"/>
            </a:endParaRPr>
          </a:p>
          <a:p>
            <a:pPr marL="571500" indent="-571500" rtl="0">
              <a:buFont typeface="Courier New" panose="02070309020205020404" pitchFamily="49" charset="0"/>
              <a:buChar char="o"/>
            </a:pPr>
            <a:r>
              <a:rPr lang="en-US" sz="4000" dirty="0">
                <a:latin typeface="Calibri" panose="020F0502020204030204" pitchFamily="34" charset="0"/>
                <a:ea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https://www.perplexity.ai/</a:t>
            </a:r>
            <a:endParaRPr lang="en-US" sz="4000" dirty="0">
              <a:latin typeface="Calibri" panose="020F0502020204030204" pitchFamily="34" charset="0"/>
              <a:ea typeface="Calibri" panose="020F0502020204030204" pitchFamily="34" charset="0"/>
              <a:cs typeface="Calibri" panose="020F0502020204030204" pitchFamily="34" charset="0"/>
            </a:endParaRPr>
          </a:p>
          <a:p>
            <a:pPr marL="571500" indent="-571500" rtl="0">
              <a:buFont typeface="Courier New" panose="02070309020205020404" pitchFamily="49" charset="0"/>
              <a:buChar char="o"/>
            </a:pPr>
            <a:endParaRPr lang="fa-IR" sz="4000" dirty="0">
              <a:latin typeface="Calibri" panose="020F0502020204030204" pitchFamily="34" charset="0"/>
              <a:ea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30</a:t>
            </a:fld>
            <a:endParaRPr lang="fa-IR"/>
          </a:p>
        </p:txBody>
      </p:sp>
      <p:sp>
        <p:nvSpPr>
          <p:cNvPr id="4" name="Title 3"/>
          <p:cNvSpPr>
            <a:spLocks noGrp="1"/>
          </p:cNvSpPr>
          <p:nvPr>
            <p:ph type="title"/>
          </p:nvPr>
        </p:nvSpPr>
        <p:spPr/>
        <p:txBody>
          <a:bodyPr/>
          <a:lstStyle/>
          <a:p>
            <a:r>
              <a:rPr lang="fa-IR" dirty="0">
                <a:latin typeface="w_Dabestan Pro" panose="02000500000000020004" pitchFamily="2" charset="-78"/>
                <a:cs typeface="+mj-cs"/>
              </a:rPr>
              <a:t>کاربردهای هوش مصنوعی در خبرنگاری</a:t>
            </a:r>
          </a:p>
        </p:txBody>
      </p:sp>
    </p:spTree>
    <p:extLst>
      <p:ext uri="{BB962C8B-B14F-4D97-AF65-F5344CB8AC3E}">
        <p14:creationId xmlns:p14="http://schemas.microsoft.com/office/powerpoint/2010/main" val="66808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796704"/>
          </a:xfrm>
          <a:solidFill>
            <a:schemeClr val="bg2">
              <a:alpha val="75000"/>
            </a:schemeClr>
          </a:solidFill>
        </p:spPr>
        <p:txBody>
          <a:bodyPr>
            <a:noAutofit/>
          </a:bodyPr>
          <a:lstStyle/>
          <a:p>
            <a:pPr rtl="0"/>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1- Generate Story Angles</a:t>
            </a:r>
          </a:p>
          <a:p>
            <a:pPr rtl="0"/>
            <a:r>
              <a:rPr lang="en-US" sz="2800" dirty="0">
                <a:solidFill>
                  <a:srgbClr val="CE7E42"/>
                </a:solidFill>
                <a:latin typeface="Calibri" panose="020F0502020204030204" pitchFamily="34" charset="0"/>
                <a:ea typeface="Calibri" panose="020F0502020204030204" pitchFamily="34" charset="0"/>
                <a:cs typeface="+mj-cs"/>
              </a:rPr>
              <a:t>#CONTEXT: </a:t>
            </a:r>
          </a:p>
          <a:p>
            <a:pPr rtl="0"/>
            <a:r>
              <a:rPr lang="en-US" sz="2800" dirty="0">
                <a:latin typeface="Calibri" panose="020F0502020204030204" pitchFamily="34" charset="0"/>
                <a:ea typeface="Calibri" panose="020F0502020204030204" pitchFamily="34" charset="0"/>
                <a:cs typeface="+mj-cs"/>
              </a:rPr>
              <a:t>You are an expert journalist. Your task is to brainstorm unique and compelling angles for a story on a given topic.</a:t>
            </a:r>
          </a:p>
          <a:p>
            <a:pPr rtl="0"/>
            <a:r>
              <a:rPr lang="en-US" sz="2800" dirty="0">
                <a:solidFill>
                  <a:srgbClr val="CE7E42"/>
                </a:solidFill>
                <a:latin typeface="Calibri" panose="020F0502020204030204" pitchFamily="34" charset="0"/>
                <a:ea typeface="Calibri" panose="020F0502020204030204" pitchFamily="34" charset="0"/>
                <a:cs typeface="+mj-cs"/>
              </a:rPr>
              <a:t>#GOAL: </a:t>
            </a:r>
          </a:p>
          <a:p>
            <a:pPr rtl="0"/>
            <a:r>
              <a:rPr lang="en-US" sz="2800" dirty="0">
                <a:latin typeface="Calibri" panose="020F0502020204030204" pitchFamily="34" charset="0"/>
                <a:ea typeface="Calibri" panose="020F0502020204030204" pitchFamily="34" charset="0"/>
                <a:cs typeface="+mj-cs"/>
              </a:rPr>
              <a:t>Provide a list of 5 creative story angles, each with a brief explanation of the perspective it offers and why it’s engaging.</a:t>
            </a:r>
          </a:p>
          <a:p>
            <a:pPr rtl="0"/>
            <a:r>
              <a:rPr lang="en-US" sz="2800" dirty="0">
                <a:solidFill>
                  <a:srgbClr val="CE7E42"/>
                </a:solidFill>
                <a:latin typeface="Calibri" panose="020F0502020204030204" pitchFamily="34" charset="0"/>
                <a:ea typeface="Calibri" panose="020F0502020204030204" pitchFamily="34" charset="0"/>
                <a:cs typeface="+mj-cs"/>
              </a:rPr>
              <a:t>#INFORMATION:</a:t>
            </a:r>
          </a:p>
          <a:p>
            <a:pPr rtl="0"/>
            <a:r>
              <a:rPr lang="en-US" sz="2800" dirty="0">
                <a:latin typeface="Calibri" panose="020F0502020204030204" pitchFamily="34" charset="0"/>
                <a:ea typeface="Calibri" panose="020F0502020204030204" pitchFamily="34" charset="0"/>
                <a:cs typeface="+mj-cs"/>
              </a:rPr>
              <a:t>    • Topic: [Insert topic, e.g., climate change, AI advancements, local elections].</a:t>
            </a:r>
          </a:p>
          <a:p>
            <a:pPr rtl="0"/>
            <a:r>
              <a:rPr lang="en-US" sz="2800" dirty="0">
                <a:latin typeface="Calibri" panose="020F0502020204030204" pitchFamily="34" charset="0"/>
                <a:ea typeface="Calibri" panose="020F0502020204030204" pitchFamily="34" charset="0"/>
                <a:cs typeface="+mj-cs"/>
              </a:rPr>
              <a:t>    • Audience: [Optional: Describe the audience, e.g., general readers, industry professionals].</a:t>
            </a:r>
          </a:p>
          <a:p>
            <a:pPr rtl="0"/>
            <a:r>
              <a:rPr lang="en-US" sz="2800" dirty="0">
                <a:solidFill>
                  <a:srgbClr val="CE7E42"/>
                </a:solidFill>
                <a:latin typeface="Calibri" panose="020F0502020204030204" pitchFamily="34" charset="0"/>
                <a:ea typeface="Calibri" panose="020F0502020204030204" pitchFamily="34" charset="0"/>
                <a:cs typeface="+mj-cs"/>
              </a:rPr>
              <a:t>#RESPONSE GUIDELINES:</a:t>
            </a:r>
          </a:p>
          <a:p>
            <a:pPr rtl="0"/>
            <a:r>
              <a:rPr lang="en-US" sz="2800" dirty="0">
                <a:latin typeface="Calibri" panose="020F0502020204030204" pitchFamily="34" charset="0"/>
                <a:ea typeface="Calibri" panose="020F0502020204030204" pitchFamily="34" charset="0"/>
                <a:cs typeface="+mj-cs"/>
              </a:rPr>
              <a:t>    1. List 5 story angles with clear and engaging descriptions.</a:t>
            </a:r>
          </a:p>
          <a:p>
            <a:pPr rtl="0"/>
            <a:r>
              <a:rPr lang="en-US" sz="2800" dirty="0">
                <a:latin typeface="Calibri" panose="020F0502020204030204" pitchFamily="34" charset="0"/>
                <a:ea typeface="Calibri" panose="020F0502020204030204" pitchFamily="34" charset="0"/>
                <a:cs typeface="+mj-cs"/>
              </a:rPr>
              <a:t>    2.Ensure each angle highlights a unique perspective or aspect of the topic.</a:t>
            </a:r>
          </a:p>
          <a:p>
            <a:pPr rtl="0"/>
            <a:r>
              <a:rPr lang="en-US" sz="2800" dirty="0">
                <a:latin typeface="Calibri" panose="020F0502020204030204" pitchFamily="34" charset="0"/>
                <a:ea typeface="Calibri" panose="020F0502020204030204" pitchFamily="34" charset="0"/>
                <a:cs typeface="+mj-cs"/>
              </a:rPr>
              <a:t>    3. Avoid generic suggestions; focus on relevance and originality.</a:t>
            </a:r>
          </a:p>
          <a:p>
            <a:pPr rtl="0"/>
            <a:r>
              <a:rPr lang="en-US" sz="2800" dirty="0">
                <a:solidFill>
                  <a:srgbClr val="CE7E42"/>
                </a:solidFill>
                <a:latin typeface="Calibri" panose="020F0502020204030204" pitchFamily="34" charset="0"/>
                <a:ea typeface="Calibri" panose="020F0502020204030204" pitchFamily="34" charset="0"/>
                <a:cs typeface="+mj-cs"/>
              </a:rPr>
              <a:t>#OUTPUT:    </a:t>
            </a:r>
          </a:p>
          <a:p>
            <a:pPr rtl="0"/>
            <a:r>
              <a:rPr lang="en-US" sz="2800" dirty="0">
                <a:latin typeface="Calibri" panose="020F0502020204030204" pitchFamily="34" charset="0"/>
                <a:ea typeface="Calibri" panose="020F0502020204030204" pitchFamily="34" charset="0"/>
                <a:cs typeface="+mj-cs"/>
              </a:rPr>
              <a:t>A list of 5 creative story angles tailored to the provided topic and audience.</a:t>
            </a:r>
            <a:endParaRPr lang="fa-IR" sz="2800" dirty="0">
              <a:latin typeface="Calibri" panose="020F0502020204030204" pitchFamily="34" charset="0"/>
              <a:ea typeface="Calibri" panose="020F0502020204030204" pitchFamily="34" charset="0"/>
              <a:cs typeface="+mj-cs"/>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31</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3035554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32</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pic>
        <p:nvPicPr>
          <p:cNvPr id="12" name="Content Placeholder 11">
            <a:extLst>
              <a:ext uri="{FF2B5EF4-FFF2-40B4-BE49-F238E27FC236}">
                <a16:creationId xmlns:a16="http://schemas.microsoft.com/office/drawing/2014/main" id="{BE2FEF14-B510-4BD1-81B7-2F059487E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67" y="2200200"/>
            <a:ext cx="20049066" cy="9408091"/>
          </a:xfrm>
        </p:spPr>
      </p:pic>
    </p:spTree>
    <p:extLst>
      <p:ext uri="{BB962C8B-B14F-4D97-AF65-F5344CB8AC3E}">
        <p14:creationId xmlns:p14="http://schemas.microsoft.com/office/powerpoint/2010/main" val="5176946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796704"/>
          </a:xfrm>
          <a:solidFill>
            <a:schemeClr val="bg2">
              <a:alpha val="75000"/>
            </a:schemeClr>
          </a:solidFill>
        </p:spPr>
        <p:txBody>
          <a:bodyPr>
            <a:noAutofit/>
          </a:bodyPr>
          <a:lstStyle/>
          <a:p>
            <a:pPr rtl="0"/>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2- Summarize Complex Topics</a:t>
            </a:r>
          </a:p>
          <a:p>
            <a:pPr rtl="0"/>
            <a:r>
              <a:rPr lang="en-US" sz="2800" dirty="0">
                <a:solidFill>
                  <a:srgbClr val="CE7E42"/>
                </a:solidFill>
                <a:latin typeface="Calibri" panose="020F0502020204030204" pitchFamily="34" charset="0"/>
                <a:ea typeface="Calibri" panose="020F0502020204030204" pitchFamily="34" charset="0"/>
                <a:cs typeface="+mj-cs"/>
              </a:rPr>
              <a:t>#CONTEXT: 	</a:t>
            </a:r>
            <a:r>
              <a:rPr lang="en-US" sz="2800" dirty="0">
                <a:latin typeface="Calibri" panose="020F0502020204030204" pitchFamily="34" charset="0"/>
                <a:ea typeface="Calibri" panose="020F0502020204030204" pitchFamily="34" charset="0"/>
                <a:cs typeface="+mj-cs"/>
              </a:rPr>
              <a:t>You are an expert summarizer. Your task is to condense complex information into a clear and concise summary that is easy to understand.</a:t>
            </a:r>
          </a:p>
          <a:p>
            <a:pPr rtl="0"/>
            <a:r>
              <a:rPr lang="en-US" sz="2800" dirty="0">
                <a:solidFill>
                  <a:srgbClr val="CE7E42"/>
                </a:solidFill>
                <a:latin typeface="Calibri" panose="020F0502020204030204" pitchFamily="34" charset="0"/>
                <a:ea typeface="Calibri" panose="020F0502020204030204" pitchFamily="34" charset="0"/>
                <a:cs typeface="+mj-cs"/>
              </a:rPr>
              <a:t>#GOAL:</a:t>
            </a:r>
            <a:r>
              <a:rPr lang="en-US" sz="2800" dirty="0">
                <a:latin typeface="Calibri" panose="020F0502020204030204" pitchFamily="34" charset="0"/>
                <a:ea typeface="Calibri" panose="020F0502020204030204" pitchFamily="34" charset="0"/>
                <a:cs typeface="+mj-cs"/>
              </a:rPr>
              <a:t>	Provide a 150-word summary of a detailed report, article, or study, highlighting the key points and implications.</a:t>
            </a:r>
          </a:p>
          <a:p>
            <a:pPr rtl="0"/>
            <a:r>
              <a:rPr lang="en-US" sz="2800" dirty="0">
                <a:solidFill>
                  <a:srgbClr val="CE7E42"/>
                </a:solidFill>
                <a:latin typeface="Calibri" panose="020F0502020204030204" pitchFamily="34" charset="0"/>
                <a:ea typeface="Calibri" panose="020F0502020204030204" pitchFamily="34" charset="0"/>
                <a:cs typeface="+mj-cs"/>
              </a:rPr>
              <a:t>#INFORMATION:</a:t>
            </a:r>
          </a:p>
          <a:p>
            <a:pPr rtl="0"/>
            <a:r>
              <a:rPr lang="en-US" sz="2800" dirty="0">
                <a:latin typeface="Calibri" panose="020F0502020204030204" pitchFamily="34" charset="0"/>
                <a:ea typeface="Calibri" panose="020F0502020204030204" pitchFamily="34" charset="0"/>
                <a:cs typeface="+mj-cs"/>
              </a:rPr>
              <a:t>    • Topic: [Insert topic or link to source material].</a:t>
            </a:r>
          </a:p>
          <a:p>
            <a:pPr rtl="0"/>
            <a:r>
              <a:rPr lang="en-US" sz="2800" dirty="0">
                <a:latin typeface="Calibri" panose="020F0502020204030204" pitchFamily="34" charset="0"/>
                <a:ea typeface="Calibri" panose="020F0502020204030204" pitchFamily="34" charset="0"/>
                <a:cs typeface="+mj-cs"/>
              </a:rPr>
              <a:t>    • Purpose: [E.g., summarize for general readers, provide a quick overview for professionals].</a:t>
            </a:r>
          </a:p>
          <a:p>
            <a:pPr rtl="0"/>
            <a:r>
              <a:rPr lang="en-US" sz="2800" dirty="0">
                <a:solidFill>
                  <a:srgbClr val="CE7E42"/>
                </a:solidFill>
                <a:latin typeface="Calibri" panose="020F0502020204030204" pitchFamily="34" charset="0"/>
                <a:ea typeface="Calibri" panose="020F0502020204030204" pitchFamily="34" charset="0"/>
                <a:cs typeface="+mj-cs"/>
              </a:rPr>
              <a:t>#RESPONSE GUIDELINES:</a:t>
            </a:r>
          </a:p>
          <a:p>
            <a:pPr rtl="0"/>
            <a:r>
              <a:rPr lang="en-US" sz="2800" dirty="0">
                <a:latin typeface="Calibri" panose="020F0502020204030204" pitchFamily="34" charset="0"/>
                <a:ea typeface="Calibri" panose="020F0502020204030204" pitchFamily="34" charset="0"/>
                <a:cs typeface="+mj-cs"/>
              </a:rPr>
              <a:t>    1. Begin with the main takeaway.</a:t>
            </a:r>
          </a:p>
          <a:p>
            <a:pPr rtl="0"/>
            <a:r>
              <a:rPr lang="en-US" sz="2800" dirty="0">
                <a:latin typeface="Calibri" panose="020F0502020204030204" pitchFamily="34" charset="0"/>
                <a:ea typeface="Calibri" panose="020F0502020204030204" pitchFamily="34" charset="0"/>
                <a:cs typeface="+mj-cs"/>
              </a:rPr>
              <a:t>    2. Include the most critical details, avoiding unnecessary jargon.</a:t>
            </a:r>
          </a:p>
          <a:p>
            <a:pPr rtl="0"/>
            <a:r>
              <a:rPr lang="en-US" sz="2800" dirty="0">
                <a:latin typeface="Calibri" panose="020F0502020204030204" pitchFamily="34" charset="0"/>
                <a:ea typeface="Calibri" panose="020F0502020204030204" pitchFamily="34" charset="0"/>
                <a:cs typeface="+mj-cs"/>
              </a:rPr>
              <a:t>    3. Present the summary in a way that is easy to read and understand.</a:t>
            </a:r>
          </a:p>
          <a:p>
            <a:pPr rtl="0"/>
            <a:r>
              <a:rPr lang="en-US" sz="2800" dirty="0">
                <a:solidFill>
                  <a:srgbClr val="CE7E42"/>
                </a:solidFill>
                <a:latin typeface="Calibri" panose="020F0502020204030204" pitchFamily="34" charset="0"/>
                <a:ea typeface="Calibri" panose="020F0502020204030204" pitchFamily="34" charset="0"/>
                <a:cs typeface="+mj-cs"/>
              </a:rPr>
              <a:t>#OUTPUT:</a:t>
            </a:r>
            <a:r>
              <a:rPr lang="en-US" sz="2800" dirty="0">
                <a:latin typeface="Calibri" panose="020F0502020204030204" pitchFamily="34" charset="0"/>
                <a:ea typeface="Calibri" panose="020F0502020204030204" pitchFamily="34" charset="0"/>
                <a:cs typeface="+mj-cs"/>
              </a:rPr>
              <a:t>	A clear and concise summary of the provided topic or material.</a:t>
            </a:r>
            <a:endParaRPr lang="fa-IR" sz="2800" dirty="0">
              <a:latin typeface="Calibri" panose="020F0502020204030204" pitchFamily="34" charset="0"/>
              <a:ea typeface="Calibri" panose="020F0502020204030204" pitchFamily="34" charset="0"/>
              <a:cs typeface="+mj-cs"/>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33</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32504359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34</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pic>
        <p:nvPicPr>
          <p:cNvPr id="12" name="Content Placeholder 11">
            <a:extLst>
              <a:ext uri="{FF2B5EF4-FFF2-40B4-BE49-F238E27FC236}">
                <a16:creationId xmlns:a16="http://schemas.microsoft.com/office/drawing/2014/main" id="{BE2FEF14-B510-4BD1-81B7-2F059487E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67" y="2200200"/>
            <a:ext cx="20049066" cy="9408090"/>
          </a:xfrm>
        </p:spPr>
      </p:pic>
    </p:spTree>
    <p:extLst>
      <p:ext uri="{BB962C8B-B14F-4D97-AF65-F5344CB8AC3E}">
        <p14:creationId xmlns:p14="http://schemas.microsoft.com/office/powerpoint/2010/main" val="40844408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796704"/>
          </a:xfrm>
          <a:solidFill>
            <a:schemeClr val="bg2">
              <a:alpha val="75000"/>
            </a:schemeClr>
          </a:solidFill>
        </p:spPr>
        <p:txBody>
          <a:bodyPr>
            <a:noAutofit/>
          </a:bodyPr>
          <a:lstStyle/>
          <a:p>
            <a:pPr rtl="0"/>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3- Create Interview Questions</a:t>
            </a:r>
          </a:p>
          <a:p>
            <a:pPr rtl="0"/>
            <a:r>
              <a:rPr lang="en-US" sz="2800" dirty="0">
                <a:solidFill>
                  <a:srgbClr val="CE7E42"/>
                </a:solidFill>
                <a:latin typeface="Calibri" panose="020F0502020204030204" pitchFamily="34" charset="0"/>
                <a:ea typeface="Calibri" panose="020F0502020204030204" pitchFamily="34" charset="0"/>
                <a:cs typeface="+mj-cs"/>
              </a:rPr>
              <a:t>#CONTEXT:</a:t>
            </a:r>
          </a:p>
          <a:p>
            <a:pPr rtl="0"/>
            <a:r>
              <a:rPr lang="en-US" sz="2800" dirty="0">
                <a:latin typeface="Calibri" panose="020F0502020204030204" pitchFamily="34" charset="0"/>
                <a:ea typeface="Calibri" panose="020F0502020204030204" pitchFamily="34" charset="0"/>
                <a:cs typeface="+mj-cs"/>
              </a:rPr>
              <a:t>You are a seasoned journalist preparing for an interview. Your task is to generate thoughtful and relevant questions tailored to a specific subject or person.</a:t>
            </a:r>
          </a:p>
          <a:p>
            <a:pPr rtl="0"/>
            <a:r>
              <a:rPr lang="en-US" sz="2800" dirty="0">
                <a:solidFill>
                  <a:srgbClr val="CE7E42"/>
                </a:solidFill>
                <a:latin typeface="Calibri" panose="020F0502020204030204" pitchFamily="34" charset="0"/>
                <a:ea typeface="Calibri" panose="020F0502020204030204" pitchFamily="34" charset="0"/>
                <a:cs typeface="+mj-cs"/>
              </a:rPr>
              <a:t>#GOAL:</a:t>
            </a:r>
            <a:r>
              <a:rPr lang="en-US" sz="2800" dirty="0">
                <a:latin typeface="Calibri" panose="020F0502020204030204" pitchFamily="34" charset="0"/>
                <a:ea typeface="Calibri" panose="020F0502020204030204" pitchFamily="34" charset="0"/>
                <a:cs typeface="+mj-cs"/>
              </a:rPr>
              <a:t>	Provide a list of 10 interview questions that encourage meaningful discussion and insightful answers.</a:t>
            </a:r>
          </a:p>
          <a:p>
            <a:pPr rtl="0"/>
            <a:r>
              <a:rPr lang="en-US" sz="2800" dirty="0">
                <a:solidFill>
                  <a:srgbClr val="CE7E42"/>
                </a:solidFill>
                <a:latin typeface="Calibri" panose="020F0502020204030204" pitchFamily="34" charset="0"/>
                <a:ea typeface="Calibri" panose="020F0502020204030204" pitchFamily="34" charset="0"/>
                <a:cs typeface="+mj-cs"/>
              </a:rPr>
              <a:t>#INFORMATION:</a:t>
            </a:r>
          </a:p>
          <a:p>
            <a:pPr rtl="0"/>
            <a:r>
              <a:rPr lang="en-US" sz="2800" dirty="0">
                <a:latin typeface="Calibri" panose="020F0502020204030204" pitchFamily="34" charset="0"/>
                <a:ea typeface="Calibri" panose="020F0502020204030204" pitchFamily="34" charset="0"/>
                <a:cs typeface="+mj-cs"/>
              </a:rPr>
              <a:t>    • Interview subject: [Name or profession].</a:t>
            </a:r>
          </a:p>
          <a:p>
            <a:pPr rtl="0"/>
            <a:r>
              <a:rPr lang="en-US" sz="2800" dirty="0">
                <a:latin typeface="Calibri" panose="020F0502020204030204" pitchFamily="34" charset="0"/>
                <a:ea typeface="Calibri" panose="020F0502020204030204" pitchFamily="34" charset="0"/>
                <a:cs typeface="+mj-cs"/>
              </a:rPr>
              <a:t>    • Topic focus: [E.g., technology, personal achievements, industry trends].</a:t>
            </a:r>
          </a:p>
          <a:p>
            <a:pPr rtl="0"/>
            <a:r>
              <a:rPr lang="en-US" sz="2800" dirty="0">
                <a:solidFill>
                  <a:srgbClr val="CE7E42"/>
                </a:solidFill>
                <a:latin typeface="Calibri" panose="020F0502020204030204" pitchFamily="34" charset="0"/>
                <a:ea typeface="Calibri" panose="020F0502020204030204" pitchFamily="34" charset="0"/>
                <a:cs typeface="+mj-cs"/>
              </a:rPr>
              <a:t>#RESPONSE GUIDELINES:</a:t>
            </a:r>
          </a:p>
          <a:p>
            <a:pPr rtl="0"/>
            <a:r>
              <a:rPr lang="en-US" sz="2800" dirty="0">
                <a:latin typeface="Calibri" panose="020F0502020204030204" pitchFamily="34" charset="0"/>
                <a:ea typeface="Calibri" panose="020F0502020204030204" pitchFamily="34" charset="0"/>
                <a:cs typeface="+mj-cs"/>
              </a:rPr>
              <a:t>    1. Include open-ended questions that encourage detailed responses.</a:t>
            </a:r>
          </a:p>
          <a:p>
            <a:pPr rtl="0"/>
            <a:r>
              <a:rPr lang="en-US" sz="2800" dirty="0">
                <a:latin typeface="Calibri" panose="020F0502020204030204" pitchFamily="34" charset="0"/>
                <a:ea typeface="Calibri" panose="020F0502020204030204" pitchFamily="34" charset="0"/>
                <a:cs typeface="+mj-cs"/>
              </a:rPr>
              <a:t>    2. Avoid overly generic or predictable questions.</a:t>
            </a:r>
          </a:p>
          <a:p>
            <a:pPr rtl="0"/>
            <a:r>
              <a:rPr lang="en-US" sz="2800" dirty="0">
                <a:latin typeface="Calibri" panose="020F0502020204030204" pitchFamily="34" charset="0"/>
                <a:ea typeface="Calibri" panose="020F0502020204030204" pitchFamily="34" charset="0"/>
                <a:cs typeface="+mj-cs"/>
              </a:rPr>
              <a:t>    3. Ensure the questions are relevant to the subject’s expertise or experience.</a:t>
            </a:r>
          </a:p>
          <a:p>
            <a:pPr rtl="0"/>
            <a:r>
              <a:rPr lang="en-US" sz="2800" dirty="0">
                <a:solidFill>
                  <a:srgbClr val="CE7E42"/>
                </a:solidFill>
                <a:latin typeface="Calibri" panose="020F0502020204030204" pitchFamily="34" charset="0"/>
                <a:ea typeface="Calibri" panose="020F0502020204030204" pitchFamily="34" charset="0"/>
                <a:cs typeface="+mj-cs"/>
              </a:rPr>
              <a:t>#OUTPUT:</a:t>
            </a:r>
            <a:r>
              <a:rPr lang="en-US" sz="2800" dirty="0">
                <a:latin typeface="Calibri" panose="020F0502020204030204" pitchFamily="34" charset="0"/>
                <a:ea typeface="Calibri" panose="020F0502020204030204" pitchFamily="34" charset="0"/>
                <a:cs typeface="+mj-cs"/>
              </a:rPr>
              <a:t>	A list of 10 well-crafted interview questions.</a:t>
            </a:r>
            <a:endParaRPr lang="fa-IR" sz="2800" dirty="0">
              <a:latin typeface="Calibri" panose="020F0502020204030204" pitchFamily="34" charset="0"/>
              <a:ea typeface="Calibri" panose="020F0502020204030204" pitchFamily="34" charset="0"/>
              <a:cs typeface="+mj-cs"/>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35</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3239886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36</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pic>
        <p:nvPicPr>
          <p:cNvPr id="12" name="Content Placeholder 11">
            <a:extLst>
              <a:ext uri="{FF2B5EF4-FFF2-40B4-BE49-F238E27FC236}">
                <a16:creationId xmlns:a16="http://schemas.microsoft.com/office/drawing/2014/main" id="{BE2FEF14-B510-4BD1-81B7-2F059487E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67" y="2200200"/>
            <a:ext cx="20049065" cy="9408090"/>
          </a:xfrm>
        </p:spPr>
      </p:pic>
    </p:spTree>
    <p:extLst>
      <p:ext uri="{BB962C8B-B14F-4D97-AF65-F5344CB8AC3E}">
        <p14:creationId xmlns:p14="http://schemas.microsoft.com/office/powerpoint/2010/main" val="2864122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796704"/>
          </a:xfrm>
          <a:solidFill>
            <a:schemeClr val="bg2">
              <a:alpha val="75000"/>
            </a:schemeClr>
          </a:solidFill>
        </p:spPr>
        <p:txBody>
          <a:bodyPr>
            <a:noAutofit/>
          </a:bodyPr>
          <a:lstStyle/>
          <a:p>
            <a:pPr rtl="0"/>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4- Fact-Check Information</a:t>
            </a:r>
          </a:p>
          <a:p>
            <a:pPr rtl="0"/>
            <a:r>
              <a:rPr lang="en-US" sz="2800" dirty="0">
                <a:solidFill>
                  <a:srgbClr val="CE7E42"/>
                </a:solidFill>
                <a:latin typeface="Calibri" panose="020F0502020204030204" pitchFamily="34" charset="0"/>
                <a:ea typeface="Calibri" panose="020F0502020204030204" pitchFamily="34" charset="0"/>
                <a:cs typeface="+mj-cs"/>
              </a:rPr>
              <a:t>#CONTEXT:	</a:t>
            </a:r>
          </a:p>
          <a:p>
            <a:pPr rtl="0"/>
            <a:r>
              <a:rPr lang="en-US" sz="2800" dirty="0">
                <a:latin typeface="Calibri" panose="020F0502020204030204" pitchFamily="34" charset="0"/>
                <a:ea typeface="Calibri" panose="020F0502020204030204" pitchFamily="34" charset="0"/>
                <a:cs typeface="+mj-cs"/>
              </a:rPr>
              <a:t>You are a fact-checker. Your task is to verify the accuracy of specific claims or pieces of information using credible sources.</a:t>
            </a:r>
          </a:p>
          <a:p>
            <a:pPr rtl="0"/>
            <a:r>
              <a:rPr lang="en-US" sz="2800" dirty="0">
                <a:solidFill>
                  <a:srgbClr val="CE7E42"/>
                </a:solidFill>
                <a:latin typeface="Calibri" panose="020F0502020204030204" pitchFamily="34" charset="0"/>
                <a:ea typeface="Calibri" panose="020F0502020204030204" pitchFamily="34" charset="0"/>
                <a:cs typeface="+mj-cs"/>
              </a:rPr>
              <a:t>#GOAL:</a:t>
            </a:r>
            <a:r>
              <a:rPr lang="en-US" sz="2800" dirty="0">
                <a:latin typeface="Calibri" panose="020F0502020204030204" pitchFamily="34" charset="0"/>
                <a:ea typeface="Calibri" panose="020F0502020204030204" pitchFamily="34" charset="0"/>
                <a:cs typeface="+mj-cs"/>
              </a:rPr>
              <a:t>	</a:t>
            </a:r>
          </a:p>
          <a:p>
            <a:pPr rtl="0"/>
            <a:r>
              <a:rPr lang="en-US" sz="2800" dirty="0">
                <a:latin typeface="Calibri" panose="020F0502020204030204" pitchFamily="34" charset="0"/>
                <a:ea typeface="Calibri" panose="020F0502020204030204" pitchFamily="34" charset="0"/>
                <a:cs typeface="+mj-cs"/>
              </a:rPr>
              <a:t>Cross-check the provided information and list whether it is accurate, partially accurate, or inaccurate, with a brief explanation.</a:t>
            </a:r>
          </a:p>
          <a:p>
            <a:pPr rtl="0"/>
            <a:r>
              <a:rPr lang="en-US" sz="2800" dirty="0">
                <a:solidFill>
                  <a:srgbClr val="CE7E42"/>
                </a:solidFill>
                <a:latin typeface="Calibri" panose="020F0502020204030204" pitchFamily="34" charset="0"/>
                <a:ea typeface="Calibri" panose="020F0502020204030204" pitchFamily="34" charset="0"/>
                <a:cs typeface="+mj-cs"/>
              </a:rPr>
              <a:t>#INFORMATION:</a:t>
            </a:r>
          </a:p>
          <a:p>
            <a:pPr rtl="0"/>
            <a:r>
              <a:rPr lang="en-US" sz="2800" dirty="0">
                <a:latin typeface="Calibri" panose="020F0502020204030204" pitchFamily="34" charset="0"/>
                <a:ea typeface="Calibri" panose="020F0502020204030204" pitchFamily="34" charset="0"/>
                <a:cs typeface="+mj-cs"/>
              </a:rPr>
              <a:t>    • Claim or data: [Insert claim or data point].</a:t>
            </a:r>
          </a:p>
          <a:p>
            <a:pPr rtl="0"/>
            <a:r>
              <a:rPr lang="en-US" sz="2800" dirty="0">
                <a:latin typeface="Calibri" panose="020F0502020204030204" pitchFamily="34" charset="0"/>
                <a:ea typeface="Calibri" panose="020F0502020204030204" pitchFamily="34" charset="0"/>
                <a:cs typeface="+mj-cs"/>
              </a:rPr>
              <a:t>    • Source preference: [Optional: Specify preferred sources, e.g., government reports, academic papers].</a:t>
            </a:r>
          </a:p>
          <a:p>
            <a:pPr rtl="0"/>
            <a:r>
              <a:rPr lang="en-US" sz="2800" dirty="0">
                <a:solidFill>
                  <a:srgbClr val="CE7E42"/>
                </a:solidFill>
                <a:latin typeface="Calibri" panose="020F0502020204030204" pitchFamily="34" charset="0"/>
                <a:ea typeface="Calibri" panose="020F0502020204030204" pitchFamily="34" charset="0"/>
                <a:cs typeface="+mj-cs"/>
              </a:rPr>
              <a:t>#RESPONSE GUIDELINES:</a:t>
            </a:r>
          </a:p>
          <a:p>
            <a:pPr rtl="0"/>
            <a:r>
              <a:rPr lang="en-US" sz="2800" dirty="0">
                <a:latin typeface="Calibri" panose="020F0502020204030204" pitchFamily="34" charset="0"/>
                <a:ea typeface="Calibri" panose="020F0502020204030204" pitchFamily="34" charset="0"/>
                <a:cs typeface="+mj-cs"/>
              </a:rPr>
              <a:t>    1. Confirm or refute the claim based on credible sources.</a:t>
            </a:r>
          </a:p>
          <a:p>
            <a:pPr rtl="0"/>
            <a:r>
              <a:rPr lang="en-US" sz="2800" dirty="0">
                <a:latin typeface="Calibri" panose="020F0502020204030204" pitchFamily="34" charset="0"/>
                <a:ea typeface="Calibri" panose="020F0502020204030204" pitchFamily="34" charset="0"/>
                <a:cs typeface="+mj-cs"/>
              </a:rPr>
              <a:t>    2. Provide a short explanation for your conclusion.</a:t>
            </a:r>
          </a:p>
          <a:p>
            <a:pPr rtl="0"/>
            <a:r>
              <a:rPr lang="en-US" sz="2800" dirty="0">
                <a:latin typeface="Calibri" panose="020F0502020204030204" pitchFamily="34" charset="0"/>
                <a:ea typeface="Calibri" panose="020F0502020204030204" pitchFamily="34" charset="0"/>
                <a:cs typeface="+mj-cs"/>
              </a:rPr>
              <a:t>    3. If uncertain, suggest additional ways to verify the claim.</a:t>
            </a:r>
          </a:p>
          <a:p>
            <a:pPr rtl="0"/>
            <a:r>
              <a:rPr lang="en-US" sz="2800" dirty="0">
                <a:solidFill>
                  <a:srgbClr val="CE7E42"/>
                </a:solidFill>
                <a:latin typeface="Calibri" panose="020F0502020204030204" pitchFamily="34" charset="0"/>
                <a:ea typeface="Calibri" panose="020F0502020204030204" pitchFamily="34" charset="0"/>
                <a:cs typeface="+mj-cs"/>
              </a:rPr>
              <a:t>#OUTPUT:</a:t>
            </a:r>
            <a:r>
              <a:rPr lang="en-US" sz="2800" dirty="0">
                <a:latin typeface="Calibri" panose="020F0502020204030204" pitchFamily="34" charset="0"/>
                <a:ea typeface="Calibri" panose="020F0502020204030204" pitchFamily="34" charset="0"/>
                <a:cs typeface="+mj-cs"/>
              </a:rPr>
              <a:t>	A fact-checking summary with findings and sources.</a:t>
            </a:r>
            <a:endParaRPr lang="fa-IR" sz="2800" dirty="0">
              <a:latin typeface="Calibri" panose="020F0502020204030204" pitchFamily="34" charset="0"/>
              <a:ea typeface="Calibri" panose="020F0502020204030204" pitchFamily="34" charset="0"/>
              <a:cs typeface="+mj-cs"/>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37</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15634558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38</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pic>
        <p:nvPicPr>
          <p:cNvPr id="12" name="Content Placeholder 11">
            <a:extLst>
              <a:ext uri="{FF2B5EF4-FFF2-40B4-BE49-F238E27FC236}">
                <a16:creationId xmlns:a16="http://schemas.microsoft.com/office/drawing/2014/main" id="{BE2FEF14-B510-4BD1-81B7-2F059487E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67" y="2200200"/>
            <a:ext cx="20049065" cy="9408089"/>
          </a:xfrm>
        </p:spPr>
      </p:pic>
    </p:spTree>
    <p:extLst>
      <p:ext uri="{BB962C8B-B14F-4D97-AF65-F5344CB8AC3E}">
        <p14:creationId xmlns:p14="http://schemas.microsoft.com/office/powerpoint/2010/main" val="1579137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796704"/>
          </a:xfrm>
          <a:solidFill>
            <a:schemeClr val="bg2">
              <a:alpha val="75000"/>
            </a:schemeClr>
          </a:solidFill>
        </p:spPr>
        <p:txBody>
          <a:bodyPr>
            <a:noAutofit/>
          </a:bodyPr>
          <a:lstStyle/>
          <a:p>
            <a:pPr rtl="0"/>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5- Draft Headlines</a:t>
            </a:r>
          </a:p>
          <a:p>
            <a:pPr rtl="0"/>
            <a:r>
              <a:rPr lang="en-US" sz="2800" dirty="0">
                <a:solidFill>
                  <a:srgbClr val="CE7E42"/>
                </a:solidFill>
                <a:latin typeface="Calibri" panose="020F0502020204030204" pitchFamily="34" charset="0"/>
                <a:ea typeface="Calibri" panose="020F0502020204030204" pitchFamily="34" charset="0"/>
                <a:cs typeface="+mj-cs"/>
              </a:rPr>
              <a:t>#CONTEXT:</a:t>
            </a:r>
          </a:p>
          <a:p>
            <a:pPr rtl="0"/>
            <a:r>
              <a:rPr lang="en-US" sz="2800" dirty="0">
                <a:latin typeface="Calibri" panose="020F0502020204030204" pitchFamily="34" charset="0"/>
                <a:ea typeface="Calibri" panose="020F0502020204030204" pitchFamily="34" charset="0"/>
                <a:cs typeface="+mj-cs"/>
              </a:rPr>
              <a:t>You are a creative copywriter specializing in headlines. Your task is to generate attention-grabbing and SEO-friendly headlines for an article.</a:t>
            </a:r>
          </a:p>
          <a:p>
            <a:pPr rtl="0"/>
            <a:r>
              <a:rPr lang="en-US" sz="2800" dirty="0">
                <a:solidFill>
                  <a:srgbClr val="CE7E42"/>
                </a:solidFill>
                <a:latin typeface="Calibri" panose="020F0502020204030204" pitchFamily="34" charset="0"/>
                <a:ea typeface="Calibri" panose="020F0502020204030204" pitchFamily="34" charset="0"/>
                <a:cs typeface="+mj-cs"/>
              </a:rPr>
              <a:t>#GOAL: </a:t>
            </a:r>
            <a:r>
              <a:rPr lang="en-US" sz="2800" dirty="0">
                <a:latin typeface="Calibri" panose="020F0502020204030204" pitchFamily="34" charset="0"/>
                <a:ea typeface="Calibri" panose="020F0502020204030204" pitchFamily="34" charset="0"/>
                <a:cs typeface="+mj-cs"/>
              </a:rPr>
              <a:t>Provide 5 headline options for the given topic, optimized for search engines and reader engagement.</a:t>
            </a:r>
          </a:p>
          <a:p>
            <a:pPr rtl="0"/>
            <a:r>
              <a:rPr lang="en-US" sz="2800" dirty="0">
                <a:solidFill>
                  <a:srgbClr val="CE7E42"/>
                </a:solidFill>
                <a:latin typeface="Calibri" panose="020F0502020204030204" pitchFamily="34" charset="0"/>
                <a:ea typeface="Calibri" panose="020F0502020204030204" pitchFamily="34" charset="0"/>
                <a:cs typeface="+mj-cs"/>
              </a:rPr>
              <a:t>#INFORMATION:</a:t>
            </a:r>
          </a:p>
          <a:p>
            <a:pPr rtl="0"/>
            <a:r>
              <a:rPr lang="en-US" sz="2800" dirty="0">
                <a:latin typeface="Calibri" panose="020F0502020204030204" pitchFamily="34" charset="0"/>
                <a:ea typeface="Calibri" panose="020F0502020204030204" pitchFamily="34" charset="0"/>
                <a:cs typeface="+mj-cs"/>
              </a:rPr>
              <a:t>    • Topic: [Insert topic].</a:t>
            </a:r>
          </a:p>
          <a:p>
            <a:pPr rtl="0"/>
            <a:r>
              <a:rPr lang="en-US" sz="2800" dirty="0">
                <a:latin typeface="Calibri" panose="020F0502020204030204" pitchFamily="34" charset="0"/>
                <a:ea typeface="Calibri" panose="020F0502020204030204" pitchFamily="34" charset="0"/>
                <a:cs typeface="+mj-cs"/>
              </a:rPr>
              <a:t>    • Target audience: [Optional: General readers, professionals, etc.].</a:t>
            </a:r>
          </a:p>
          <a:p>
            <a:pPr rtl="0"/>
            <a:r>
              <a:rPr lang="en-US" sz="2800" dirty="0">
                <a:solidFill>
                  <a:srgbClr val="CE7E42"/>
                </a:solidFill>
                <a:latin typeface="Calibri" panose="020F0502020204030204" pitchFamily="34" charset="0"/>
                <a:ea typeface="Calibri" panose="020F0502020204030204" pitchFamily="34" charset="0"/>
                <a:cs typeface="+mj-cs"/>
              </a:rPr>
              <a:t>#RESPONSE GUIDELINES:</a:t>
            </a:r>
          </a:p>
          <a:p>
            <a:pPr rtl="0"/>
            <a:r>
              <a:rPr lang="en-US" sz="2800" dirty="0">
                <a:latin typeface="Calibri" panose="020F0502020204030204" pitchFamily="34" charset="0"/>
                <a:ea typeface="Calibri" panose="020F0502020204030204" pitchFamily="34" charset="0"/>
                <a:cs typeface="+mj-cs"/>
              </a:rPr>
              <a:t>    1. Make the headlines concise yet compelling.</a:t>
            </a:r>
          </a:p>
          <a:p>
            <a:pPr rtl="0"/>
            <a:r>
              <a:rPr lang="en-US" sz="2800" dirty="0">
                <a:latin typeface="Calibri" panose="020F0502020204030204" pitchFamily="34" charset="0"/>
                <a:ea typeface="Calibri" panose="020F0502020204030204" pitchFamily="34" charset="0"/>
                <a:cs typeface="+mj-cs"/>
              </a:rPr>
              <a:t>    2. Incorporate relevant keywords for SEO.</a:t>
            </a:r>
          </a:p>
          <a:p>
            <a:pPr rtl="0"/>
            <a:r>
              <a:rPr lang="en-US" sz="2800" dirty="0">
                <a:latin typeface="Calibri" panose="020F0502020204030204" pitchFamily="34" charset="0"/>
                <a:ea typeface="Calibri" panose="020F0502020204030204" pitchFamily="34" charset="0"/>
                <a:cs typeface="+mj-cs"/>
              </a:rPr>
              <a:t>    3. Vary the tone and style for different audiences.</a:t>
            </a:r>
          </a:p>
          <a:p>
            <a:pPr rtl="0"/>
            <a:r>
              <a:rPr lang="en-US" sz="2800" dirty="0">
                <a:solidFill>
                  <a:srgbClr val="CE7E42"/>
                </a:solidFill>
                <a:latin typeface="Calibri" panose="020F0502020204030204" pitchFamily="34" charset="0"/>
                <a:ea typeface="Calibri" panose="020F0502020204030204" pitchFamily="34" charset="0"/>
                <a:cs typeface="+mj-cs"/>
              </a:rPr>
              <a:t>#OUTPUT:</a:t>
            </a:r>
            <a:r>
              <a:rPr lang="en-US" sz="2800" dirty="0">
                <a:latin typeface="Calibri" panose="020F0502020204030204" pitchFamily="34" charset="0"/>
                <a:ea typeface="Calibri" panose="020F0502020204030204" pitchFamily="34" charset="0"/>
                <a:cs typeface="+mj-cs"/>
              </a:rPr>
              <a:t> 5 unique and engaging headline options.</a:t>
            </a:r>
            <a:endParaRPr lang="fa-IR" sz="2800" dirty="0">
              <a:latin typeface="Calibri" panose="020F0502020204030204" pitchFamily="34" charset="0"/>
              <a:ea typeface="Calibri" panose="020F0502020204030204" pitchFamily="34" charset="0"/>
              <a:cs typeface="+mj-cs"/>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39</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8052266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40</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pic>
        <p:nvPicPr>
          <p:cNvPr id="12" name="Content Placeholder 11">
            <a:extLst>
              <a:ext uri="{FF2B5EF4-FFF2-40B4-BE49-F238E27FC236}">
                <a16:creationId xmlns:a16="http://schemas.microsoft.com/office/drawing/2014/main" id="{BE2FEF14-B510-4BD1-81B7-2F059487E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68" y="2200200"/>
            <a:ext cx="20049063" cy="9408089"/>
          </a:xfrm>
        </p:spPr>
      </p:pic>
    </p:spTree>
    <p:extLst>
      <p:ext uri="{BB962C8B-B14F-4D97-AF65-F5344CB8AC3E}">
        <p14:creationId xmlns:p14="http://schemas.microsoft.com/office/powerpoint/2010/main" val="27525994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796704"/>
          </a:xfrm>
          <a:solidFill>
            <a:schemeClr val="bg2">
              <a:alpha val="75000"/>
            </a:schemeClr>
          </a:solidFill>
        </p:spPr>
        <p:txBody>
          <a:bodyPr>
            <a:noAutofit/>
          </a:bodyPr>
          <a:lstStyle/>
          <a:p>
            <a:pPr rtl="0"/>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6- Outline a Feature Article</a:t>
            </a:r>
          </a:p>
          <a:p>
            <a:pPr rtl="0"/>
            <a:r>
              <a:rPr lang="en-US" sz="2800" dirty="0">
                <a:solidFill>
                  <a:srgbClr val="CE7E42"/>
                </a:solidFill>
                <a:latin typeface="Calibri" panose="020F0502020204030204" pitchFamily="34" charset="0"/>
                <a:ea typeface="Calibri" panose="020F0502020204030204" pitchFamily="34" charset="0"/>
                <a:cs typeface="+mj-cs"/>
              </a:rPr>
              <a:t>#CONTEXT:</a:t>
            </a:r>
          </a:p>
          <a:p>
            <a:pPr rtl="0"/>
            <a:r>
              <a:rPr lang="en-US" sz="2800" dirty="0">
                <a:latin typeface="Calibri" panose="020F0502020204030204" pitchFamily="34" charset="0"/>
                <a:ea typeface="Calibri" panose="020F0502020204030204" pitchFamily="34" charset="0"/>
                <a:cs typeface="+mj-cs"/>
              </a:rPr>
              <a:t>You are an experienced journalist. Your task is to create a detailed outline for a feature article, including key sections and focus points.</a:t>
            </a:r>
          </a:p>
          <a:p>
            <a:pPr rtl="0"/>
            <a:r>
              <a:rPr lang="en-US" sz="2800" dirty="0">
                <a:solidFill>
                  <a:srgbClr val="CE7E42"/>
                </a:solidFill>
                <a:latin typeface="Calibri" panose="020F0502020204030204" pitchFamily="34" charset="0"/>
                <a:ea typeface="Calibri" panose="020F0502020204030204" pitchFamily="34" charset="0"/>
                <a:cs typeface="+mj-cs"/>
              </a:rPr>
              <a:t>#GOAL:</a:t>
            </a:r>
            <a:r>
              <a:rPr lang="en-US" sz="2800" dirty="0">
                <a:latin typeface="Calibri" panose="020F0502020204030204" pitchFamily="34" charset="0"/>
                <a:ea typeface="Calibri" panose="020F0502020204030204" pitchFamily="34" charset="0"/>
                <a:cs typeface="+mj-cs"/>
              </a:rPr>
              <a:t>	Provide a structured outline for a feature article, ensuring a logical flow and clear direction.</a:t>
            </a:r>
          </a:p>
          <a:p>
            <a:pPr rtl="0"/>
            <a:r>
              <a:rPr lang="en-US" sz="2800" dirty="0">
                <a:solidFill>
                  <a:srgbClr val="CE7E42"/>
                </a:solidFill>
                <a:latin typeface="Calibri" panose="020F0502020204030204" pitchFamily="34" charset="0"/>
                <a:ea typeface="Calibri" panose="020F0502020204030204" pitchFamily="34" charset="0"/>
                <a:cs typeface="+mj-cs"/>
              </a:rPr>
              <a:t>#INFORMATION:</a:t>
            </a:r>
          </a:p>
          <a:p>
            <a:pPr rtl="0"/>
            <a:r>
              <a:rPr lang="en-US" sz="2800" dirty="0">
                <a:latin typeface="Calibri" panose="020F0502020204030204" pitchFamily="34" charset="0"/>
                <a:ea typeface="Calibri" panose="020F0502020204030204" pitchFamily="34" charset="0"/>
                <a:cs typeface="+mj-cs"/>
              </a:rPr>
              <a:t>    • Topic: [Insert topic].</a:t>
            </a:r>
          </a:p>
          <a:p>
            <a:pPr rtl="0"/>
            <a:r>
              <a:rPr lang="en-US" sz="2800" dirty="0">
                <a:latin typeface="Calibri" panose="020F0502020204030204" pitchFamily="34" charset="0"/>
                <a:ea typeface="Calibri" panose="020F0502020204030204" pitchFamily="34" charset="0"/>
                <a:cs typeface="+mj-cs"/>
              </a:rPr>
              <a:t>    • Target audience: [Optional: General readers, niche professionals].</a:t>
            </a:r>
          </a:p>
          <a:p>
            <a:pPr rtl="0"/>
            <a:r>
              <a:rPr lang="en-US" sz="2800" dirty="0">
                <a:solidFill>
                  <a:srgbClr val="CE7E42"/>
                </a:solidFill>
                <a:latin typeface="Calibri" panose="020F0502020204030204" pitchFamily="34" charset="0"/>
                <a:ea typeface="Calibri" panose="020F0502020204030204" pitchFamily="34" charset="0"/>
                <a:cs typeface="+mj-cs"/>
              </a:rPr>
              <a:t>#RESPONSE GUIDELINES:</a:t>
            </a:r>
          </a:p>
          <a:p>
            <a:pPr rtl="0"/>
            <a:r>
              <a:rPr lang="en-US" sz="2800" dirty="0">
                <a:latin typeface="Calibri" panose="020F0502020204030204" pitchFamily="34" charset="0"/>
                <a:ea typeface="Calibri" panose="020F0502020204030204" pitchFamily="34" charset="0"/>
                <a:cs typeface="+mj-cs"/>
              </a:rPr>
              <a:t>    1. Divide the outline into clear sections (e.g., introduction, main body, conclusion).</a:t>
            </a:r>
          </a:p>
          <a:p>
            <a:pPr rtl="0"/>
            <a:r>
              <a:rPr lang="en-US" sz="2800" dirty="0">
                <a:latin typeface="Calibri" panose="020F0502020204030204" pitchFamily="34" charset="0"/>
                <a:ea typeface="Calibri" panose="020F0502020204030204" pitchFamily="34" charset="0"/>
                <a:cs typeface="+mj-cs"/>
              </a:rPr>
              <a:t>    2. Include a brief description of what each section should cover.</a:t>
            </a:r>
          </a:p>
          <a:p>
            <a:pPr rtl="0"/>
            <a:r>
              <a:rPr lang="en-US" sz="2800" dirty="0">
                <a:latin typeface="Calibri" panose="020F0502020204030204" pitchFamily="34" charset="0"/>
                <a:ea typeface="Calibri" panose="020F0502020204030204" pitchFamily="34" charset="0"/>
                <a:cs typeface="+mj-cs"/>
              </a:rPr>
              <a:t>    3. Suggest key points or arguments to highlight.</a:t>
            </a:r>
          </a:p>
          <a:p>
            <a:pPr rtl="0"/>
            <a:r>
              <a:rPr lang="en-US" sz="2800" dirty="0">
                <a:solidFill>
                  <a:srgbClr val="CE7E42"/>
                </a:solidFill>
                <a:latin typeface="Calibri" panose="020F0502020204030204" pitchFamily="34" charset="0"/>
                <a:ea typeface="Calibri" panose="020F0502020204030204" pitchFamily="34" charset="0"/>
                <a:cs typeface="+mj-cs"/>
              </a:rPr>
              <a:t>#OUTPUT:</a:t>
            </a:r>
            <a:r>
              <a:rPr lang="en-US" sz="2800" dirty="0">
                <a:latin typeface="Calibri" panose="020F0502020204030204" pitchFamily="34" charset="0"/>
                <a:ea typeface="Calibri" panose="020F0502020204030204" pitchFamily="34" charset="0"/>
                <a:cs typeface="+mj-cs"/>
              </a:rPr>
              <a:t>	A detailed feature article outline with key sections and descriptions.</a:t>
            </a:r>
            <a:endParaRPr lang="fa-IR" sz="2800" dirty="0">
              <a:latin typeface="Calibri" panose="020F0502020204030204" pitchFamily="34" charset="0"/>
              <a:ea typeface="Calibri" panose="020F0502020204030204" pitchFamily="34" charset="0"/>
              <a:cs typeface="+mj-cs"/>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41</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25037045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42</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pic>
        <p:nvPicPr>
          <p:cNvPr id="12" name="Content Placeholder 11">
            <a:extLst>
              <a:ext uri="{FF2B5EF4-FFF2-40B4-BE49-F238E27FC236}">
                <a16:creationId xmlns:a16="http://schemas.microsoft.com/office/drawing/2014/main" id="{BE2FEF14-B510-4BD1-81B7-2F059487E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68" y="2200200"/>
            <a:ext cx="20049063" cy="9408088"/>
          </a:xfrm>
        </p:spPr>
      </p:pic>
    </p:spTree>
    <p:extLst>
      <p:ext uri="{BB962C8B-B14F-4D97-AF65-F5344CB8AC3E}">
        <p14:creationId xmlns:p14="http://schemas.microsoft.com/office/powerpoint/2010/main" val="31910692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796704"/>
          </a:xfrm>
          <a:solidFill>
            <a:schemeClr val="bg2">
              <a:alpha val="75000"/>
            </a:schemeClr>
          </a:solidFill>
        </p:spPr>
        <p:txBody>
          <a:bodyPr>
            <a:noAutofit/>
          </a:bodyPr>
          <a:lstStyle/>
          <a:p>
            <a:pPr rtl="0"/>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7- Simplify Jargon</a:t>
            </a:r>
          </a:p>
          <a:p>
            <a:pPr rtl="0"/>
            <a:r>
              <a:rPr lang="en-US" sz="2800" dirty="0">
                <a:solidFill>
                  <a:srgbClr val="CE7E42"/>
                </a:solidFill>
                <a:latin typeface="Calibri" panose="020F0502020204030204" pitchFamily="34" charset="0"/>
                <a:ea typeface="Calibri" panose="020F0502020204030204" pitchFamily="34" charset="0"/>
                <a:cs typeface="+mj-cs"/>
              </a:rPr>
              <a:t>#CONTEXT:</a:t>
            </a:r>
          </a:p>
          <a:p>
            <a:pPr rtl="0"/>
            <a:r>
              <a:rPr lang="en-US" sz="2800" dirty="0">
                <a:latin typeface="Calibri" panose="020F0502020204030204" pitchFamily="34" charset="0"/>
                <a:ea typeface="Calibri" panose="020F0502020204030204" pitchFamily="34" charset="0"/>
                <a:cs typeface="+mj-cs"/>
              </a:rPr>
              <a:t>You are a jargon buster. Your task is to explain technical terms or industry-specific jargon in simple, everyday language.</a:t>
            </a:r>
          </a:p>
          <a:p>
            <a:pPr rtl="0"/>
            <a:r>
              <a:rPr lang="en-US" sz="2800" dirty="0">
                <a:solidFill>
                  <a:srgbClr val="CE7E42"/>
                </a:solidFill>
                <a:latin typeface="Calibri" panose="020F0502020204030204" pitchFamily="34" charset="0"/>
                <a:ea typeface="Calibri" panose="020F0502020204030204" pitchFamily="34" charset="0"/>
                <a:cs typeface="+mj-cs"/>
              </a:rPr>
              <a:t>#GOAL:</a:t>
            </a:r>
            <a:endParaRPr lang="en-US" sz="2800" dirty="0">
              <a:latin typeface="Calibri" panose="020F0502020204030204" pitchFamily="34" charset="0"/>
              <a:ea typeface="Calibri" panose="020F0502020204030204" pitchFamily="34" charset="0"/>
              <a:cs typeface="+mj-cs"/>
            </a:endParaRPr>
          </a:p>
          <a:p>
            <a:pPr rtl="0"/>
            <a:r>
              <a:rPr lang="en-US" sz="2800" dirty="0">
                <a:latin typeface="Calibri" panose="020F0502020204030204" pitchFamily="34" charset="0"/>
                <a:ea typeface="Calibri" panose="020F0502020204030204" pitchFamily="34" charset="0"/>
                <a:cs typeface="+mj-cs"/>
              </a:rPr>
              <a:t>Provide clear definitions and explanations for a list of technical terms, making them easy for non-experts to understand.</a:t>
            </a:r>
          </a:p>
          <a:p>
            <a:pPr rtl="0"/>
            <a:r>
              <a:rPr lang="en-US" sz="2800" dirty="0">
                <a:solidFill>
                  <a:srgbClr val="CE7E42"/>
                </a:solidFill>
                <a:latin typeface="Calibri" panose="020F0502020204030204" pitchFamily="34" charset="0"/>
                <a:ea typeface="Calibri" panose="020F0502020204030204" pitchFamily="34" charset="0"/>
                <a:cs typeface="+mj-cs"/>
              </a:rPr>
              <a:t>#INFORMATION:</a:t>
            </a:r>
          </a:p>
          <a:p>
            <a:pPr rtl="0"/>
            <a:r>
              <a:rPr lang="en-US" sz="2800" dirty="0">
                <a:latin typeface="Calibri" panose="020F0502020204030204" pitchFamily="34" charset="0"/>
                <a:ea typeface="Calibri" panose="020F0502020204030204" pitchFamily="34" charset="0"/>
                <a:cs typeface="+mj-cs"/>
              </a:rPr>
              <a:t>    • Terms: [Insert list of terms].</a:t>
            </a:r>
          </a:p>
          <a:p>
            <a:pPr rtl="0"/>
            <a:r>
              <a:rPr lang="en-US" sz="2800" dirty="0">
                <a:latin typeface="Calibri" panose="020F0502020204030204" pitchFamily="34" charset="0"/>
                <a:ea typeface="Calibri" panose="020F0502020204030204" pitchFamily="34" charset="0"/>
                <a:cs typeface="+mj-cs"/>
              </a:rPr>
              <a:t>    • Target audience: [Optional: General readers, beginners].</a:t>
            </a:r>
          </a:p>
          <a:p>
            <a:pPr rtl="0"/>
            <a:r>
              <a:rPr lang="en-US" sz="2800" dirty="0">
                <a:solidFill>
                  <a:srgbClr val="CE7E42"/>
                </a:solidFill>
                <a:latin typeface="Calibri" panose="020F0502020204030204" pitchFamily="34" charset="0"/>
                <a:ea typeface="Calibri" panose="020F0502020204030204" pitchFamily="34" charset="0"/>
                <a:cs typeface="+mj-cs"/>
              </a:rPr>
              <a:t>#RESPONSE GUIDELINES:</a:t>
            </a:r>
          </a:p>
          <a:p>
            <a:pPr rtl="0"/>
            <a:r>
              <a:rPr lang="en-US" sz="2800" dirty="0">
                <a:latin typeface="Calibri" panose="020F0502020204030204" pitchFamily="34" charset="0"/>
                <a:ea typeface="Calibri" panose="020F0502020204030204" pitchFamily="34" charset="0"/>
                <a:cs typeface="+mj-cs"/>
              </a:rPr>
              <a:t>    1. Explain each term in simple, relatable language.</a:t>
            </a:r>
          </a:p>
          <a:p>
            <a:pPr rtl="0"/>
            <a:r>
              <a:rPr lang="en-US" sz="2800" dirty="0">
                <a:latin typeface="Calibri" panose="020F0502020204030204" pitchFamily="34" charset="0"/>
                <a:ea typeface="Calibri" panose="020F0502020204030204" pitchFamily="34" charset="0"/>
                <a:cs typeface="+mj-cs"/>
              </a:rPr>
              <a:t>    2. Use examples to make the explanations clearer.</a:t>
            </a:r>
          </a:p>
          <a:p>
            <a:pPr rtl="0"/>
            <a:r>
              <a:rPr lang="en-US" sz="2800" dirty="0">
                <a:latin typeface="Calibri" panose="020F0502020204030204" pitchFamily="34" charset="0"/>
                <a:ea typeface="Calibri" panose="020F0502020204030204" pitchFamily="34" charset="0"/>
                <a:cs typeface="+mj-cs"/>
              </a:rPr>
              <a:t>    3. Avoid using more jargon in the definitions.</a:t>
            </a:r>
          </a:p>
          <a:p>
            <a:pPr rtl="0"/>
            <a:r>
              <a:rPr lang="en-US" sz="2800" dirty="0">
                <a:solidFill>
                  <a:srgbClr val="CE7E42"/>
                </a:solidFill>
                <a:latin typeface="Calibri" panose="020F0502020204030204" pitchFamily="34" charset="0"/>
                <a:ea typeface="Calibri" panose="020F0502020204030204" pitchFamily="34" charset="0"/>
                <a:cs typeface="+mj-cs"/>
              </a:rPr>
              <a:t>#OUTPUT:</a:t>
            </a:r>
            <a:endParaRPr lang="en-US" sz="2800" dirty="0">
              <a:latin typeface="Calibri" panose="020F0502020204030204" pitchFamily="34" charset="0"/>
              <a:ea typeface="Calibri" panose="020F0502020204030204" pitchFamily="34" charset="0"/>
              <a:cs typeface="+mj-cs"/>
            </a:endParaRPr>
          </a:p>
          <a:p>
            <a:pPr rtl="0"/>
            <a:r>
              <a:rPr lang="en-US" sz="2800" dirty="0">
                <a:latin typeface="Calibri" panose="020F0502020204030204" pitchFamily="34" charset="0"/>
                <a:ea typeface="Calibri" panose="020F0502020204030204" pitchFamily="34" charset="0"/>
                <a:cs typeface="+mj-cs"/>
              </a:rPr>
              <a:t>A list of simplified definitions for the provided terms.</a:t>
            </a:r>
            <a:endParaRPr lang="fa-IR" sz="2800" dirty="0">
              <a:latin typeface="Calibri" panose="020F0502020204030204" pitchFamily="34" charset="0"/>
              <a:ea typeface="Calibri" panose="020F0502020204030204" pitchFamily="34" charset="0"/>
              <a:cs typeface="+mj-cs"/>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43</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1927462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44</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pic>
        <p:nvPicPr>
          <p:cNvPr id="12" name="Content Placeholder 11">
            <a:extLst>
              <a:ext uri="{FF2B5EF4-FFF2-40B4-BE49-F238E27FC236}">
                <a16:creationId xmlns:a16="http://schemas.microsoft.com/office/drawing/2014/main" id="{BE2FEF14-B510-4BD1-81B7-2F059487E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69" y="2200200"/>
            <a:ext cx="20049061" cy="9408088"/>
          </a:xfrm>
        </p:spPr>
      </p:pic>
    </p:spTree>
    <p:extLst>
      <p:ext uri="{BB962C8B-B14F-4D97-AF65-F5344CB8AC3E}">
        <p14:creationId xmlns:p14="http://schemas.microsoft.com/office/powerpoint/2010/main" val="24929793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796704"/>
          </a:xfrm>
          <a:solidFill>
            <a:schemeClr val="bg2">
              <a:alpha val="75000"/>
            </a:schemeClr>
          </a:solidFill>
        </p:spPr>
        <p:txBody>
          <a:bodyPr>
            <a:noAutofit/>
          </a:bodyPr>
          <a:lstStyle/>
          <a:p>
            <a:pPr rtl="0"/>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8- Write Social Media Posts</a:t>
            </a:r>
          </a:p>
          <a:p>
            <a:pPr rtl="0"/>
            <a:r>
              <a:rPr lang="en-US" sz="2800" dirty="0">
                <a:solidFill>
                  <a:srgbClr val="CE7E42"/>
                </a:solidFill>
                <a:latin typeface="Calibri" panose="020F0502020204030204" pitchFamily="34" charset="0"/>
                <a:ea typeface="Calibri" panose="020F0502020204030204" pitchFamily="34" charset="0"/>
                <a:cs typeface="+mj-cs"/>
              </a:rPr>
              <a:t>#CONTEXT:</a:t>
            </a:r>
          </a:p>
          <a:p>
            <a:pPr rtl="0"/>
            <a:r>
              <a:rPr lang="en-US" sz="2800" dirty="0">
                <a:latin typeface="Calibri" panose="020F0502020204030204" pitchFamily="34" charset="0"/>
                <a:ea typeface="Calibri" panose="020F0502020204030204" pitchFamily="34" charset="0"/>
                <a:cs typeface="+mj-cs"/>
              </a:rPr>
              <a:t>You are a social media manager. Your task is to craft engaging and platform-specific captions to promote a news story or article.</a:t>
            </a:r>
          </a:p>
          <a:p>
            <a:pPr rtl="0"/>
            <a:r>
              <a:rPr lang="en-US" sz="2800" dirty="0">
                <a:solidFill>
                  <a:srgbClr val="CE7E42"/>
                </a:solidFill>
                <a:latin typeface="Calibri" panose="020F0502020204030204" pitchFamily="34" charset="0"/>
                <a:ea typeface="Calibri" panose="020F0502020204030204" pitchFamily="34" charset="0"/>
                <a:cs typeface="+mj-cs"/>
              </a:rPr>
              <a:t>#GOAL:</a:t>
            </a:r>
          </a:p>
          <a:p>
            <a:pPr rtl="0"/>
            <a:r>
              <a:rPr lang="en-US" sz="2800" dirty="0">
                <a:latin typeface="Calibri" panose="020F0502020204030204" pitchFamily="34" charset="0"/>
                <a:ea typeface="Calibri" panose="020F0502020204030204" pitchFamily="34" charset="0"/>
                <a:cs typeface="+mj-cs"/>
              </a:rPr>
              <a:t>Provide 5 social media captions tailored for different platforms, highlighting the key points of the story and encouraging interaction.</a:t>
            </a:r>
          </a:p>
          <a:p>
            <a:pPr rtl="0"/>
            <a:r>
              <a:rPr lang="en-US" sz="2800" dirty="0">
                <a:solidFill>
                  <a:srgbClr val="CE7E42"/>
                </a:solidFill>
                <a:latin typeface="Calibri" panose="020F0502020204030204" pitchFamily="34" charset="0"/>
                <a:ea typeface="Calibri" panose="020F0502020204030204" pitchFamily="34" charset="0"/>
                <a:cs typeface="+mj-cs"/>
              </a:rPr>
              <a:t>#INFORMATION:</a:t>
            </a:r>
          </a:p>
          <a:p>
            <a:pPr rtl="0"/>
            <a:r>
              <a:rPr lang="en-US" sz="2800" dirty="0">
                <a:latin typeface="Calibri" panose="020F0502020204030204" pitchFamily="34" charset="0"/>
                <a:ea typeface="Calibri" panose="020F0502020204030204" pitchFamily="34" charset="0"/>
                <a:cs typeface="+mj-cs"/>
              </a:rPr>
              <a:t>    • Story topic: [Insert topic].</a:t>
            </a:r>
          </a:p>
          <a:p>
            <a:pPr rtl="0"/>
            <a:r>
              <a:rPr lang="en-US" sz="2800" dirty="0">
                <a:latin typeface="Calibri" panose="020F0502020204030204" pitchFamily="34" charset="0"/>
                <a:ea typeface="Calibri" panose="020F0502020204030204" pitchFamily="34" charset="0"/>
                <a:cs typeface="+mj-cs"/>
              </a:rPr>
              <a:t>    •Platforms: [E.g., Twitter, Instagram, LinkedIn].</a:t>
            </a:r>
          </a:p>
          <a:p>
            <a:pPr rtl="0"/>
            <a:r>
              <a:rPr lang="en-US" sz="2800" dirty="0">
                <a:solidFill>
                  <a:srgbClr val="CE7E42"/>
                </a:solidFill>
                <a:latin typeface="Calibri" panose="020F0502020204030204" pitchFamily="34" charset="0"/>
                <a:ea typeface="Calibri" panose="020F0502020204030204" pitchFamily="34" charset="0"/>
                <a:cs typeface="+mj-cs"/>
              </a:rPr>
              <a:t>#RESPONSE GUIDELINES:</a:t>
            </a:r>
          </a:p>
          <a:p>
            <a:pPr rtl="0"/>
            <a:r>
              <a:rPr lang="en-US" sz="2800" dirty="0">
                <a:latin typeface="Calibri" panose="020F0502020204030204" pitchFamily="34" charset="0"/>
                <a:ea typeface="Calibri" panose="020F0502020204030204" pitchFamily="34" charset="0"/>
                <a:cs typeface="+mj-cs"/>
              </a:rPr>
              <a:t>    1. Adapt the tone and style for each platform (e.g., professional for LinkedIn, casual for Instagram).</a:t>
            </a:r>
          </a:p>
          <a:p>
            <a:pPr rtl="0"/>
            <a:r>
              <a:rPr lang="en-US" sz="2800" dirty="0">
                <a:latin typeface="Calibri" panose="020F0502020204030204" pitchFamily="34" charset="0"/>
                <a:ea typeface="Calibri" panose="020F0502020204030204" pitchFamily="34" charset="0"/>
                <a:cs typeface="+mj-cs"/>
              </a:rPr>
              <a:t>    2. Include relevant hashtags or links for better visibility.</a:t>
            </a:r>
          </a:p>
          <a:p>
            <a:pPr rtl="0"/>
            <a:r>
              <a:rPr lang="en-US" sz="2800" dirty="0">
                <a:latin typeface="Calibri" panose="020F0502020204030204" pitchFamily="34" charset="0"/>
                <a:ea typeface="Calibri" panose="020F0502020204030204" pitchFamily="34" charset="0"/>
                <a:cs typeface="+mj-cs"/>
              </a:rPr>
              <a:t>    3. Keep the captions short, engaging, and action-oriented.</a:t>
            </a:r>
          </a:p>
          <a:p>
            <a:pPr rtl="0"/>
            <a:r>
              <a:rPr lang="en-US" sz="2800" dirty="0">
                <a:solidFill>
                  <a:srgbClr val="CE7E42"/>
                </a:solidFill>
                <a:latin typeface="Calibri" panose="020F0502020204030204" pitchFamily="34" charset="0"/>
                <a:ea typeface="Calibri" panose="020F0502020204030204" pitchFamily="34" charset="0"/>
                <a:cs typeface="+mj-cs"/>
              </a:rPr>
              <a:t>#OUTPUT:</a:t>
            </a:r>
          </a:p>
          <a:p>
            <a:pPr rtl="0"/>
            <a:r>
              <a:rPr lang="en-US" sz="2800" dirty="0">
                <a:latin typeface="Calibri" panose="020F0502020204030204" pitchFamily="34" charset="0"/>
                <a:ea typeface="Calibri" panose="020F0502020204030204" pitchFamily="34" charset="0"/>
                <a:cs typeface="+mj-cs"/>
              </a:rPr>
              <a:t>5 social media captions optimized for the provided platforms and topic.</a:t>
            </a:r>
            <a:endParaRPr lang="fa-IR" sz="2800" dirty="0">
              <a:latin typeface="Calibri" panose="020F0502020204030204" pitchFamily="34" charset="0"/>
              <a:ea typeface="Calibri" panose="020F0502020204030204" pitchFamily="34" charset="0"/>
              <a:cs typeface="+mj-cs"/>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45</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3300470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46</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pic>
        <p:nvPicPr>
          <p:cNvPr id="12" name="Content Placeholder 11">
            <a:extLst>
              <a:ext uri="{FF2B5EF4-FFF2-40B4-BE49-F238E27FC236}">
                <a16:creationId xmlns:a16="http://schemas.microsoft.com/office/drawing/2014/main" id="{BE2FEF14-B510-4BD1-81B7-2F059487E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69" y="2200200"/>
            <a:ext cx="20049061" cy="9408087"/>
          </a:xfrm>
        </p:spPr>
      </p:pic>
    </p:spTree>
    <p:extLst>
      <p:ext uri="{BB962C8B-B14F-4D97-AF65-F5344CB8AC3E}">
        <p14:creationId xmlns:p14="http://schemas.microsoft.com/office/powerpoint/2010/main" val="3924919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796704"/>
          </a:xfrm>
          <a:solidFill>
            <a:schemeClr val="bg2">
              <a:alpha val="75000"/>
            </a:schemeClr>
          </a:solidFill>
        </p:spPr>
        <p:txBody>
          <a:bodyPr>
            <a:noAutofit/>
          </a:bodyPr>
          <a:lstStyle/>
          <a:p>
            <a:pPr rtl="0"/>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9- Identify Key Trends</a:t>
            </a:r>
          </a:p>
          <a:p>
            <a:pPr rtl="0"/>
            <a:r>
              <a:rPr lang="en-US" sz="2800" dirty="0">
                <a:solidFill>
                  <a:srgbClr val="CE7E42"/>
                </a:solidFill>
                <a:latin typeface="Calibri" panose="020F0502020204030204" pitchFamily="34" charset="0"/>
                <a:ea typeface="Calibri" panose="020F0502020204030204" pitchFamily="34" charset="0"/>
                <a:cs typeface="+mj-cs"/>
              </a:rPr>
              <a:t>#CONTEXT:</a:t>
            </a:r>
          </a:p>
          <a:p>
            <a:pPr rtl="0"/>
            <a:r>
              <a:rPr lang="en-US" sz="2800" dirty="0">
                <a:latin typeface="Calibri" panose="020F0502020204030204" pitchFamily="34" charset="0"/>
                <a:ea typeface="Calibri" panose="020F0502020204030204" pitchFamily="34" charset="0"/>
                <a:cs typeface="+mj-cs"/>
              </a:rPr>
              <a:t>You are a data analyst for journalists. Your task is to identify emerging trends from a dataset, report, or industry update.</a:t>
            </a:r>
          </a:p>
          <a:p>
            <a:pPr rtl="0"/>
            <a:r>
              <a:rPr lang="en-US" sz="2800" dirty="0">
                <a:solidFill>
                  <a:srgbClr val="CE7E42"/>
                </a:solidFill>
                <a:latin typeface="Calibri" panose="020F0502020204030204" pitchFamily="34" charset="0"/>
                <a:ea typeface="Calibri" panose="020F0502020204030204" pitchFamily="34" charset="0"/>
                <a:cs typeface="+mj-cs"/>
              </a:rPr>
              <a:t>#GOAL:</a:t>
            </a:r>
          </a:p>
          <a:p>
            <a:pPr rtl="0"/>
            <a:r>
              <a:rPr lang="en-US" sz="2800" dirty="0">
                <a:latin typeface="Calibri" panose="020F0502020204030204" pitchFamily="34" charset="0"/>
                <a:ea typeface="Calibri" panose="020F0502020204030204" pitchFamily="34" charset="0"/>
                <a:cs typeface="+mj-cs"/>
              </a:rPr>
              <a:t>Provide a summary of the top 3 trends related to the given topic, along with insights on their potential impact.</a:t>
            </a:r>
          </a:p>
          <a:p>
            <a:pPr rtl="0"/>
            <a:r>
              <a:rPr lang="en-US" sz="2800" dirty="0">
                <a:solidFill>
                  <a:srgbClr val="CE7E42"/>
                </a:solidFill>
                <a:latin typeface="Calibri" panose="020F0502020204030204" pitchFamily="34" charset="0"/>
                <a:ea typeface="Calibri" panose="020F0502020204030204" pitchFamily="34" charset="0"/>
                <a:cs typeface="+mj-cs"/>
              </a:rPr>
              <a:t>#INFORMATION:</a:t>
            </a:r>
          </a:p>
          <a:p>
            <a:pPr rtl="0"/>
            <a:r>
              <a:rPr lang="en-US" sz="2800" dirty="0">
                <a:latin typeface="Calibri" panose="020F0502020204030204" pitchFamily="34" charset="0"/>
                <a:ea typeface="Calibri" panose="020F0502020204030204" pitchFamily="34" charset="0"/>
                <a:cs typeface="+mj-cs"/>
              </a:rPr>
              <a:t>    • Dataset or topic: [Insert data source or topic].</a:t>
            </a:r>
          </a:p>
          <a:p>
            <a:pPr rtl="0"/>
            <a:r>
              <a:rPr lang="en-US" sz="2800" dirty="0">
                <a:latin typeface="Calibri" panose="020F0502020204030204" pitchFamily="34" charset="0"/>
                <a:ea typeface="Calibri" panose="020F0502020204030204" pitchFamily="34" charset="0"/>
                <a:cs typeface="+mj-cs"/>
              </a:rPr>
              <a:t>    • Industry focus: [Optional: Specify the industry, e.g., technology, health, finance].</a:t>
            </a:r>
          </a:p>
          <a:p>
            <a:pPr rtl="0"/>
            <a:r>
              <a:rPr lang="en-US" sz="2800" dirty="0">
                <a:solidFill>
                  <a:srgbClr val="CE7E42"/>
                </a:solidFill>
                <a:latin typeface="Calibri" panose="020F0502020204030204" pitchFamily="34" charset="0"/>
                <a:ea typeface="Calibri" panose="020F0502020204030204" pitchFamily="34" charset="0"/>
                <a:cs typeface="+mj-cs"/>
              </a:rPr>
              <a:t>#RESPONSE GUIDELINES:</a:t>
            </a:r>
          </a:p>
          <a:p>
            <a:pPr rtl="0"/>
            <a:r>
              <a:rPr lang="en-US" sz="2800" dirty="0">
                <a:latin typeface="Calibri" panose="020F0502020204030204" pitchFamily="34" charset="0"/>
                <a:ea typeface="Calibri" panose="020F0502020204030204" pitchFamily="34" charset="0"/>
                <a:cs typeface="+mj-cs"/>
              </a:rPr>
              <a:t>    1. List the 3 most significant trends.</a:t>
            </a:r>
          </a:p>
          <a:p>
            <a:pPr rtl="0"/>
            <a:r>
              <a:rPr lang="en-US" sz="2800" dirty="0">
                <a:latin typeface="Calibri" panose="020F0502020204030204" pitchFamily="34" charset="0"/>
                <a:ea typeface="Calibri" panose="020F0502020204030204" pitchFamily="34" charset="0"/>
                <a:cs typeface="+mj-cs"/>
              </a:rPr>
              <a:t>    2. Include a brief explanation of why each trend is important.</a:t>
            </a:r>
          </a:p>
          <a:p>
            <a:pPr rtl="0"/>
            <a:r>
              <a:rPr lang="en-US" sz="2800" dirty="0">
                <a:latin typeface="Calibri" panose="020F0502020204030204" pitchFamily="34" charset="0"/>
                <a:ea typeface="Calibri" panose="020F0502020204030204" pitchFamily="34" charset="0"/>
                <a:cs typeface="+mj-cs"/>
              </a:rPr>
              <a:t>    3. Suggest potential story angles or implications for the trends.</a:t>
            </a:r>
          </a:p>
          <a:p>
            <a:pPr rtl="0"/>
            <a:r>
              <a:rPr lang="en-US" sz="2800" dirty="0">
                <a:solidFill>
                  <a:srgbClr val="CE7E42"/>
                </a:solidFill>
                <a:latin typeface="Calibri" panose="020F0502020204030204" pitchFamily="34" charset="0"/>
                <a:ea typeface="Calibri" panose="020F0502020204030204" pitchFamily="34" charset="0"/>
                <a:cs typeface="+mj-cs"/>
              </a:rPr>
              <a:t>#OUTPUT:</a:t>
            </a:r>
          </a:p>
          <a:p>
            <a:pPr rtl="0"/>
            <a:r>
              <a:rPr lang="en-US" sz="2800" dirty="0">
                <a:latin typeface="Calibri" panose="020F0502020204030204" pitchFamily="34" charset="0"/>
                <a:ea typeface="Calibri" panose="020F0502020204030204" pitchFamily="34" charset="0"/>
                <a:cs typeface="+mj-cs"/>
              </a:rPr>
              <a:t>A summary of 3 key trends, their relevance, and suggested angles for reporting</a:t>
            </a:r>
            <a:endParaRPr lang="fa-IR" sz="2800" dirty="0">
              <a:latin typeface="Calibri" panose="020F0502020204030204" pitchFamily="34" charset="0"/>
              <a:ea typeface="Calibri" panose="020F0502020204030204" pitchFamily="34" charset="0"/>
              <a:cs typeface="+mj-cs"/>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47</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3927994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48</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pic>
        <p:nvPicPr>
          <p:cNvPr id="12" name="Content Placeholder 11">
            <a:extLst>
              <a:ext uri="{FF2B5EF4-FFF2-40B4-BE49-F238E27FC236}">
                <a16:creationId xmlns:a16="http://schemas.microsoft.com/office/drawing/2014/main" id="{BE2FEF14-B510-4BD1-81B7-2F059487E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70" y="2200200"/>
            <a:ext cx="20049059" cy="9408087"/>
          </a:xfrm>
        </p:spPr>
      </p:pic>
    </p:spTree>
    <p:extLst>
      <p:ext uri="{BB962C8B-B14F-4D97-AF65-F5344CB8AC3E}">
        <p14:creationId xmlns:p14="http://schemas.microsoft.com/office/powerpoint/2010/main" val="30731669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33600" y="2784763"/>
            <a:ext cx="20061382" cy="9796704"/>
          </a:xfrm>
          <a:solidFill>
            <a:schemeClr val="bg2">
              <a:alpha val="75000"/>
            </a:schemeClr>
          </a:solidFill>
        </p:spPr>
        <p:txBody>
          <a:bodyPr>
            <a:noAutofit/>
          </a:bodyPr>
          <a:lstStyle/>
          <a:p>
            <a:pPr rtl="0"/>
            <a:r>
              <a:rPr lang="fa-IR" sz="6200" dirty="0">
                <a:solidFill>
                  <a:srgbClr val="CE7E42"/>
                </a:solidFill>
                <a:latin typeface="Calibri" panose="020F0502020204030204" pitchFamily="34" charset="0"/>
                <a:ea typeface="Calibri" panose="020F0502020204030204" pitchFamily="34" charset="0"/>
                <a:cs typeface="Calibri" panose="020F0502020204030204" pitchFamily="34" charset="0"/>
              </a:rPr>
              <a:t>📌</a:t>
            </a:r>
            <a:r>
              <a:rPr lang="en-US" sz="6200" dirty="0">
                <a:solidFill>
                  <a:srgbClr val="CE7E42"/>
                </a:solidFill>
                <a:latin typeface="Calibri" panose="020F0502020204030204" pitchFamily="34" charset="0"/>
                <a:ea typeface="Calibri" panose="020F0502020204030204" pitchFamily="34" charset="0"/>
                <a:cs typeface="Calibri" panose="020F0502020204030204" pitchFamily="34" charset="0"/>
              </a:rPr>
              <a:t>10- Plan a Multimedia Story</a:t>
            </a:r>
          </a:p>
          <a:p>
            <a:pPr rtl="0"/>
            <a:r>
              <a:rPr lang="en-US" sz="2800" dirty="0">
                <a:solidFill>
                  <a:srgbClr val="CE7E42"/>
                </a:solidFill>
                <a:latin typeface="Calibri" panose="020F0502020204030204" pitchFamily="34" charset="0"/>
                <a:ea typeface="Calibri" panose="020F0502020204030204" pitchFamily="34" charset="0"/>
                <a:cs typeface="+mj-cs"/>
              </a:rPr>
              <a:t>#CONTEXT:</a:t>
            </a:r>
          </a:p>
          <a:p>
            <a:pPr rtl="0"/>
            <a:r>
              <a:rPr lang="en-US" sz="2800" dirty="0">
                <a:latin typeface="Calibri" panose="020F0502020204030204" pitchFamily="34" charset="0"/>
                <a:ea typeface="Calibri" panose="020F0502020204030204" pitchFamily="34" charset="0"/>
                <a:cs typeface="+mj-cs"/>
              </a:rPr>
              <a:t>You are a multimedia journalist. Your task is to create a plan for a story that incorporates text, visuals, and interactive elements to engage readers.</a:t>
            </a:r>
          </a:p>
          <a:p>
            <a:pPr rtl="0"/>
            <a:r>
              <a:rPr lang="en-US" sz="2800" dirty="0">
                <a:solidFill>
                  <a:srgbClr val="CE7E42"/>
                </a:solidFill>
                <a:latin typeface="Calibri" panose="020F0502020204030204" pitchFamily="34" charset="0"/>
                <a:ea typeface="Calibri" panose="020F0502020204030204" pitchFamily="34" charset="0"/>
                <a:cs typeface="+mj-cs"/>
              </a:rPr>
              <a:t>#GOAL:</a:t>
            </a:r>
            <a:r>
              <a:rPr lang="en-US" sz="2800" dirty="0">
                <a:latin typeface="Calibri" panose="020F0502020204030204" pitchFamily="34" charset="0"/>
                <a:ea typeface="Calibri" panose="020F0502020204030204" pitchFamily="34" charset="0"/>
                <a:cs typeface="+mj-cs"/>
              </a:rPr>
              <a:t>	Provide a detailed plan for a multimedia story, specifying the type of content, visuals, and interactive features to include.</a:t>
            </a:r>
          </a:p>
          <a:p>
            <a:pPr rtl="0"/>
            <a:r>
              <a:rPr lang="en-US" sz="2800" dirty="0">
                <a:solidFill>
                  <a:srgbClr val="CE7E42"/>
                </a:solidFill>
                <a:latin typeface="Calibri" panose="020F0502020204030204" pitchFamily="34" charset="0"/>
                <a:ea typeface="Calibri" panose="020F0502020204030204" pitchFamily="34" charset="0"/>
                <a:cs typeface="+mj-cs"/>
              </a:rPr>
              <a:t>#INFORMATION:</a:t>
            </a:r>
          </a:p>
          <a:p>
            <a:pPr rtl="0"/>
            <a:r>
              <a:rPr lang="en-US" sz="2800" dirty="0">
                <a:latin typeface="Calibri" panose="020F0502020204030204" pitchFamily="34" charset="0"/>
                <a:ea typeface="Calibri" panose="020F0502020204030204" pitchFamily="34" charset="0"/>
                <a:cs typeface="+mj-cs"/>
              </a:rPr>
              <a:t>    • Story topic: [Insert topic].</a:t>
            </a:r>
          </a:p>
          <a:p>
            <a:pPr rtl="0"/>
            <a:r>
              <a:rPr lang="en-US" sz="2800" dirty="0">
                <a:latin typeface="Calibri" panose="020F0502020204030204" pitchFamily="34" charset="0"/>
                <a:ea typeface="Calibri" panose="020F0502020204030204" pitchFamily="34" charset="0"/>
                <a:cs typeface="+mj-cs"/>
              </a:rPr>
              <a:t>    • Audience: [Optional: General readers, niche audience].</a:t>
            </a:r>
          </a:p>
          <a:p>
            <a:pPr rtl="0"/>
            <a:r>
              <a:rPr lang="en-US" sz="2800" dirty="0">
                <a:latin typeface="Calibri" panose="020F0502020204030204" pitchFamily="34" charset="0"/>
                <a:ea typeface="Calibri" panose="020F0502020204030204" pitchFamily="34" charset="0"/>
                <a:cs typeface="+mj-cs"/>
              </a:rPr>
              <a:t>    • Preferred media: [Optional: Specify types like videos, infographics, timelines].</a:t>
            </a:r>
          </a:p>
          <a:p>
            <a:pPr rtl="0"/>
            <a:r>
              <a:rPr lang="en-US" sz="2800" dirty="0">
                <a:solidFill>
                  <a:srgbClr val="CE7E42"/>
                </a:solidFill>
                <a:latin typeface="Calibri" panose="020F0502020204030204" pitchFamily="34" charset="0"/>
                <a:ea typeface="Calibri" panose="020F0502020204030204" pitchFamily="34" charset="0"/>
                <a:cs typeface="+mj-cs"/>
              </a:rPr>
              <a:t>#RESPONSE GUIDELINES:</a:t>
            </a:r>
          </a:p>
          <a:p>
            <a:pPr rtl="0"/>
            <a:r>
              <a:rPr lang="en-US" sz="2800" dirty="0">
                <a:latin typeface="Calibri" panose="020F0502020204030204" pitchFamily="34" charset="0"/>
                <a:ea typeface="Calibri" panose="020F0502020204030204" pitchFamily="34" charset="0"/>
                <a:cs typeface="+mj-cs"/>
              </a:rPr>
              <a:t>    1. Outline the main narrative of the story.</a:t>
            </a:r>
          </a:p>
          <a:p>
            <a:pPr rtl="0"/>
            <a:r>
              <a:rPr lang="en-US" sz="2800" dirty="0">
                <a:latin typeface="Calibri" panose="020F0502020204030204" pitchFamily="34" charset="0"/>
                <a:ea typeface="Calibri" panose="020F0502020204030204" pitchFamily="34" charset="0"/>
                <a:cs typeface="+mj-cs"/>
              </a:rPr>
              <a:t>    2. Suggest visuals and interactive elements to enhance engagement.</a:t>
            </a:r>
          </a:p>
          <a:p>
            <a:pPr rtl="0"/>
            <a:r>
              <a:rPr lang="en-US" sz="2800" dirty="0">
                <a:latin typeface="Calibri" panose="020F0502020204030204" pitchFamily="34" charset="0"/>
                <a:ea typeface="Calibri" panose="020F0502020204030204" pitchFamily="34" charset="0"/>
                <a:cs typeface="+mj-cs"/>
              </a:rPr>
              <a:t>    3. Include tips on presenting the story across different platforms.</a:t>
            </a:r>
          </a:p>
          <a:p>
            <a:pPr rtl="0"/>
            <a:r>
              <a:rPr lang="en-US" sz="2800" dirty="0">
                <a:solidFill>
                  <a:srgbClr val="CE7E42"/>
                </a:solidFill>
                <a:latin typeface="Calibri" panose="020F0502020204030204" pitchFamily="34" charset="0"/>
                <a:ea typeface="Calibri" panose="020F0502020204030204" pitchFamily="34" charset="0"/>
                <a:cs typeface="+mj-cs"/>
              </a:rPr>
              <a:t>#OUTPUT:</a:t>
            </a:r>
            <a:r>
              <a:rPr lang="en-US" sz="2800" dirty="0">
                <a:latin typeface="Calibri" panose="020F0502020204030204" pitchFamily="34" charset="0"/>
                <a:ea typeface="Calibri" panose="020F0502020204030204" pitchFamily="34" charset="0"/>
                <a:cs typeface="+mj-cs"/>
              </a:rPr>
              <a:t>	A comprehensive multimedia story plan with content suggestions, visual ideas, and interactive features.</a:t>
            </a:r>
            <a:endParaRPr lang="fa-IR" sz="2800" dirty="0">
              <a:latin typeface="Calibri" panose="020F0502020204030204" pitchFamily="34" charset="0"/>
              <a:ea typeface="Calibri" panose="020F0502020204030204" pitchFamily="34" charset="0"/>
              <a:cs typeface="+mj-cs"/>
            </a:endParaRPr>
          </a:p>
        </p:txBody>
      </p:sp>
      <p:sp>
        <p:nvSpPr>
          <p:cNvPr id="3" name="Slide Number Placeholder 2"/>
          <p:cNvSpPr>
            <a:spLocks noGrp="1"/>
          </p:cNvSpPr>
          <p:nvPr>
            <p:ph type="sldNum" sz="quarter" idx="12"/>
          </p:nvPr>
        </p:nvSpPr>
        <p:spPr/>
        <p:txBody>
          <a:bodyPr/>
          <a:lstStyle/>
          <a:p>
            <a:fld id="{FC7264DD-8205-481D-9B6A-9CE0D2D966EE}" type="slidenum">
              <a:rPr lang="fa-IR" smtClean="0"/>
              <a:t>49</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spTree>
    <p:extLst>
      <p:ext uri="{BB962C8B-B14F-4D97-AF65-F5344CB8AC3E}">
        <p14:creationId xmlns:p14="http://schemas.microsoft.com/office/powerpoint/2010/main" val="1163384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C7264DD-8205-481D-9B6A-9CE0D2D966EE}" type="slidenum">
              <a:rPr lang="fa-IR" smtClean="0"/>
              <a:t>50</a:t>
            </a:fld>
            <a:endParaRPr lang="fa-IR"/>
          </a:p>
        </p:txBody>
      </p:sp>
      <p:sp>
        <p:nvSpPr>
          <p:cNvPr id="9" name="Title 3">
            <a:extLst>
              <a:ext uri="{FF2B5EF4-FFF2-40B4-BE49-F238E27FC236}">
                <a16:creationId xmlns:a16="http://schemas.microsoft.com/office/drawing/2014/main" id="{B125108D-E923-4990-B2E5-0E58523551F4}"/>
              </a:ext>
            </a:extLst>
          </p:cNvPr>
          <p:cNvSpPr>
            <a:spLocks noGrp="1"/>
          </p:cNvSpPr>
          <p:nvPr>
            <p:ph type="title"/>
          </p:nvPr>
        </p:nvSpPr>
        <p:spPr>
          <a:xfrm>
            <a:off x="1703388" y="928688"/>
            <a:ext cx="21918612" cy="925512"/>
          </a:xfrm>
        </p:spPr>
        <p:txBody>
          <a:bodyPr/>
          <a:lstStyle/>
          <a:p>
            <a:r>
              <a:rPr lang="fa-IR" dirty="0"/>
              <a:t>کاربردهای هوش مصنوعی در خبرنگاری</a:t>
            </a:r>
            <a:endParaRPr lang="fa-IR" dirty="0">
              <a:cs typeface="B Koodak" panose="00000700000000000000" pitchFamily="2" charset="-78"/>
            </a:endParaRPr>
          </a:p>
        </p:txBody>
      </p:sp>
      <p:pic>
        <p:nvPicPr>
          <p:cNvPr id="12" name="Content Placeholder 11">
            <a:extLst>
              <a:ext uri="{FF2B5EF4-FFF2-40B4-BE49-F238E27FC236}">
                <a16:creationId xmlns:a16="http://schemas.microsoft.com/office/drawing/2014/main" id="{BE2FEF14-B510-4BD1-81B7-2F059487E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70" y="2200200"/>
            <a:ext cx="20049059" cy="9408086"/>
          </a:xfrm>
        </p:spPr>
      </p:pic>
    </p:spTree>
    <p:extLst>
      <p:ext uri="{BB962C8B-B14F-4D97-AF65-F5344CB8AC3E}">
        <p14:creationId xmlns:p14="http://schemas.microsoft.com/office/powerpoint/2010/main" val="30926979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5979288"/>
            <a:ext cx="9253538" cy="926021"/>
          </a:xfrm>
        </p:spPr>
        <p:txBody>
          <a:bodyPr/>
          <a:lstStyle/>
          <a:p>
            <a:r>
              <a:rPr lang="fa-IR" dirty="0">
                <a:solidFill>
                  <a:srgbClr val="CE7E42"/>
                </a:solidFill>
              </a:rPr>
              <a:t>با تشکر از توجه شما</a:t>
            </a:r>
          </a:p>
        </p:txBody>
      </p:sp>
      <p:sp>
        <p:nvSpPr>
          <p:cNvPr id="3" name="Title 1">
            <a:extLst>
              <a:ext uri="{FF2B5EF4-FFF2-40B4-BE49-F238E27FC236}">
                <a16:creationId xmlns:a16="http://schemas.microsoft.com/office/drawing/2014/main" id="{56AB109B-1441-4D04-9FAC-1EB6C0AD62E4}"/>
              </a:ext>
            </a:extLst>
          </p:cNvPr>
          <p:cNvSpPr txBox="1">
            <a:spLocks/>
          </p:cNvSpPr>
          <p:nvPr/>
        </p:nvSpPr>
        <p:spPr>
          <a:xfrm>
            <a:off x="10761133" y="5979288"/>
            <a:ext cx="6036205" cy="926021"/>
          </a:xfrm>
          <a:prstGeom prst="rect">
            <a:avLst/>
          </a:prstGeom>
        </p:spPr>
        <p:txBody>
          <a:bodyPr vert="horz" lIns="91440" tIns="45720" rIns="91440" bIns="45720" rtlCol="0" anchor="ctr">
            <a:noAutofit/>
          </a:bodyPr>
          <a:lstStyle>
            <a:lvl1pPr marL="0" indent="0" algn="r" defTabSz="1828709" rtl="1" eaLnBrk="1" latinLnBrk="0" hangingPunct="1">
              <a:lnSpc>
                <a:spcPct val="90000"/>
              </a:lnSpc>
              <a:spcBef>
                <a:spcPct val="0"/>
              </a:spcBef>
              <a:buSzPct val="80000"/>
              <a:buFontTx/>
              <a:buNone/>
              <a:defRPr sz="5200" b="1" kern="1200" baseline="0">
                <a:solidFill>
                  <a:srgbClr val="164193"/>
                </a:solidFill>
                <a:latin typeface="+mj-lt"/>
                <a:ea typeface="+mj-ea"/>
                <a:cs typeface="B Koodak" panose="00000700000000000000" pitchFamily="2" charset="-78"/>
              </a:defRPr>
            </a:lvl1pPr>
          </a:lstStyle>
          <a:p>
            <a:endParaRPr lang="fa-IR"/>
          </a:p>
        </p:txBody>
      </p:sp>
      <p:sp>
        <p:nvSpPr>
          <p:cNvPr id="4" name="Title 1">
            <a:extLst>
              <a:ext uri="{FF2B5EF4-FFF2-40B4-BE49-F238E27FC236}">
                <a16:creationId xmlns:a16="http://schemas.microsoft.com/office/drawing/2014/main" id="{6170301F-832D-4961-AD16-5D41E861AB36}"/>
              </a:ext>
            </a:extLst>
          </p:cNvPr>
          <p:cNvSpPr txBox="1">
            <a:spLocks/>
          </p:cNvSpPr>
          <p:nvPr/>
        </p:nvSpPr>
        <p:spPr>
          <a:xfrm>
            <a:off x="10761133" y="6129276"/>
            <a:ext cx="9253538" cy="926021"/>
          </a:xfrm>
          <a:prstGeom prst="rect">
            <a:avLst/>
          </a:prstGeom>
        </p:spPr>
        <p:txBody>
          <a:bodyPr vert="horz" lIns="91440" tIns="45720" rIns="91440" bIns="45720" rtlCol="0" anchor="ctr">
            <a:noAutofit/>
          </a:bodyPr>
          <a:lstStyle>
            <a:lvl1pPr marL="0" indent="0" algn="r" defTabSz="1828709" rtl="1" eaLnBrk="1" latinLnBrk="0" hangingPunct="1">
              <a:lnSpc>
                <a:spcPct val="90000"/>
              </a:lnSpc>
              <a:spcBef>
                <a:spcPct val="0"/>
              </a:spcBef>
              <a:buSzPct val="80000"/>
              <a:buFontTx/>
              <a:buNone/>
              <a:defRPr sz="5200" b="1" kern="1200" baseline="0">
                <a:solidFill>
                  <a:srgbClr val="164193"/>
                </a:solidFill>
                <a:latin typeface="+mj-lt"/>
                <a:ea typeface="+mj-ea"/>
                <a:cs typeface="B Koodak" panose="00000700000000000000" pitchFamily="2" charset="-78"/>
              </a:defRPr>
            </a:lvl1pPr>
          </a:lstStyle>
          <a:p>
            <a:pPr algn="l"/>
            <a:r>
              <a:rPr lang="fa-IR" sz="4800" dirty="0"/>
              <a:t>کاربردهای</a:t>
            </a:r>
          </a:p>
          <a:p>
            <a:pPr algn="l"/>
            <a:r>
              <a:rPr lang="fa-IR" sz="4800" dirty="0"/>
              <a:t> هوش مصنوعی</a:t>
            </a:r>
          </a:p>
          <a:p>
            <a:pPr algn="l"/>
            <a:r>
              <a:rPr lang="fa-IR" sz="4800" dirty="0"/>
              <a:t> در روزنامه نگاری</a:t>
            </a:r>
          </a:p>
        </p:txBody>
      </p:sp>
      <p:sp>
        <p:nvSpPr>
          <p:cNvPr id="5" name="Title 1">
            <a:extLst>
              <a:ext uri="{FF2B5EF4-FFF2-40B4-BE49-F238E27FC236}">
                <a16:creationId xmlns:a16="http://schemas.microsoft.com/office/drawing/2014/main" id="{65FB9BAA-1476-4F60-AEE1-62A744CDF91D}"/>
              </a:ext>
            </a:extLst>
          </p:cNvPr>
          <p:cNvSpPr txBox="1">
            <a:spLocks/>
          </p:cNvSpPr>
          <p:nvPr/>
        </p:nvSpPr>
        <p:spPr>
          <a:xfrm>
            <a:off x="5334001" y="8654756"/>
            <a:ext cx="9253538" cy="926021"/>
          </a:xfrm>
          <a:prstGeom prst="rect">
            <a:avLst/>
          </a:prstGeom>
        </p:spPr>
        <p:txBody>
          <a:bodyPr vert="horz" lIns="91440" tIns="45720" rIns="91440" bIns="45720" rtlCol="0" anchor="ctr">
            <a:noAutofit/>
          </a:bodyPr>
          <a:lstStyle>
            <a:lvl1pPr marL="0" indent="0" algn="r" defTabSz="1828709" rtl="1" eaLnBrk="1" latinLnBrk="0" hangingPunct="1">
              <a:lnSpc>
                <a:spcPct val="90000"/>
              </a:lnSpc>
              <a:spcBef>
                <a:spcPct val="0"/>
              </a:spcBef>
              <a:buSzPct val="80000"/>
              <a:buFontTx/>
              <a:buNone/>
              <a:defRPr sz="5200" b="1" kern="1200" baseline="0">
                <a:solidFill>
                  <a:srgbClr val="164193"/>
                </a:solidFill>
                <a:latin typeface="+mj-lt"/>
                <a:ea typeface="+mj-ea"/>
                <a:cs typeface="B Koodak" panose="00000700000000000000" pitchFamily="2" charset="-78"/>
              </a:defRPr>
            </a:lvl1pPr>
          </a:lstStyle>
          <a:p>
            <a:pPr algn="ctr"/>
            <a:r>
              <a:rPr lang="en-US" sz="3200" dirty="0"/>
              <a:t>mostafa.khadem@live.com</a:t>
            </a:r>
            <a:endParaRPr lang="fa-IR" dirty="0"/>
          </a:p>
        </p:txBody>
      </p:sp>
    </p:spTree>
    <p:extLst>
      <p:ext uri="{BB962C8B-B14F-4D97-AF65-F5344CB8AC3E}">
        <p14:creationId xmlns:p14="http://schemas.microsoft.com/office/powerpoint/2010/main" val="2435290586"/>
      </p:ext>
    </p:extLst>
  </p:cSld>
  <p:clrMapOvr>
    <a:masterClrMapping/>
  </p:clrMapOvr>
</p:sld>
</file>

<file path=ppt/theme/theme1.xml><?xml version="1.0" encoding="utf-8"?>
<a:theme xmlns:a="http://schemas.openxmlformats.org/drawingml/2006/main" name="Kimia inside">
  <a:themeElements>
    <a:clrScheme name="kimia co.">
      <a:dk1>
        <a:sysClr val="windowText" lastClr="000000"/>
      </a:dk1>
      <a:lt1>
        <a:sysClr val="window" lastClr="FFFFFF"/>
      </a:lt1>
      <a:dk2>
        <a:srgbClr val="6E6E6E"/>
      </a:dk2>
      <a:lt2>
        <a:srgbClr val="DDDDDD"/>
      </a:lt2>
      <a:accent1>
        <a:srgbClr val="164193"/>
      </a:accent1>
      <a:accent2>
        <a:srgbClr val="CE7E42"/>
      </a:accent2>
      <a:accent3>
        <a:srgbClr val="A5A5A5"/>
      </a:accent3>
      <a:accent4>
        <a:srgbClr val="DFAB84"/>
      </a:accent4>
      <a:accent5>
        <a:srgbClr val="738DBE"/>
      </a:accent5>
      <a:accent6>
        <a:srgbClr val="EED2BE"/>
      </a:accent6>
      <a:hlink>
        <a:srgbClr val="AAAAAA"/>
      </a:hlink>
      <a:folHlink>
        <a:srgbClr val="ADBCD9"/>
      </a:folHlink>
    </a:clrScheme>
    <a:fontScheme name="Custom 2">
      <a:majorFont>
        <a:latin typeface="Arial"/>
        <a:ea typeface=""/>
        <a:cs typeface="B Koodak"/>
      </a:majorFont>
      <a:minorFont>
        <a:latin typeface="Arial"/>
        <a:ea typeface=""/>
        <a:cs typeface="B Koodak"/>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2429</TotalTime>
  <Words>3450</Words>
  <Application>Microsoft Office PowerPoint</Application>
  <PresentationFormat>Custom</PresentationFormat>
  <Paragraphs>480</Paragraphs>
  <Slides>51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B Koodak</vt:lpstr>
      <vt:lpstr>B Yekan</vt:lpstr>
      <vt:lpstr>Calibri</vt:lpstr>
      <vt:lpstr>Courier New</vt:lpstr>
      <vt:lpstr>IRANYekan</vt:lpstr>
      <vt:lpstr>w_Dabestan Pro</vt:lpstr>
      <vt:lpstr>Kimia inside</vt:lpstr>
      <vt:lpstr>کاربردهای هوش مصنوعی در خبرنگاری جلسه سوم: تولید خودکار محتوا</vt:lpstr>
      <vt:lpstr>PowerPoint Presentation</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کاربردهای هوش مصنوعی در خبرنگاری</vt:lpstr>
      <vt:lpstr>با تشکر از توجه شما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user_surface2017@outlook.com</dc:creator>
  <cp:lastModifiedBy>Mostafa Khademolmele</cp:lastModifiedBy>
  <cp:revision>295</cp:revision>
  <dcterms:created xsi:type="dcterms:W3CDTF">2025-05-03T09:57:37Z</dcterms:created>
  <dcterms:modified xsi:type="dcterms:W3CDTF">2025-10-18T06:43:53Z</dcterms:modified>
</cp:coreProperties>
</file>