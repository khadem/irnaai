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5"/>
  </p:notesMasterIdLst>
  <p:sldIdLst>
    <p:sldId id="259" r:id="rId2"/>
    <p:sldId id="268" r:id="rId3"/>
    <p:sldId id="310" r:id="rId4"/>
    <p:sldId id="282" r:id="rId5"/>
    <p:sldId id="336" r:id="rId6"/>
    <p:sldId id="311" r:id="rId7"/>
    <p:sldId id="312" r:id="rId8"/>
    <p:sldId id="313" r:id="rId9"/>
    <p:sldId id="314" r:id="rId10"/>
    <p:sldId id="337" r:id="rId11"/>
    <p:sldId id="315" r:id="rId12"/>
    <p:sldId id="316" r:id="rId13"/>
    <p:sldId id="317" r:id="rId14"/>
    <p:sldId id="318" r:id="rId15"/>
    <p:sldId id="319" r:id="rId16"/>
    <p:sldId id="320" r:id="rId17"/>
    <p:sldId id="321" r:id="rId18"/>
    <p:sldId id="322" r:id="rId19"/>
    <p:sldId id="323" r:id="rId20"/>
    <p:sldId id="324" r:id="rId21"/>
    <p:sldId id="338" r:id="rId22"/>
    <p:sldId id="325" r:id="rId23"/>
    <p:sldId id="326" r:id="rId24"/>
    <p:sldId id="328" r:id="rId25"/>
    <p:sldId id="327" r:id="rId26"/>
    <p:sldId id="329" r:id="rId27"/>
    <p:sldId id="330" r:id="rId28"/>
    <p:sldId id="331" r:id="rId29"/>
    <p:sldId id="332" r:id="rId30"/>
    <p:sldId id="335" r:id="rId31"/>
    <p:sldId id="309" r:id="rId32"/>
    <p:sldId id="290" r:id="rId33"/>
    <p:sldId id="267" r:id="rId34"/>
  </p:sldIdLst>
  <p:sldSz cx="24382413" cy="13716000"/>
  <p:notesSz cx="9144000" cy="6858000"/>
  <p:defaultTextStyle>
    <a:defPPr>
      <a:defRPr lang="fa-IR"/>
    </a:defPPr>
    <a:lvl1pPr marL="0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354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709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063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417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1771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126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0480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4834" algn="l" defTabSz="1828709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7E42"/>
    <a:srgbClr val="164193"/>
    <a:srgbClr val="E2E2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2" autoAdjust="0"/>
    <p:restoredTop sz="94660"/>
  </p:normalViewPr>
  <p:slideViewPr>
    <p:cSldViewPr snapToGrid="0">
      <p:cViewPr varScale="1">
        <p:scale>
          <a:sx n="57" d="100"/>
          <a:sy n="57" d="100"/>
        </p:scale>
        <p:origin x="282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fa-I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D584BE07-979B-4FA0-9B38-E292101A23E7}" type="datetimeFigureOut">
              <a:rPr lang="fa-IR" smtClean="0"/>
              <a:t>26/04/1447</a:t>
            </a:fld>
            <a:endParaRPr lang="fa-I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a-I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a-I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fa-I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1B7AA89C-E3E8-4575-B91A-838C281437E3}" type="slidenum">
              <a:rPr lang="fa-IR" smtClean="0"/>
              <a:t>‹#›</a:t>
            </a:fld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228512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Kimia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03634" y="4415090"/>
            <a:ext cx="15820845" cy="1861019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FontTx/>
              <a:buNone/>
              <a:defRPr sz="8000" b="1">
                <a:solidFill>
                  <a:schemeClr val="bg1"/>
                </a:solidFill>
                <a:latin typeface="B Yekan" panose="00000400000000000000" pitchFamily="2" charset="-78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03634" y="5825715"/>
            <a:ext cx="15820845" cy="1267064"/>
          </a:xfrm>
        </p:spPr>
        <p:txBody>
          <a:bodyPr anchor="ctr">
            <a:normAutofit/>
          </a:bodyPr>
          <a:lstStyle>
            <a:lvl1pPr marL="0" indent="0" algn="ctr">
              <a:buNone/>
              <a:defRPr sz="4000" b="1">
                <a:solidFill>
                  <a:schemeClr val="bg1"/>
                </a:solidFill>
                <a:latin typeface="B Yekan" panose="00000400000000000000" pitchFamily="2" charset="-78"/>
                <a:cs typeface="+mj-cs"/>
              </a:defRPr>
            </a:lvl1pPr>
            <a:lvl2pPr marL="914354" indent="0" algn="ctr">
              <a:buNone/>
              <a:defRPr sz="4000"/>
            </a:lvl2pPr>
            <a:lvl3pPr marL="1828709" indent="0" algn="ctr">
              <a:buNone/>
              <a:defRPr sz="3600"/>
            </a:lvl3pPr>
            <a:lvl4pPr marL="2743063" indent="0" algn="ctr">
              <a:buNone/>
              <a:defRPr sz="3200"/>
            </a:lvl4pPr>
            <a:lvl5pPr marL="3657417" indent="0" algn="ctr">
              <a:buNone/>
              <a:defRPr sz="3200"/>
            </a:lvl5pPr>
            <a:lvl6pPr marL="4571771" indent="0" algn="ctr">
              <a:buNone/>
              <a:defRPr sz="3200"/>
            </a:lvl6pPr>
            <a:lvl7pPr marL="5486126" indent="0" algn="ctr">
              <a:buNone/>
              <a:defRPr sz="3200"/>
            </a:lvl7pPr>
            <a:lvl8pPr marL="6400480" indent="0" algn="ctr">
              <a:buNone/>
              <a:defRPr sz="3200"/>
            </a:lvl8pPr>
            <a:lvl9pPr marL="7314834" indent="0" algn="ctr">
              <a:buNone/>
              <a:defRPr sz="32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513588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25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nounc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‹#›</a:t>
            </a:fld>
            <a:endParaRPr lang="fa-IR"/>
          </a:p>
        </p:txBody>
      </p:sp>
      <p:sp>
        <p:nvSpPr>
          <p:cNvPr id="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1276710" y="2529544"/>
            <a:ext cx="14130164" cy="9260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fa-IR" dirty="0"/>
              <a:t>اعلان سلب مسئولیت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63020" y="10481076"/>
            <a:ext cx="2257933" cy="122495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727209" y="2541797"/>
            <a:ext cx="1059890" cy="901517"/>
          </a:xfrm>
          <a:prstGeom prst="rect">
            <a:avLst/>
          </a:prstGeom>
        </p:spPr>
      </p:pic>
      <p:sp>
        <p:nvSpPr>
          <p:cNvPr id="7" name="Title Placeholder 1"/>
          <p:cNvSpPr txBox="1">
            <a:spLocks/>
          </p:cNvSpPr>
          <p:nvPr userDrawn="1"/>
        </p:nvSpPr>
        <p:spPr>
          <a:xfrm>
            <a:off x="1276709" y="4063028"/>
            <a:ext cx="15510391" cy="370287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r" defTabSz="1828709" rtl="1" eaLnBrk="1" latinLnBrk="0" hangingPunct="1">
              <a:lnSpc>
                <a:spcPct val="90000"/>
              </a:lnSpc>
              <a:spcBef>
                <a:spcPct val="0"/>
              </a:spcBef>
              <a:buSzPct val="80000"/>
              <a:buFontTx/>
              <a:buNone/>
              <a:defRPr sz="4700" b="1" kern="1200">
                <a:solidFill>
                  <a:schemeClr val="bg1"/>
                </a:solidFill>
                <a:latin typeface="+mj-lt"/>
                <a:ea typeface="+mj-ea"/>
                <a:cs typeface="B Yekan" panose="00000400000000000000" pitchFamily="2" charset="-78"/>
              </a:defRPr>
            </a:lvl1pPr>
          </a:lstStyle>
          <a:p>
            <a:pPr algn="just"/>
            <a:r>
              <a:rPr lang="fa-IR" sz="3600" b="0" dirty="0"/>
              <a:t>محتوای گزارش تهیه شده، صرفا جهت بررسی بوده و شرکت تامین سرمایه</a:t>
            </a:r>
            <a:r>
              <a:rPr lang="fa-IR" sz="3600" b="0" baseline="0" dirty="0"/>
              <a:t> کیمیا</a:t>
            </a:r>
            <a:r>
              <a:rPr lang="fa-IR" sz="3600" b="0" dirty="0"/>
              <a:t> هیچگونه مسئولیتی در قبال معاملات انجام شده با اتکاء بر اطلاعات این گزارش بر عهده ندارد.</a:t>
            </a:r>
          </a:p>
          <a:p>
            <a:pPr algn="just"/>
            <a:r>
              <a:rPr lang="fa-IR" sz="3600" b="0" dirty="0"/>
              <a:t>محتوای این گزارش به تنهایی نمی</a:t>
            </a:r>
            <a:r>
              <a:rPr lang="fa-IR" sz="3600" b="0" baseline="0" dirty="0"/>
              <a:t>‌</a:t>
            </a:r>
            <a:r>
              <a:rPr lang="fa-IR" sz="3600" b="0" dirty="0"/>
              <a:t>تواند به عنوان ارائه راه‌حل سرمایه‌گذاری، پیشنهاد معامله، ایجاب برای خرید و فروش هرگونه اوراق بهادار و یا سایر ابزارهای مالی و یا ترغیب به اتخاذ هرگونه تصمیم مالی و تجاری تلقی گردد.</a:t>
            </a:r>
            <a:endParaRPr lang="en-US" sz="3600" b="0" dirty="0"/>
          </a:p>
        </p:txBody>
      </p:sp>
      <p:sp>
        <p:nvSpPr>
          <p:cNvPr id="8" name="Title Placeholder 1"/>
          <p:cNvSpPr txBox="1">
            <a:spLocks/>
          </p:cNvSpPr>
          <p:nvPr userDrawn="1"/>
        </p:nvSpPr>
        <p:spPr>
          <a:xfrm>
            <a:off x="1311214" y="8210690"/>
            <a:ext cx="15510391" cy="15977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r" defTabSz="1828709" rtl="1" eaLnBrk="1" latinLnBrk="0" hangingPunct="1">
              <a:lnSpc>
                <a:spcPct val="90000"/>
              </a:lnSpc>
              <a:spcBef>
                <a:spcPct val="0"/>
              </a:spcBef>
              <a:buSzPct val="80000"/>
              <a:buFontTx/>
              <a:buNone/>
              <a:defRPr sz="4700" b="1" kern="1200">
                <a:solidFill>
                  <a:schemeClr val="bg1"/>
                </a:solidFill>
                <a:latin typeface="+mj-lt"/>
                <a:ea typeface="+mj-ea"/>
                <a:cs typeface="B Yekan" panose="00000400000000000000" pitchFamily="2" charset="-78"/>
              </a:defRPr>
            </a:lvl1pPr>
          </a:lstStyle>
          <a:p>
            <a:pPr algn="just"/>
            <a:r>
              <a:rPr lang="fa-IR" sz="3600" b="0" dirty="0"/>
              <a:t>اطلاعات و مفروضات این گزارش می‌تواند در هر لحظه با توجه به مفروضات تحلیل تغییر کند و این شرکت هیچگونه مسئولیتی در قبال عدم بروزرسانی این اطلاعات به عهده ندارد.</a:t>
            </a:r>
            <a:endParaRPr lang="en-US" sz="3600" b="0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1311214" y="3959510"/>
            <a:ext cx="1533776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1276708" y="7965046"/>
            <a:ext cx="1533776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 userDrawn="1"/>
        </p:nvCxnSpPr>
        <p:spPr>
          <a:xfrm>
            <a:off x="1363020" y="10031479"/>
            <a:ext cx="15337767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9952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de -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8451273"/>
          </a:xfrm>
        </p:spPr>
        <p:txBody>
          <a:bodyPr/>
          <a:lstStyle>
            <a:lvl1pPr marL="0" indent="0" algn="just">
              <a:lnSpc>
                <a:spcPct val="150000"/>
              </a:lnSpc>
              <a:buFontTx/>
              <a:buNone/>
              <a:defRPr b="1">
                <a:solidFill>
                  <a:srgbClr val="164193"/>
                </a:solidFill>
              </a:defRPr>
            </a:lvl1pPr>
            <a:lvl2pPr marL="540000" indent="0" algn="just">
              <a:lnSpc>
                <a:spcPct val="150000"/>
              </a:lnSpc>
              <a:buFontTx/>
              <a:buNone/>
              <a:defRPr/>
            </a:lvl2pPr>
            <a:lvl3pPr algn="just">
              <a:lnSpc>
                <a:spcPct val="150000"/>
              </a:lnSpc>
              <a:defRPr>
                <a:solidFill>
                  <a:srgbClr val="CE7E42"/>
                </a:solidFill>
              </a:defRPr>
            </a:lvl3pPr>
            <a:lvl4pPr algn="just">
              <a:lnSpc>
                <a:spcPct val="150000"/>
              </a:lnSpc>
              <a:defRPr/>
            </a:lvl4pPr>
            <a:lvl5pPr algn="just">
              <a:lnSpc>
                <a:spcPct val="15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‹#›</a:t>
            </a:fld>
            <a:endParaRPr lang="fa-IR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1704001" y="928133"/>
            <a:ext cx="21918000" cy="9260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cs typeface="B Koodak" panose="00000700000000000000" pitchFamily="2" charset="-7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70246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hart or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24400" y="6026727"/>
            <a:ext cx="15323127" cy="5153892"/>
          </a:xfrm>
        </p:spPr>
        <p:txBody>
          <a:bodyPr/>
          <a:lstStyle/>
          <a:p>
            <a:pPr lv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‹#›</a:t>
            </a:fld>
            <a:endParaRPr lang="fa-IR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1704001" y="928133"/>
            <a:ext cx="21918000" cy="9260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cs typeface="B Yekan" panose="00000400000000000000" pitchFamily="2" charset="-7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2133600" y="2784764"/>
            <a:ext cx="20061382" cy="3241964"/>
          </a:xfrm>
        </p:spPr>
        <p:txBody>
          <a:bodyPr/>
          <a:lstStyle>
            <a:lvl1pPr marL="0" indent="0" algn="just">
              <a:lnSpc>
                <a:spcPct val="150000"/>
              </a:lnSpc>
              <a:buFontTx/>
              <a:buNone/>
              <a:defRPr b="1">
                <a:solidFill>
                  <a:srgbClr val="164193"/>
                </a:solidFill>
              </a:defRPr>
            </a:lvl1pPr>
            <a:lvl2pPr marL="540000" indent="0" algn="just">
              <a:lnSpc>
                <a:spcPct val="150000"/>
              </a:lnSpc>
              <a:buFontTx/>
              <a:buNone/>
              <a:defRPr/>
            </a:lvl2pPr>
            <a:lvl3pPr algn="just">
              <a:lnSpc>
                <a:spcPct val="150000"/>
              </a:lnSpc>
              <a:defRPr>
                <a:solidFill>
                  <a:srgbClr val="CE7E42"/>
                </a:solidFill>
              </a:defRPr>
            </a:lvl3pPr>
            <a:lvl4pPr algn="just">
              <a:lnSpc>
                <a:spcPct val="150000"/>
              </a:lnSpc>
              <a:defRPr/>
            </a:lvl4pPr>
            <a:lvl5pPr algn="just">
              <a:lnSpc>
                <a:spcPct val="15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529756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table or chart (2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61309" y="2784764"/>
            <a:ext cx="10681855" cy="8451272"/>
          </a:xfrm>
        </p:spPr>
        <p:txBody>
          <a:bodyPr/>
          <a:lstStyle/>
          <a:p>
            <a:pPr lvl="0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‹#›</a:t>
            </a:fld>
            <a:endParaRPr lang="fa-IR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704001" y="928133"/>
            <a:ext cx="21918000" cy="9260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2954000" y="2784763"/>
            <a:ext cx="9240982" cy="8451273"/>
          </a:xfrm>
        </p:spPr>
        <p:txBody>
          <a:bodyPr/>
          <a:lstStyle>
            <a:lvl1pPr marL="0" indent="0" algn="just">
              <a:lnSpc>
                <a:spcPct val="150000"/>
              </a:lnSpc>
              <a:buFontTx/>
              <a:buNone/>
              <a:defRPr b="1">
                <a:solidFill>
                  <a:srgbClr val="164193"/>
                </a:solidFill>
              </a:defRPr>
            </a:lvl1pPr>
            <a:lvl2pPr marL="540000" indent="0" algn="just">
              <a:lnSpc>
                <a:spcPct val="150000"/>
              </a:lnSpc>
              <a:buFontTx/>
              <a:buNone/>
              <a:defRPr/>
            </a:lvl2pPr>
            <a:lvl3pPr algn="just">
              <a:lnSpc>
                <a:spcPct val="150000"/>
              </a:lnSpc>
              <a:defRPr>
                <a:solidFill>
                  <a:srgbClr val="CE7E42"/>
                </a:solidFill>
              </a:defRPr>
            </a:lvl3pPr>
            <a:lvl4pPr algn="just">
              <a:lnSpc>
                <a:spcPct val="150000"/>
              </a:lnSpc>
              <a:defRPr/>
            </a:lvl4pPr>
            <a:lvl5pPr algn="just">
              <a:lnSpc>
                <a:spcPct val="15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296265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‹#›</a:t>
            </a:fld>
            <a:endParaRPr lang="fa-IR"/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1704001" y="928133"/>
            <a:ext cx="21918000" cy="9260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29837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ider | Titr+pic midd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‹#›</a:t>
            </a:fld>
            <a:endParaRPr lang="fa-IR"/>
          </a:p>
        </p:txBody>
      </p:sp>
      <p:sp>
        <p:nvSpPr>
          <p:cNvPr id="4" name="Rounded Rectangle 3"/>
          <p:cNvSpPr/>
          <p:nvPr userDrawn="1"/>
        </p:nvSpPr>
        <p:spPr>
          <a:xfrm>
            <a:off x="1663591" y="1529015"/>
            <a:ext cx="21029831" cy="225327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4436" y="1841869"/>
            <a:ext cx="19908982" cy="169104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5000">
                <a:solidFill>
                  <a:schemeClr val="bg1"/>
                </a:solidFill>
                <a:latin typeface="+mj-lt"/>
                <a:cs typeface="IRANYekan" panose="020B0506030804020204" pitchFamily="34" charset="-7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814944" y="4045236"/>
            <a:ext cx="20754111" cy="7149234"/>
          </a:xfrm>
        </p:spPr>
        <p:txBody>
          <a:bodyPr/>
          <a:lstStyle/>
          <a:p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697000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7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ider | full page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>
          <a:xfrm>
            <a:off x="0" y="0"/>
            <a:ext cx="24391242" cy="13716000"/>
          </a:xfrm>
          <a:custGeom>
            <a:avLst/>
            <a:gdLst>
              <a:gd name="connsiteX0" fmla="*/ 6770616 w 24391242"/>
              <a:gd name="connsiteY0" fmla="*/ 3365604 h 13716000"/>
              <a:gd name="connsiteX1" fmla="*/ 6770616 w 24391242"/>
              <a:gd name="connsiteY1" fmla="*/ 9826070 h 13716000"/>
              <a:gd name="connsiteX2" fmla="*/ 16829016 w 24391242"/>
              <a:gd name="connsiteY2" fmla="*/ 9826070 h 13716000"/>
              <a:gd name="connsiteX3" fmla="*/ 16829016 w 24391242"/>
              <a:gd name="connsiteY3" fmla="*/ 3365604 h 13716000"/>
              <a:gd name="connsiteX4" fmla="*/ 0 w 24391242"/>
              <a:gd name="connsiteY4" fmla="*/ 0 h 13716000"/>
              <a:gd name="connsiteX5" fmla="*/ 24391242 w 24391242"/>
              <a:gd name="connsiteY5" fmla="*/ 0 h 13716000"/>
              <a:gd name="connsiteX6" fmla="*/ 24391242 w 24391242"/>
              <a:gd name="connsiteY6" fmla="*/ 13716000 h 13716000"/>
              <a:gd name="connsiteX7" fmla="*/ 0 w 24391242"/>
              <a:gd name="connsiteY7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4391242" h="13716000">
                <a:moveTo>
                  <a:pt x="6770616" y="3365604"/>
                </a:moveTo>
                <a:lnTo>
                  <a:pt x="6770616" y="9826070"/>
                </a:lnTo>
                <a:lnTo>
                  <a:pt x="16829016" y="9826070"/>
                </a:lnTo>
                <a:lnTo>
                  <a:pt x="16829016" y="3365604"/>
                </a:lnTo>
                <a:close/>
                <a:moveTo>
                  <a:pt x="0" y="0"/>
                </a:moveTo>
                <a:lnTo>
                  <a:pt x="24391242" y="0"/>
                </a:lnTo>
                <a:lnTo>
                  <a:pt x="24391242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 anchor="ctr" anchorCtr="1">
            <a:noAutofit/>
          </a:bodyPr>
          <a:lstStyle/>
          <a:p>
            <a:endParaRPr lang="fa-IR" dirty="0"/>
          </a:p>
        </p:txBody>
      </p:sp>
      <p:sp>
        <p:nvSpPr>
          <p:cNvPr id="13" name="Slide Number Placeholder 5" hidden="1"/>
          <p:cNvSpPr txBox="1">
            <a:spLocks/>
          </p:cNvSpPr>
          <p:nvPr userDrawn="1"/>
        </p:nvSpPr>
        <p:spPr>
          <a:xfrm>
            <a:off x="376686" y="12537300"/>
            <a:ext cx="760521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a-IR"/>
            </a:defPPr>
            <a:lvl1pPr marL="0" algn="r" defTabSz="1828709" rtl="0" eaLnBrk="1" latinLnBrk="0" hangingPunct="1">
              <a:defRPr sz="2400" kern="1200">
                <a:solidFill>
                  <a:srgbClr val="164193"/>
                </a:solidFill>
                <a:latin typeface="+mn-lt"/>
                <a:ea typeface="+mn-ea"/>
                <a:cs typeface="+mn-cs"/>
              </a:defRPr>
            </a:lvl1pPr>
            <a:lvl2pPr marL="914354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09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063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417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771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126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480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4834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C7264DD-8205-481D-9B6A-9CE0D2D966EE}" type="slidenum">
              <a:rPr lang="fa-IR" smtClean="0"/>
              <a:pPr/>
              <a:t>‹#›</a:t>
            </a:fld>
            <a:endParaRPr lang="fa-IR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6773" y="3373438"/>
            <a:ext cx="10058400" cy="646046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title"/>
          </p:nvPr>
        </p:nvSpPr>
        <p:spPr>
          <a:xfrm>
            <a:off x="6993467" y="5607218"/>
            <a:ext cx="9464960" cy="1128523"/>
          </a:xfrm>
          <a:prstGeom prst="rect">
            <a:avLst/>
          </a:prstGeom>
        </p:spPr>
        <p:txBody>
          <a:bodyPr anchor="t"/>
          <a:lstStyle>
            <a:lvl1pPr marL="0" indent="0" algn="r">
              <a:buFontTx/>
              <a:buNone/>
              <a:defRPr sz="4500">
                <a:solidFill>
                  <a:schemeClr val="bg1"/>
                </a:solidFill>
                <a:latin typeface="+mj-lt"/>
                <a:cs typeface="IRANYekan" panose="020B0506030804020204" pitchFamily="34" charset="-7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6993466" y="4554527"/>
            <a:ext cx="9465733" cy="1000125"/>
          </a:xfrm>
        </p:spPr>
        <p:txBody>
          <a:bodyPr anchor="b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83447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extLst mod="1"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79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ider | half page p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760520" y="793630"/>
            <a:ext cx="15748981" cy="12321519"/>
          </a:xfrm>
          <a:custGeom>
            <a:avLst/>
            <a:gdLst>
              <a:gd name="connsiteX0" fmla="*/ 0 w 15748981"/>
              <a:gd name="connsiteY0" fmla="*/ 0 h 12321519"/>
              <a:gd name="connsiteX1" fmla="*/ 15748981 w 15748981"/>
              <a:gd name="connsiteY1" fmla="*/ 0 h 12321519"/>
              <a:gd name="connsiteX2" fmla="*/ 15748981 w 15748981"/>
              <a:gd name="connsiteY2" fmla="*/ 2169704 h 12321519"/>
              <a:gd name="connsiteX3" fmla="*/ 13181362 w 15748981"/>
              <a:gd name="connsiteY3" fmla="*/ 2169704 h 12321519"/>
              <a:gd name="connsiteX4" fmla="*/ 13181362 w 15748981"/>
              <a:gd name="connsiteY4" fmla="*/ 10336895 h 12321519"/>
              <a:gd name="connsiteX5" fmla="*/ 15748981 w 15748981"/>
              <a:gd name="connsiteY5" fmla="*/ 10336895 h 12321519"/>
              <a:gd name="connsiteX6" fmla="*/ 15748981 w 15748981"/>
              <a:gd name="connsiteY6" fmla="*/ 12321519 h 12321519"/>
              <a:gd name="connsiteX7" fmla="*/ 0 w 15748981"/>
              <a:gd name="connsiteY7" fmla="*/ 12321519 h 123215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748981" h="12321519">
                <a:moveTo>
                  <a:pt x="0" y="0"/>
                </a:moveTo>
                <a:lnTo>
                  <a:pt x="15748981" y="0"/>
                </a:lnTo>
                <a:lnTo>
                  <a:pt x="15748981" y="2169704"/>
                </a:lnTo>
                <a:lnTo>
                  <a:pt x="13181362" y="2169704"/>
                </a:lnTo>
                <a:lnTo>
                  <a:pt x="13181362" y="10336895"/>
                </a:lnTo>
                <a:lnTo>
                  <a:pt x="15748981" y="10336895"/>
                </a:lnTo>
                <a:lnTo>
                  <a:pt x="15748981" y="12321519"/>
                </a:lnTo>
                <a:lnTo>
                  <a:pt x="0" y="12321519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fa-IR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800600" y="11273519"/>
            <a:ext cx="1864358" cy="714972"/>
          </a:xfrm>
          <a:prstGeom prst="rect">
            <a:avLst/>
          </a:prstGeom>
        </p:spPr>
      </p:pic>
      <p:sp>
        <p:nvSpPr>
          <p:cNvPr id="10" name="Slide Number Placeholder 5" hidden="1"/>
          <p:cNvSpPr txBox="1">
            <a:spLocks/>
          </p:cNvSpPr>
          <p:nvPr userDrawn="1"/>
        </p:nvSpPr>
        <p:spPr>
          <a:xfrm>
            <a:off x="376686" y="12537300"/>
            <a:ext cx="760521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a-IR"/>
            </a:defPPr>
            <a:lvl1pPr marL="0" algn="r" defTabSz="1828709" rtl="0" eaLnBrk="1" latinLnBrk="0" hangingPunct="1">
              <a:defRPr sz="2400" kern="1200">
                <a:solidFill>
                  <a:srgbClr val="164193"/>
                </a:solidFill>
                <a:latin typeface="+mn-lt"/>
                <a:ea typeface="+mn-ea"/>
                <a:cs typeface="+mn-cs"/>
              </a:defRPr>
            </a:lvl1pPr>
            <a:lvl2pPr marL="914354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709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063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417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1771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126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480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4834" algn="l" defTabSz="1828709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C7264DD-8205-481D-9B6A-9CE0D2D966EE}" type="slidenum">
              <a:rPr lang="fa-IR" smtClean="0"/>
              <a:pPr/>
              <a:t>‹#›</a:t>
            </a:fld>
            <a:endParaRPr lang="fa-IR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8139" y="2963333"/>
            <a:ext cx="9607416" cy="8183033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3948140" y="6250685"/>
            <a:ext cx="9464960" cy="1128523"/>
          </a:xfrm>
          <a:prstGeom prst="rect">
            <a:avLst/>
          </a:prstGeom>
        </p:spPr>
        <p:txBody>
          <a:bodyPr anchor="t"/>
          <a:lstStyle>
            <a:lvl1pPr marL="0" indent="0" algn="r">
              <a:buFontTx/>
              <a:buNone/>
              <a:defRPr sz="4500">
                <a:solidFill>
                  <a:schemeClr val="bg1"/>
                </a:solidFill>
                <a:latin typeface="+mj-lt"/>
                <a:cs typeface="IRANYekan" panose="020B0506030804020204" pitchFamily="34" charset="-7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948138" y="5386556"/>
            <a:ext cx="9464962" cy="864129"/>
          </a:xfrm>
        </p:spPr>
        <p:txBody>
          <a:bodyPr anchor="b"/>
          <a:lstStyle>
            <a:lvl1pPr>
              <a:defRPr sz="4000">
                <a:solidFill>
                  <a:schemeClr val="bg1"/>
                </a:solidFill>
              </a:defRPr>
            </a:lvl1pPr>
            <a:lvl3pPr marL="1162823" indent="0">
              <a:buNone/>
              <a:defRPr/>
            </a:lvl3pPr>
            <a:lvl4pPr marL="2026823" indent="0">
              <a:buNone/>
              <a:defRPr/>
            </a:lvl4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63528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  <p:extLst mod="1"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79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-no 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‹#›</a:t>
            </a:fld>
            <a:endParaRPr lang="fa-IR"/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1704001" y="928133"/>
            <a:ext cx="21918000" cy="9260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8451273"/>
          </a:xfrm>
        </p:spPr>
        <p:txBody>
          <a:bodyPr/>
          <a:lstStyle>
            <a:lvl1pPr marL="0" indent="0" algn="just">
              <a:lnSpc>
                <a:spcPct val="150000"/>
              </a:lnSpc>
              <a:buFontTx/>
              <a:buNone/>
              <a:defRPr b="1">
                <a:solidFill>
                  <a:srgbClr val="164193"/>
                </a:solidFill>
              </a:defRPr>
            </a:lvl1pPr>
            <a:lvl2pPr marL="540000" indent="0" algn="just">
              <a:lnSpc>
                <a:spcPct val="150000"/>
              </a:lnSpc>
              <a:buFontTx/>
              <a:buNone/>
              <a:defRPr/>
            </a:lvl2pPr>
            <a:lvl3pPr algn="just">
              <a:lnSpc>
                <a:spcPct val="150000"/>
              </a:lnSpc>
              <a:defRPr>
                <a:solidFill>
                  <a:srgbClr val="CE7E42"/>
                </a:solidFill>
              </a:defRPr>
            </a:lvl3pPr>
            <a:lvl4pPr algn="just">
              <a:lnSpc>
                <a:spcPct val="150000"/>
              </a:lnSpc>
              <a:defRPr/>
            </a:lvl4pPr>
            <a:lvl5pPr algn="just">
              <a:lnSpc>
                <a:spcPct val="15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81800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chart or table - no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24400" y="6026727"/>
            <a:ext cx="15323127" cy="5153892"/>
          </a:xfrm>
        </p:spPr>
        <p:txBody>
          <a:bodyPr/>
          <a:lstStyle/>
          <a:p>
            <a:pPr lv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‹#›</a:t>
            </a:fld>
            <a:endParaRPr lang="fa-IR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1704001" y="928133"/>
            <a:ext cx="21918000" cy="9260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3"/>
          </p:nvPr>
        </p:nvSpPr>
        <p:spPr>
          <a:xfrm>
            <a:off x="2133600" y="2784764"/>
            <a:ext cx="20061382" cy="3241964"/>
          </a:xfrm>
        </p:spPr>
        <p:txBody>
          <a:bodyPr/>
          <a:lstStyle>
            <a:lvl1pPr marL="0" indent="0" algn="just">
              <a:lnSpc>
                <a:spcPct val="150000"/>
              </a:lnSpc>
              <a:buFontTx/>
              <a:buNone/>
              <a:defRPr b="1">
                <a:solidFill>
                  <a:srgbClr val="164193"/>
                </a:solidFill>
              </a:defRPr>
            </a:lvl1pPr>
            <a:lvl2pPr marL="540000" indent="0" algn="just">
              <a:lnSpc>
                <a:spcPct val="150000"/>
              </a:lnSpc>
              <a:buFontTx/>
              <a:buNone/>
              <a:defRPr/>
            </a:lvl2pPr>
            <a:lvl3pPr algn="just">
              <a:lnSpc>
                <a:spcPct val="150000"/>
              </a:lnSpc>
              <a:defRPr>
                <a:solidFill>
                  <a:srgbClr val="CE7E42"/>
                </a:solidFill>
              </a:defRPr>
            </a:lvl3pPr>
            <a:lvl4pPr algn="just">
              <a:lnSpc>
                <a:spcPct val="150000"/>
              </a:lnSpc>
              <a:defRPr/>
            </a:lvl4pPr>
            <a:lvl5pPr algn="just">
              <a:lnSpc>
                <a:spcPct val="15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086732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+ table or chart (2 column) - no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61309" y="2784764"/>
            <a:ext cx="10681855" cy="8451272"/>
          </a:xfrm>
        </p:spPr>
        <p:txBody>
          <a:bodyPr/>
          <a:lstStyle/>
          <a:p>
            <a:pPr lvl="0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‹#›</a:t>
            </a:fld>
            <a:endParaRPr lang="fa-IR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1704001" y="928133"/>
            <a:ext cx="21918000" cy="9260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2954000" y="2784763"/>
            <a:ext cx="9240982" cy="8451273"/>
          </a:xfrm>
        </p:spPr>
        <p:txBody>
          <a:bodyPr/>
          <a:lstStyle>
            <a:lvl1pPr marL="0" indent="0" algn="just">
              <a:lnSpc>
                <a:spcPct val="150000"/>
              </a:lnSpc>
              <a:buFontTx/>
              <a:buNone/>
              <a:defRPr b="1">
                <a:solidFill>
                  <a:srgbClr val="164193"/>
                </a:solidFill>
              </a:defRPr>
            </a:lvl1pPr>
            <a:lvl2pPr marL="540000" indent="0" algn="just">
              <a:lnSpc>
                <a:spcPct val="150000"/>
              </a:lnSpc>
              <a:buFontTx/>
              <a:buNone/>
              <a:defRPr/>
            </a:lvl2pPr>
            <a:lvl3pPr algn="just">
              <a:lnSpc>
                <a:spcPct val="150000"/>
              </a:lnSpc>
              <a:defRPr>
                <a:solidFill>
                  <a:srgbClr val="CE7E42"/>
                </a:solidFill>
              </a:defRPr>
            </a:lvl3pPr>
            <a:lvl4pPr algn="just">
              <a:lnSpc>
                <a:spcPct val="150000"/>
              </a:lnSpc>
              <a:defRPr/>
            </a:lvl4pPr>
            <a:lvl5pPr algn="just">
              <a:lnSpc>
                <a:spcPct val="150000"/>
              </a:lnSpc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585697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no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‹#›</a:t>
            </a:fld>
            <a:endParaRPr lang="fa-IR"/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1704001" y="928133"/>
            <a:ext cx="21918000" cy="9260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68777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ider | Titr+pic - no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‹#›</a:t>
            </a:fld>
            <a:endParaRPr lang="fa-IR"/>
          </a:p>
        </p:txBody>
      </p:sp>
      <p:sp>
        <p:nvSpPr>
          <p:cNvPr id="4" name="Rounded Rectangle 3"/>
          <p:cNvSpPr/>
          <p:nvPr userDrawn="1"/>
        </p:nvSpPr>
        <p:spPr>
          <a:xfrm>
            <a:off x="1663591" y="1529015"/>
            <a:ext cx="21029831" cy="225327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fa-IR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4436" y="1841869"/>
            <a:ext cx="19908982" cy="169104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5000">
                <a:solidFill>
                  <a:schemeClr val="bg1"/>
                </a:solidFill>
                <a:latin typeface="+mj-lt"/>
                <a:cs typeface="IRANYekan" panose="020B0506030804020204" pitchFamily="34" charset="-7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814944" y="4045236"/>
            <a:ext cx="20754111" cy="7149234"/>
          </a:xfrm>
        </p:spPr>
        <p:txBody>
          <a:bodyPr/>
          <a:lstStyle/>
          <a:p>
            <a:endParaRPr lang="fa-IR"/>
          </a:p>
        </p:txBody>
      </p:sp>
    </p:spTree>
    <p:extLst>
      <p:ext uri="{BB962C8B-B14F-4D97-AF65-F5344CB8AC3E}">
        <p14:creationId xmlns:p14="http://schemas.microsoft.com/office/powerpoint/2010/main" val="1673084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  <p:extLst mod="1"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79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3217333" y="5979288"/>
            <a:ext cx="6036205" cy="9260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sz="5200" baseline="0"/>
            </a:lvl1pPr>
          </a:lstStyle>
          <a:p>
            <a:r>
              <a:rPr lang="fa-IR" dirty="0"/>
              <a:t>با تشکر از توجه شما</a:t>
            </a:r>
            <a:endParaRPr lang="en-US" dirty="0"/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9920379" y="5741508"/>
            <a:ext cx="0" cy="1487429"/>
          </a:xfrm>
          <a:prstGeom prst="line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563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alphaModFix amt="46000"/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33600" y="2784762"/>
            <a:ext cx="20061382" cy="8451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a-IR" noProof="0" dirty="0" err="1"/>
              <a:t>سرفصل‌های</a:t>
            </a:r>
            <a:r>
              <a:rPr lang="fa-IR" noProof="0" dirty="0"/>
              <a:t> مورد نظر</a:t>
            </a:r>
          </a:p>
          <a:p>
            <a:pPr lvl="1"/>
            <a:r>
              <a:rPr lang="fa-IR" noProof="0" dirty="0"/>
              <a:t>گزینه اول</a:t>
            </a:r>
          </a:p>
          <a:p>
            <a:pPr lvl="2"/>
            <a:r>
              <a:rPr lang="fa-IR" noProof="0" dirty="0"/>
              <a:t>موضوع دوم</a:t>
            </a:r>
          </a:p>
          <a:p>
            <a:pPr lvl="3"/>
            <a:r>
              <a:rPr lang="fa-IR" noProof="0" dirty="0"/>
              <a:t>موضوع سوم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4286" y="12384900"/>
            <a:ext cx="760521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rgbClr val="164193"/>
                </a:solidFill>
                <a:cs typeface="B Yekan" panose="00000400000000000000" pitchFamily="2" charset="-78"/>
              </a:defRPr>
            </a:lvl1pPr>
          </a:lstStyle>
          <a:p>
            <a:fld id="{FC7264DD-8205-481D-9B6A-9CE0D2D966EE}" type="slidenum">
              <a:rPr lang="fa-IR" smtClean="0"/>
              <a:pPr/>
              <a:t>‹#›</a:t>
            </a:fld>
            <a:endParaRPr lang="fa-IR" dirty="0"/>
          </a:p>
        </p:txBody>
      </p:sp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1676291" y="928133"/>
            <a:ext cx="21945709" cy="9260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fa-IR" noProof="0" dirty="0"/>
              <a:t>عنوان اسلاید</a:t>
            </a:r>
          </a:p>
        </p:txBody>
      </p:sp>
    </p:spTree>
    <p:extLst>
      <p:ext uri="{BB962C8B-B14F-4D97-AF65-F5344CB8AC3E}">
        <p14:creationId xmlns:p14="http://schemas.microsoft.com/office/powerpoint/2010/main" val="835356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0" r:id="rId2"/>
    <p:sldLayoutId id="2147483662" r:id="rId3"/>
    <p:sldLayoutId id="2147483664" r:id="rId4"/>
    <p:sldLayoutId id="2147483665" r:id="rId5"/>
    <p:sldLayoutId id="2147483666" r:id="rId6"/>
    <p:sldLayoutId id="2147483663" r:id="rId7"/>
    <p:sldLayoutId id="2147483671" r:id="rId8"/>
    <p:sldLayoutId id="2147483672" r:id="rId9"/>
    <p:sldLayoutId id="2147483668" r:id="rId10"/>
    <p:sldLayoutId id="2147483674" r:id="rId11"/>
    <p:sldLayoutId id="2147483675" r:id="rId12"/>
    <p:sldLayoutId id="2147483676" r:id="rId13"/>
    <p:sldLayoutId id="2147483673" r:id="rId14"/>
    <p:sldLayoutId id="2147483669" r:id="rId15"/>
  </p:sldLayoutIdLst>
  <p:hf hdr="0" dt="0"/>
  <p:txStyles>
    <p:titleStyle>
      <a:lvl1pPr marL="685800" indent="-685800" algn="r" defTabSz="1828709" rtl="1" eaLnBrk="1" latinLnBrk="0" hangingPunct="1">
        <a:lnSpc>
          <a:spcPct val="90000"/>
        </a:lnSpc>
        <a:spcBef>
          <a:spcPct val="0"/>
        </a:spcBef>
        <a:buSzPct val="80000"/>
        <a:buFontTx/>
        <a:buBlip>
          <a:blip r:embed="rId18"/>
        </a:buBlip>
        <a:defRPr sz="4700" b="1" kern="1200" baseline="0">
          <a:solidFill>
            <a:srgbClr val="164193"/>
          </a:solidFill>
          <a:latin typeface="+mj-lt"/>
          <a:ea typeface="+mj-ea"/>
          <a:cs typeface="B Koodak" panose="00000700000000000000" pitchFamily="2" charset="-78"/>
        </a:defRPr>
      </a:lvl1pPr>
    </p:titleStyle>
    <p:bodyStyle>
      <a:lvl1pPr marL="0" indent="0" algn="just" defTabSz="1828709" rtl="1" eaLnBrk="1" latinLnBrk="0" hangingPunct="1">
        <a:lnSpc>
          <a:spcPct val="150000"/>
        </a:lnSpc>
        <a:spcBef>
          <a:spcPts val="0"/>
        </a:spcBef>
        <a:buFontTx/>
        <a:buNone/>
        <a:defRPr sz="3000" b="1" kern="1200">
          <a:solidFill>
            <a:srgbClr val="164193"/>
          </a:solidFill>
          <a:latin typeface="B Yekan" panose="00000400000000000000" pitchFamily="2" charset="-78"/>
          <a:ea typeface="+mn-ea"/>
          <a:cs typeface="B Yekan" panose="00000400000000000000" pitchFamily="2" charset="-78"/>
        </a:defRPr>
      </a:lvl1pPr>
      <a:lvl2pPr marL="540000" indent="0" algn="just" defTabSz="1828709" rtl="1" eaLnBrk="1" latinLnBrk="0" hangingPunct="1">
        <a:lnSpc>
          <a:spcPct val="150000"/>
        </a:lnSpc>
        <a:spcBef>
          <a:spcPts val="0"/>
        </a:spcBef>
        <a:buFontTx/>
        <a:buNone/>
        <a:defRPr sz="3000" kern="1200">
          <a:solidFill>
            <a:schemeClr val="tx1">
              <a:lumMod val="65000"/>
              <a:lumOff val="35000"/>
            </a:schemeClr>
          </a:solidFill>
          <a:latin typeface="B Yekan" panose="00000400000000000000" pitchFamily="2" charset="-78"/>
          <a:ea typeface="+mn-ea"/>
          <a:cs typeface="B Yekan" panose="00000400000000000000" pitchFamily="2" charset="-78"/>
        </a:defRPr>
      </a:lvl2pPr>
      <a:lvl3pPr marL="1620000" indent="-457177" algn="just" defTabSz="1828709" rtl="1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3000" kern="1200">
          <a:solidFill>
            <a:srgbClr val="CE7E42"/>
          </a:solidFill>
          <a:latin typeface="B Yekan" panose="00000400000000000000" pitchFamily="2" charset="-78"/>
          <a:ea typeface="+mn-ea"/>
          <a:cs typeface="B Yekan" panose="00000400000000000000" pitchFamily="2" charset="-78"/>
        </a:defRPr>
      </a:lvl3pPr>
      <a:lvl4pPr marL="2484000" indent="-457177" algn="just" defTabSz="1828709" rtl="1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3000" kern="1200">
          <a:solidFill>
            <a:schemeClr val="tx1">
              <a:lumMod val="65000"/>
              <a:lumOff val="35000"/>
            </a:schemeClr>
          </a:solidFill>
          <a:latin typeface="B Yekan" panose="00000400000000000000" pitchFamily="2" charset="-78"/>
          <a:ea typeface="+mn-ea"/>
          <a:cs typeface="B Yekan" panose="00000400000000000000" pitchFamily="2" charset="-78"/>
        </a:defRPr>
      </a:lvl4pPr>
      <a:lvl5pPr marL="4114594" indent="-457177" algn="just" defTabSz="1828709" rtl="1" eaLnBrk="1" latinLnBrk="0" hangingPunct="1">
        <a:lnSpc>
          <a:spcPct val="150000"/>
        </a:lnSpc>
        <a:spcBef>
          <a:spcPts val="0"/>
        </a:spcBef>
        <a:buFont typeface="Arial" panose="020B0604020202020204" pitchFamily="34" charset="0"/>
        <a:buChar char="•"/>
        <a:defRPr sz="3000" kern="1200">
          <a:solidFill>
            <a:schemeClr val="tx1">
              <a:lumMod val="65000"/>
              <a:lumOff val="35000"/>
            </a:schemeClr>
          </a:solidFill>
          <a:latin typeface="IRANYekan" panose="020B0506030804020204" pitchFamily="34" charset="-78"/>
          <a:ea typeface="+mn-ea"/>
          <a:cs typeface="IRANYekan" panose="020B0506030804020204" pitchFamily="34" charset="-78"/>
        </a:defRPr>
      </a:lvl5pPr>
      <a:lvl6pPr marL="5028949" indent="-457177" algn="r" defTabSz="1828709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303" indent="-457177" algn="r" defTabSz="1828709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7657" indent="-457177" algn="r" defTabSz="1828709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011" indent="-457177" algn="r" defTabSz="1828709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1828709" rtl="1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354" algn="r" defTabSz="1828709" rtl="1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709" algn="r" defTabSz="1828709" rtl="1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063" algn="r" defTabSz="1828709" rtl="1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417" algn="r" defTabSz="1828709" rtl="1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1771" algn="r" defTabSz="1828709" rtl="1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126" algn="r" defTabSz="1828709" rtl="1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480" algn="r" defTabSz="1828709" rtl="1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4834" algn="r" defTabSz="1828709" rtl="1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rammarly.com/" TargetMode="Externa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anguagetool-org/languagetool" TargetMode="External"/><Relationship Id="rId2" Type="http://schemas.openxmlformats.org/officeDocument/2006/relationships/hyperlink" Target="https://languagetool.org/" TargetMode="Externa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hemingwayapp.com/" TargetMode="Externa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prowritingaid.com/" TargetMode="Externa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fullfact.org/" TargetMode="Externa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logically.ai/" TargetMode="Externa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vid-project.eu/" TargetMode="External"/><Relationship Id="rId2" Type="http://schemas.openxmlformats.org/officeDocument/2006/relationships/hyperlink" Target="https://images.google.com/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everify.eu/" TargetMode="Externa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unesco.org/artificial-intelligence" TargetMode="Externa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heguardian.com/commentisfree/2023/apr/06/ai-chatgpt-guardian-technology-risks-fake-article" TargetMode="Externa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urnitin.com/" TargetMode="External"/><Relationship Id="rId2" Type="http://schemas.openxmlformats.org/officeDocument/2006/relationships/hyperlink" Target="https://www.copyscape.com/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plagiarismcheckerx.com/" TargetMode="Externa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github.com/khadem/IrnaAI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sv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logically.ai/" TargetMode="External"/><Relationship Id="rId3" Type="http://schemas.openxmlformats.org/officeDocument/2006/relationships/hyperlink" Target="https://github.com/languagetool-org/languagetool" TargetMode="External"/><Relationship Id="rId7" Type="http://schemas.openxmlformats.org/officeDocument/2006/relationships/hyperlink" Target="https://claimbuster.io/" TargetMode="External"/><Relationship Id="rId2" Type="http://schemas.openxmlformats.org/officeDocument/2006/relationships/hyperlink" Target="https://languagetool.org/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fullfact.org/" TargetMode="External"/><Relationship Id="rId5" Type="http://schemas.openxmlformats.org/officeDocument/2006/relationships/hyperlink" Target="https://prowritingaid.com/" TargetMode="External"/><Relationship Id="rId4" Type="http://schemas.openxmlformats.org/officeDocument/2006/relationships/hyperlink" Target="https://hemingwayapp.com/" TargetMode="External"/><Relationship Id="rId9" Type="http://schemas.openxmlformats.org/officeDocument/2006/relationships/hyperlink" Target="https://unesco.org/artificial-intelligence" TargetMode="Externa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a-IR" dirty="0">
                <a:solidFill>
                  <a:srgbClr val="164193"/>
                </a:solidFill>
              </a:rPr>
              <a:t>کاربردهای هوش مصنوعی در خبرنگاری</a:t>
            </a:r>
            <a:br>
              <a:rPr lang="fa-IR" dirty="0">
                <a:solidFill>
                  <a:srgbClr val="164193"/>
                </a:solidFill>
              </a:rPr>
            </a:br>
            <a:r>
              <a:rPr lang="fa-IR" sz="5400" dirty="0">
                <a:solidFill>
                  <a:srgbClr val="164193"/>
                </a:solidFill>
              </a:rPr>
              <a:t>جلسه چهارم: قوانین و اخلاق در </a:t>
            </a:r>
            <a:r>
              <a:rPr lang="fa-IR" sz="5400">
                <a:solidFill>
                  <a:srgbClr val="164193"/>
                </a:solidFill>
              </a:rPr>
              <a:t>هوش مصنوعی</a:t>
            </a:r>
            <a:endParaRPr lang="fa-IR" sz="5400" dirty="0">
              <a:solidFill>
                <a:srgbClr val="164193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03633" y="7011048"/>
            <a:ext cx="15820845" cy="1267064"/>
          </a:xfrm>
        </p:spPr>
        <p:txBody>
          <a:bodyPr>
            <a:normAutofit fontScale="70000" lnSpcReduction="20000"/>
          </a:bodyPr>
          <a:lstStyle/>
          <a:p>
            <a:r>
              <a:rPr lang="fa-IR" dirty="0">
                <a:solidFill>
                  <a:srgbClr val="CE7E42"/>
                </a:solidFill>
              </a:rPr>
              <a:t>مهر ماه 1404</a:t>
            </a:r>
          </a:p>
          <a:p>
            <a:r>
              <a:rPr lang="fa-IR" dirty="0">
                <a:solidFill>
                  <a:srgbClr val="CE7E42"/>
                </a:solidFill>
              </a:rPr>
              <a:t>مصطفی خادم المله</a:t>
            </a:r>
          </a:p>
        </p:txBody>
      </p:sp>
    </p:spTree>
    <p:extLst>
      <p:ext uri="{BB962C8B-B14F-4D97-AF65-F5344CB8AC3E}">
        <p14:creationId xmlns:p14="http://schemas.microsoft.com/office/powerpoint/2010/main" val="3169752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2</a:t>
            </a:fld>
            <a:endParaRPr lang="fa-IR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a-IR" dirty="0">
              <a:cs typeface="B Koodak" panose="00000700000000000000" pitchFamily="2" charset="-78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632C7B-AD64-4B5B-A15F-159C00BF19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3524" y="928133"/>
            <a:ext cx="14135364" cy="930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299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cs typeface="B Koodak" panose="00000700000000000000" pitchFamily="2" charset="-78"/>
              </a:rPr>
              <a:t>📌 مرور سریع جلسه سوم: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تولید خودکار اخبار ساختاریافته (مالی، ورزشی)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استفاده از </a:t>
            </a:r>
            <a:r>
              <a:rPr lang="en-US" sz="4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ChatGPT</a:t>
            </a:r>
            <a:r>
              <a:rPr lang="en-US" sz="4000" dirty="0">
                <a:cs typeface="B Koodak" panose="00000700000000000000" pitchFamily="2" charset="-78"/>
              </a:rPr>
              <a:t> </a:t>
            </a:r>
            <a:r>
              <a:rPr lang="fa-IR" sz="4000" dirty="0">
                <a:cs typeface="B Koodak" panose="00000700000000000000" pitchFamily="2" charset="-78"/>
              </a:rPr>
              <a:t> و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Claude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a-IR" sz="4000" dirty="0">
                <a:cs typeface="B Koodak" panose="00000700000000000000" pitchFamily="2" charset="-78"/>
              </a:rPr>
              <a:t>برای نوشتن پیش‌نویس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نوشتن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Prompt</a:t>
            </a:r>
            <a:r>
              <a:rPr lang="fa-IR" sz="4000" dirty="0">
                <a:cs typeface="B Koodak" panose="00000700000000000000" pitchFamily="2" charset="-78"/>
              </a:rPr>
              <a:t>های مؤثر برای تولید خبر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بازنویسی، تولید تیتر و </a:t>
            </a:r>
            <a:r>
              <a:rPr lang="fa-IR" sz="4000" dirty="0" err="1">
                <a:cs typeface="B Koodak" panose="00000700000000000000" pitchFamily="2" charset="-78"/>
              </a:rPr>
              <a:t>لید</a:t>
            </a:r>
            <a:r>
              <a:rPr lang="fa-IR" sz="4000" dirty="0">
                <a:cs typeface="B Koodak" panose="00000700000000000000" pitchFamily="2" charset="-78"/>
              </a:rPr>
              <a:t> با هوش مصنوعی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فعالیت گروهی: تولید خبر با هوش مصنوعی</a:t>
            </a:r>
          </a:p>
          <a:p>
            <a:endParaRPr lang="fa-IR" sz="4000" dirty="0">
              <a:cs typeface="B Koodak" panose="00000700000000000000" pitchFamily="2" charset="-78"/>
            </a:endParaRPr>
          </a:p>
          <a:p>
            <a:endParaRPr lang="fa-IR" sz="4000" dirty="0">
              <a:cs typeface="B Koodak" panose="00000700000000000000" pitchFamily="2" charset="-78"/>
            </a:endParaRPr>
          </a:p>
          <a:p>
            <a:r>
              <a:rPr lang="fa-IR" sz="4000" dirty="0">
                <a:solidFill>
                  <a:srgbClr val="CE7E42"/>
                </a:solidFill>
                <a:cs typeface="B Koodak" panose="00000700000000000000" pitchFamily="2" charset="-78"/>
              </a:rPr>
              <a:t>🎯 امروز:</a:t>
            </a:r>
            <a:r>
              <a:rPr lang="fa-IR" sz="4000" dirty="0">
                <a:cs typeface="B Koodak" panose="00000700000000000000" pitchFamily="2" charset="-78"/>
              </a:rPr>
              <a:t> چگونه از “خطا” و “فریب” در خبرنگاری هوشمند جلوگیری کنیم؟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3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91931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cs typeface="B Koodak" panose="00000700000000000000" pitchFamily="2" charset="-78"/>
              </a:rPr>
              <a:t>✍️ چرا ویرایش هوشمند ضروری است؟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کاهش خطاهای </a:t>
            </a:r>
            <a:r>
              <a:rPr lang="fa-IR" sz="4000" dirty="0" err="1">
                <a:cs typeface="B Koodak" panose="00000700000000000000" pitchFamily="2" charset="-78"/>
              </a:rPr>
              <a:t>گرامری</a:t>
            </a:r>
            <a:r>
              <a:rPr lang="fa-IR" sz="4000" dirty="0">
                <a:cs typeface="B Koodak" panose="00000700000000000000" pitchFamily="2" charset="-78"/>
              </a:rPr>
              <a:t> و املایی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بهبود سبک و خوانایی متن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صرفه‌جویی در زمان </a:t>
            </a:r>
            <a:r>
              <a:rPr lang="fa-IR" sz="4000" dirty="0" err="1">
                <a:cs typeface="B Koodak" panose="00000700000000000000" pitchFamily="2" charset="-78"/>
              </a:rPr>
              <a:t>ویراستاران</a:t>
            </a:r>
            <a:endParaRPr lang="fa-IR" sz="4000" dirty="0">
              <a:cs typeface="B Koodak" panose="00000700000000000000" pitchFamily="2" charset="-78"/>
            </a:endParaRP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افزایش اعتبار و </a:t>
            </a:r>
            <a:r>
              <a:rPr lang="fa-IR" sz="4000" dirty="0" err="1">
                <a:cs typeface="B Koodak" panose="00000700000000000000" pitchFamily="2" charset="-78"/>
              </a:rPr>
              <a:t>حرفه‌ای‌بودن</a:t>
            </a:r>
            <a:r>
              <a:rPr lang="fa-IR" sz="4000" dirty="0">
                <a:cs typeface="B Koodak" panose="00000700000000000000" pitchFamily="2" charset="-78"/>
              </a:rPr>
              <a:t> خروجی</a:t>
            </a:r>
          </a:p>
          <a:p>
            <a:pPr marL="571500" indent="-571500">
              <a:buFontTx/>
              <a:buChar char="-"/>
            </a:pPr>
            <a:endParaRPr lang="fa-IR" sz="4000" dirty="0">
              <a:cs typeface="B Koodak" panose="00000700000000000000" pitchFamily="2" charset="-78"/>
            </a:endParaRPr>
          </a:p>
          <a:p>
            <a:pPr marL="571500" indent="-571500">
              <a:buFontTx/>
              <a:buChar char="-"/>
            </a:pPr>
            <a:endParaRPr lang="fa-IR" sz="4000" dirty="0">
              <a:cs typeface="B Koodak" panose="00000700000000000000" pitchFamily="2" charset="-78"/>
            </a:endParaRPr>
          </a:p>
          <a:p>
            <a:endParaRPr lang="fa-IR" sz="4000" dirty="0">
              <a:cs typeface="B Koodak" panose="00000700000000000000" pitchFamily="2" charset="-78"/>
            </a:endParaRPr>
          </a:p>
          <a:p>
            <a:r>
              <a:rPr lang="fa-IR" sz="4000" dirty="0">
                <a:solidFill>
                  <a:srgbClr val="CE7E42"/>
                </a:solidFill>
                <a:cs typeface="B Koodak" panose="00000700000000000000" pitchFamily="2" charset="-78"/>
              </a:rPr>
              <a:t>🤖</a:t>
            </a:r>
            <a:r>
              <a:rPr lang="fa-IR" sz="4000" dirty="0">
                <a:cs typeface="B Koodak" panose="00000700000000000000" pitchFamily="2" charset="-78"/>
              </a:rPr>
              <a:t> هوش مصنوعی مثل یک “ویراستار دیجیتال” — همیشه فعال، همیشه دقیق!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4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1FE56F-8BD7-4ABE-81F2-8355AEA38838}"/>
              </a:ext>
            </a:extLst>
          </p:cNvPr>
          <p:cNvSpPr txBox="1"/>
          <p:nvPr/>
        </p:nvSpPr>
        <p:spPr>
          <a:xfrm>
            <a:off x="4080933" y="4978400"/>
            <a:ext cx="7093531" cy="567266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3066090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cs typeface="B Koodak" panose="00000700000000000000" pitchFamily="2" charset="-78"/>
              </a:rPr>
              <a:t>🛠️ </a:t>
            </a:r>
            <a:r>
              <a:rPr lang="en-US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Grammarly</a:t>
            </a:r>
            <a:endParaRPr lang="fa-IR" sz="6200" dirty="0">
              <a:solidFill>
                <a:srgbClr val="CE7E4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https://www.grammarly.com</a:t>
            </a: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a-IR" sz="4000" dirty="0">
                <a:cs typeface="B Koodak" panose="00000700000000000000" pitchFamily="2" charset="-78"/>
              </a:rPr>
              <a:t>ویژگی‌ها: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تصحیح گرامر، املاء و </a:t>
            </a:r>
            <a:r>
              <a:rPr lang="fa-IR" sz="4000" dirty="0" err="1">
                <a:cs typeface="B Koodak" panose="00000700000000000000" pitchFamily="2" charset="-78"/>
              </a:rPr>
              <a:t>نشانه‌گذاری</a:t>
            </a:r>
            <a:endParaRPr lang="fa-IR" sz="4000" dirty="0">
              <a:cs typeface="B Koodak" panose="00000700000000000000" pitchFamily="2" charset="-78"/>
            </a:endParaRP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پیشنهاد واژه‌های بهتر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تنظیم لحن (رسمی، غیررسمی، خنثی)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افزونه برای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Word، Chrome، Outlook</a:t>
            </a: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Tx/>
              <a:buChar char="-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a-IR" sz="4000" dirty="0">
                <a:solidFill>
                  <a:srgbClr val="CE7E42"/>
                </a:solidFill>
                <a:cs typeface="B Koodak" panose="00000700000000000000" pitchFamily="2" charset="-78"/>
              </a:rPr>
              <a:t>✅ </a:t>
            </a:r>
            <a:r>
              <a:rPr lang="fa-IR" sz="4000" dirty="0">
                <a:cs typeface="B Koodak" panose="00000700000000000000" pitchFamily="2" charset="-78"/>
              </a:rPr>
              <a:t>نسخه رایگان برای شروع کافی است — نسخه پولی برای حرفه‌ای‌ها!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5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578328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🛠️ </a:t>
            </a:r>
            <a:r>
              <a:rPr lang="en-US" sz="6200" dirty="0" err="1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LanguageTool</a:t>
            </a:r>
            <a:r>
              <a:rPr lang="en-US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l"/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https://languagetool.org</a:t>
            </a: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https://github.com/languagetool-org/languagetool</a:t>
            </a: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a-IR" sz="4000" dirty="0">
                <a:cs typeface="B Koodak" panose="00000700000000000000" pitchFamily="2" charset="-78"/>
              </a:rPr>
              <a:t>ویژگی‌ها: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پشتیبانی از زبان فارسی (نسخه بتا)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مناسب برای متون رسمی و خبری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قابلیت نصب در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LibreOffice</a:t>
            </a:r>
            <a:r>
              <a:rPr lang="en-US" sz="4000" dirty="0">
                <a:cs typeface="B Koodak" panose="00000700000000000000" pitchFamily="2" charset="-78"/>
              </a:rPr>
              <a:t> </a:t>
            </a:r>
            <a:r>
              <a:rPr lang="fa-IR" sz="4000" dirty="0">
                <a:cs typeface="B Koodak" panose="00000700000000000000" pitchFamily="2" charset="-78"/>
              </a:rPr>
              <a:t> و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Google Docs</a:t>
            </a:r>
            <a:r>
              <a:rPr lang="en-US" sz="4000" dirty="0">
                <a:cs typeface="B Koodak" panose="00000700000000000000" pitchFamily="2" charset="-78"/>
              </a:rPr>
              <a:t> </a:t>
            </a:r>
          </a:p>
          <a:p>
            <a:pPr marL="571500" indent="-571500">
              <a:buFontTx/>
              <a:buChar char="-"/>
            </a:pPr>
            <a:r>
              <a:rPr lang="en-US" sz="4000" dirty="0">
                <a:cs typeface="B Koodak" panose="00000700000000000000" pitchFamily="2" charset="-78"/>
              </a:rPr>
              <a:t> </a:t>
            </a:r>
            <a:r>
              <a:rPr lang="fa-IR" sz="4000" dirty="0">
                <a:cs typeface="B Koodak" panose="00000700000000000000" pitchFamily="2" charset="-78"/>
              </a:rPr>
              <a:t>نسخه </a:t>
            </a:r>
            <a:r>
              <a:rPr lang="fa-IR" sz="4000" dirty="0" err="1">
                <a:cs typeface="B Koodak" panose="00000700000000000000" pitchFamily="2" charset="-78"/>
              </a:rPr>
              <a:t>آفلاین</a:t>
            </a:r>
            <a:r>
              <a:rPr lang="fa-IR" sz="4000" dirty="0">
                <a:cs typeface="B Koodak" panose="00000700000000000000" pitchFamily="2" charset="-78"/>
              </a:rPr>
              <a:t> برای محیط‌های امن</a:t>
            </a:r>
          </a:p>
          <a:p>
            <a:r>
              <a:rPr lang="fa-IR" sz="4000" dirty="0">
                <a:solidFill>
                  <a:srgbClr val="CE7E42"/>
                </a:solidFill>
                <a:cs typeface="B Koodak" panose="00000700000000000000" pitchFamily="2" charset="-78"/>
              </a:rPr>
              <a:t>✅ مزیت:</a:t>
            </a:r>
            <a:r>
              <a:rPr lang="fa-IR" sz="4000" dirty="0">
                <a:cs typeface="B Koodak" panose="00000700000000000000" pitchFamily="2" charset="-78"/>
              </a:rPr>
              <a:t> </a:t>
            </a:r>
            <a:r>
              <a:rPr lang="fa-IR" sz="4000" dirty="0" err="1">
                <a:cs typeface="B Koodak" panose="00000700000000000000" pitchFamily="2" charset="-78"/>
              </a:rPr>
              <a:t>متن‌باز</a:t>
            </a:r>
            <a:r>
              <a:rPr lang="fa-IR" sz="4000" dirty="0">
                <a:cs typeface="B Koodak" panose="00000700000000000000" pitchFamily="2" charset="-78"/>
              </a:rPr>
              <a:t> و حریم خصوصی بالاتر نسبت به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Grammarly</a:t>
            </a: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6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85879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📖 </a:t>
            </a:r>
            <a:r>
              <a:rPr lang="en-US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Hemingway Editor</a:t>
            </a:r>
          </a:p>
          <a:p>
            <a:pPr algn="l"/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https://hemingwayapp.com</a:t>
            </a: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a-IR" sz="4000" dirty="0">
                <a:cs typeface="B Koodak" panose="00000700000000000000" pitchFamily="2" charset="-78"/>
              </a:rPr>
              <a:t>ویژگی‌ها: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شناسایی جملات پیچیده و طولانی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پیشنهاد ساده‌سازی متن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نمره خوانایی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Readability Score</a:t>
            </a:r>
          </a:p>
          <a:p>
            <a:pPr marL="571500" indent="-571500">
              <a:buFontTx/>
              <a:buChar char="-"/>
            </a:pPr>
            <a:r>
              <a:rPr lang="en-US" sz="4000" dirty="0">
                <a:cs typeface="B Koodak" panose="00000700000000000000" pitchFamily="2" charset="-78"/>
              </a:rPr>
              <a:t> </a:t>
            </a:r>
            <a:r>
              <a:rPr lang="fa-IR" sz="4000" dirty="0">
                <a:cs typeface="B Koodak" panose="00000700000000000000" pitchFamily="2" charset="-78"/>
              </a:rPr>
              <a:t>مناسب برای نوشتن خبرهای عمومی</a:t>
            </a:r>
          </a:p>
          <a:p>
            <a:pPr marL="571500" indent="-571500">
              <a:buFontTx/>
              <a:buChar char="-"/>
            </a:pPr>
            <a:endParaRPr lang="fa-IR" sz="4000" dirty="0">
              <a:cs typeface="B Koodak" panose="00000700000000000000" pitchFamily="2" charset="-78"/>
            </a:endParaRPr>
          </a:p>
          <a:p>
            <a:r>
              <a:rPr lang="fa-IR" sz="4000" dirty="0">
                <a:solidFill>
                  <a:srgbClr val="CE7E42"/>
                </a:solidFill>
                <a:cs typeface="B Koodak" panose="00000700000000000000" pitchFamily="2" charset="-78"/>
              </a:rPr>
              <a:t>📌 نکته:</a:t>
            </a:r>
            <a:r>
              <a:rPr lang="fa-IR" sz="4000" dirty="0">
                <a:cs typeface="B Koodak" panose="00000700000000000000" pitchFamily="2" charset="-78"/>
              </a:rPr>
              <a:t> خبر خوب = خبری که همه بتوانند بفهمند — حتی دانش‌آموزان!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7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174214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🖋️ </a:t>
            </a:r>
            <a:r>
              <a:rPr lang="en-US" sz="6200" dirty="0" err="1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ProWritingAid</a:t>
            </a:r>
            <a:endParaRPr lang="en-US" sz="6200" dirty="0">
              <a:solidFill>
                <a:srgbClr val="CE7E4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https://prowritingaid.com</a:t>
            </a: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a-IR" sz="4000" dirty="0">
                <a:cs typeface="B Koodak" panose="00000700000000000000" pitchFamily="2" charset="-78"/>
              </a:rPr>
              <a:t>ویژگی‌ها: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تحلیل سبک نوشتاری  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شناسایی تکرار واژه‌ها  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پیشنهاد ساختار بهتر برای </a:t>
            </a:r>
            <a:r>
              <a:rPr lang="fa-IR" sz="4000" dirty="0" err="1">
                <a:cs typeface="B Koodak" panose="00000700000000000000" pitchFamily="2" charset="-78"/>
              </a:rPr>
              <a:t>پاراگراف‌ها</a:t>
            </a:r>
            <a:r>
              <a:rPr lang="fa-IR" sz="4000" dirty="0">
                <a:cs typeface="B Koodak" panose="00000700000000000000" pitchFamily="2" charset="-78"/>
              </a:rPr>
              <a:t>  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گزارش‌های جامع از کیفیت متن</a:t>
            </a:r>
          </a:p>
          <a:p>
            <a:pPr marL="571500" indent="-571500">
              <a:buFontTx/>
              <a:buChar char="-"/>
            </a:pPr>
            <a:endParaRPr lang="fa-IR" sz="4000" dirty="0">
              <a:cs typeface="B Koodak" panose="00000700000000000000" pitchFamily="2" charset="-78"/>
            </a:endParaRPr>
          </a:p>
          <a:p>
            <a:r>
              <a:rPr lang="fa-IR" sz="4000" dirty="0">
                <a:solidFill>
                  <a:srgbClr val="CE7E42"/>
                </a:solidFill>
                <a:cs typeface="B Koodak" panose="00000700000000000000" pitchFamily="2" charset="-78"/>
              </a:rPr>
              <a:t>✅ </a:t>
            </a:r>
            <a:r>
              <a:rPr lang="fa-IR" sz="4000" dirty="0">
                <a:cs typeface="B Koodak" panose="00000700000000000000" pitchFamily="2" charset="-78"/>
              </a:rPr>
              <a:t>مناسب برای گزارش‌های تحلیلی و مقالات بلند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8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51413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📄 نمونه متن قبل از ویرایش:</a:t>
            </a:r>
          </a:p>
          <a:p>
            <a:pPr algn="l" rtl="0"/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Given that the country's economic conditions are currently experiencing severe fluctuations, it is expected that the inflation rate will increase in the coming months.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</a:t>
            </a:r>
          </a:p>
          <a:p>
            <a:endParaRPr lang="fa-IR" sz="4000" dirty="0">
              <a:cs typeface="B Koodak" panose="00000700000000000000" pitchFamily="2" charset="-78"/>
            </a:endParaRPr>
          </a:p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✅ بعد از ویرایش با </a:t>
            </a:r>
            <a:r>
              <a:rPr lang="en-US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Hemingway + Grammarly</a:t>
            </a:r>
          </a:p>
          <a:p>
            <a:pPr rtl="0"/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“Iran's economy is currently experiencing severe fluctuations. Inflation is likely to increase in the coming months.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</a:t>
            </a:r>
          </a:p>
          <a:p>
            <a:endParaRPr lang="en-US" sz="4000" dirty="0">
              <a:cs typeface="B Koodak" panose="00000700000000000000" pitchFamily="2" charset="-78"/>
            </a:endParaRPr>
          </a:p>
          <a:p>
            <a:r>
              <a:rPr lang="fa-IR" sz="4000" dirty="0">
                <a:solidFill>
                  <a:srgbClr val="CE7E42"/>
                </a:solidFill>
                <a:cs typeface="B Koodak" panose="00000700000000000000" pitchFamily="2" charset="-78"/>
              </a:rPr>
              <a:t>🎯 نتیجه:</a:t>
            </a:r>
            <a:r>
              <a:rPr lang="fa-IR" sz="4000" dirty="0">
                <a:cs typeface="B Koodak" panose="00000700000000000000" pitchFamily="2" charset="-78"/>
              </a:rPr>
              <a:t> متن ساده‌تر، قوی‌تر، حرفه‌ای‌تر!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9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699318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🔍 </a:t>
            </a:r>
            <a:r>
              <a:rPr lang="en-US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Fact-Checking </a:t>
            </a:r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هوشمند چیست؟</a:t>
            </a:r>
          </a:p>
          <a:p>
            <a:r>
              <a:rPr lang="fa-IR" sz="4000" dirty="0">
                <a:cs typeface="B Koodak" panose="00000700000000000000" pitchFamily="2" charset="-78"/>
              </a:rPr>
              <a:t>سیستم‌هایی که: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ادعاها و آمارها را با منابع معتبر مقایسه می‌کنند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اخبار جعلی (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Fake News</a:t>
            </a:r>
            <a:r>
              <a:rPr lang="fa-IR" sz="4000" dirty="0">
                <a:cs typeface="B Koodak" panose="00000700000000000000" pitchFamily="2" charset="-78"/>
              </a:rPr>
              <a:t>) را شناسایی می‌کنند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منابع </a:t>
            </a:r>
            <a:r>
              <a:rPr lang="fa-IR" sz="4000" dirty="0" err="1">
                <a:cs typeface="B Koodak" panose="00000700000000000000" pitchFamily="2" charset="-78"/>
              </a:rPr>
              <a:t>نقل‌قول</a:t>
            </a:r>
            <a:r>
              <a:rPr lang="fa-IR" sz="4000" dirty="0">
                <a:cs typeface="B Koodak" panose="00000700000000000000" pitchFamily="2" charset="-78"/>
              </a:rPr>
              <a:t> را تأیید می‌کنند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هشدار درباره محتوای گمراه‌کننده می‌دهند</a:t>
            </a:r>
          </a:p>
          <a:p>
            <a:pPr marL="571500" indent="-571500">
              <a:buFontTx/>
              <a:buChar char="-"/>
            </a:pPr>
            <a:endParaRPr lang="fa-IR" sz="4000" dirty="0">
              <a:cs typeface="B Koodak" panose="00000700000000000000" pitchFamily="2" charset="-78"/>
            </a:endParaRPr>
          </a:p>
          <a:p>
            <a:pPr marL="571500" indent="-571500">
              <a:buFontTx/>
              <a:buChar char="-"/>
            </a:pPr>
            <a:endParaRPr lang="fa-IR" sz="4000" dirty="0">
              <a:cs typeface="B Koodak" panose="00000700000000000000" pitchFamily="2" charset="-78"/>
            </a:endParaRPr>
          </a:p>
          <a:p>
            <a:r>
              <a:rPr lang="fa-IR" sz="4000" dirty="0">
                <a:solidFill>
                  <a:srgbClr val="CE7E42"/>
                </a:solidFill>
                <a:cs typeface="B Koodak" panose="00000700000000000000" pitchFamily="2" charset="-78"/>
              </a:rPr>
              <a:t>📌 وظیفه نهایی:</a:t>
            </a:r>
            <a:r>
              <a:rPr lang="fa-IR" sz="4000" dirty="0">
                <a:cs typeface="B Koodak" panose="00000700000000000000" pitchFamily="2" charset="-78"/>
              </a:rPr>
              <a:t> همیشه خودتان بررسی کنید — هوش مصنوعی</a:t>
            </a:r>
            <a:r>
              <a:rPr lang="en-US" sz="4000" dirty="0">
                <a:cs typeface="B Koodak" panose="00000700000000000000" pitchFamily="2" charset="-78"/>
              </a:rPr>
              <a:t> </a:t>
            </a:r>
            <a:r>
              <a:rPr lang="fa-IR" sz="4000" dirty="0">
                <a:cs typeface="B Koodak" panose="00000700000000000000" pitchFamily="2" charset="-78"/>
              </a:rPr>
              <a:t>فقط کمک می‌کند!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10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933574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🛠️ </a:t>
            </a:r>
            <a:r>
              <a:rPr lang="en-US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Full Fact </a:t>
            </a:r>
          </a:p>
          <a:p>
            <a:pPr algn="l"/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https://fullfact.org</a:t>
            </a: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ابزار بریتانیایی — تخصص در اخبار سیاسی و آماری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در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BBC</a:t>
            </a:r>
            <a:r>
              <a:rPr lang="en-US" sz="4000" dirty="0">
                <a:cs typeface="B Koodak" panose="00000700000000000000" pitchFamily="2" charset="-78"/>
              </a:rPr>
              <a:t> </a:t>
            </a:r>
            <a:r>
              <a:rPr lang="fa-IR" sz="4000" dirty="0">
                <a:cs typeface="B Koodak" panose="00000700000000000000" pitchFamily="2" charset="-78"/>
              </a:rPr>
              <a:t> و </a:t>
            </a:r>
            <a:r>
              <a:rPr lang="fa-IR" sz="4000" dirty="0" err="1">
                <a:cs typeface="B Koodak" panose="00000700000000000000" pitchFamily="2" charset="-78"/>
              </a:rPr>
              <a:t>خبرگزاری‌های</a:t>
            </a:r>
            <a:r>
              <a:rPr lang="fa-IR" sz="4000" dirty="0">
                <a:cs typeface="B Koodak" panose="00000700000000000000" pitchFamily="2" charset="-78"/>
              </a:rPr>
              <a:t> اروپایی استفاده می‌شود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قابلیت بررسی ادعاها در </a:t>
            </a:r>
            <a:r>
              <a:rPr lang="fa-IR" sz="4000" dirty="0" err="1">
                <a:cs typeface="B Koodak" panose="00000700000000000000" pitchFamily="2" charset="-78"/>
              </a:rPr>
              <a:t>مصاحبه‌ها</a:t>
            </a:r>
            <a:r>
              <a:rPr lang="fa-IR" sz="4000" dirty="0">
                <a:cs typeface="B Koodak" panose="00000700000000000000" pitchFamily="2" charset="-78"/>
              </a:rPr>
              <a:t> و </a:t>
            </a:r>
            <a:r>
              <a:rPr lang="fa-IR" sz="4000" dirty="0" err="1">
                <a:cs typeface="B Koodak" panose="00000700000000000000" pitchFamily="2" charset="-78"/>
              </a:rPr>
              <a:t>سخنرانی‌ها</a:t>
            </a:r>
            <a:endParaRPr lang="fa-IR" sz="4000" dirty="0">
              <a:cs typeface="B Koodak" panose="00000700000000000000" pitchFamily="2" charset="-78"/>
            </a:endParaRPr>
          </a:p>
          <a:p>
            <a:pPr marL="571500" indent="-571500">
              <a:buFontTx/>
              <a:buChar char="-"/>
            </a:pPr>
            <a:endParaRPr lang="fa-IR" sz="4000" dirty="0">
              <a:cs typeface="B Koodak" panose="00000700000000000000" pitchFamily="2" charset="-78"/>
            </a:endParaRPr>
          </a:p>
          <a:p>
            <a:endParaRPr lang="fa-IR" sz="4000" dirty="0">
              <a:solidFill>
                <a:srgbClr val="CE7E42"/>
              </a:solidFill>
              <a:cs typeface="B Koodak" panose="00000700000000000000" pitchFamily="2" charset="-78"/>
            </a:endParaRPr>
          </a:p>
          <a:p>
            <a:r>
              <a:rPr lang="fa-IR" sz="4000" dirty="0">
                <a:solidFill>
                  <a:srgbClr val="CE7E42"/>
                </a:solidFill>
                <a:cs typeface="B Koodak" panose="00000700000000000000" pitchFamily="2" charset="-78"/>
              </a:rPr>
              <a:t>📌 نکته:</a:t>
            </a:r>
            <a:r>
              <a:rPr lang="fa-IR" sz="4000" dirty="0">
                <a:cs typeface="B Koodak" panose="00000700000000000000" pitchFamily="2" charset="-78"/>
              </a:rPr>
              <a:t> برای زبان فارسی محدود است — اما الگوهای کاری آن قابل استفاده است. 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fa-IR" sz="4000" dirty="0">
                <a:solidFill>
                  <a:srgbClr val="CE7E42"/>
                </a:solidFill>
                <a:cs typeface="B Koodak" panose="00000700000000000000" pitchFamily="2" charset="-78"/>
              </a:rPr>
              <a:t>📌 نکته:</a:t>
            </a:r>
            <a:r>
              <a:rPr lang="fa-IR" sz="4000" dirty="0">
                <a:cs typeface="B Koodak" panose="00000700000000000000" pitchFamily="2" charset="-78"/>
              </a:rPr>
              <a:t> توسعه این ابزار در ایرنا — یک فرصت طلایی برای رسانه‌های ایرانی 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11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685327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🛠️ </a:t>
            </a:r>
            <a:r>
              <a:rPr lang="en-US" sz="6200" dirty="0" err="1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ClaimBuster</a:t>
            </a:r>
            <a:r>
              <a:rPr lang="en-US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</a:t>
            </a:r>
          </a:p>
          <a:p>
            <a:pPr algn="l"/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https://idir.uta.edu/claimbuster/</a:t>
            </a: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تخصص در شناسایی “ادعاها” در متن (به انگلیسی)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استخراج خودکار جملات قابل بررسی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مناسب برای </a:t>
            </a:r>
            <a:r>
              <a:rPr lang="fa-IR" sz="4000" dirty="0" err="1">
                <a:cs typeface="B Koodak" panose="00000700000000000000" pitchFamily="2" charset="-78"/>
              </a:rPr>
              <a:t>مصاحبه‌ها</a:t>
            </a:r>
            <a:r>
              <a:rPr lang="fa-IR" sz="4000" dirty="0">
                <a:cs typeface="B Koodak" panose="00000700000000000000" pitchFamily="2" charset="-78"/>
              </a:rPr>
              <a:t> و </a:t>
            </a:r>
            <a:r>
              <a:rPr lang="fa-IR" sz="4000" dirty="0" err="1">
                <a:cs typeface="B Koodak" panose="00000700000000000000" pitchFamily="2" charset="-78"/>
              </a:rPr>
              <a:t>سخنرانی‌های</a:t>
            </a:r>
            <a:r>
              <a:rPr lang="fa-IR" sz="4000" dirty="0">
                <a:cs typeface="B Koodak" panose="00000700000000000000" pitchFamily="2" charset="-78"/>
              </a:rPr>
              <a:t> سیاسی</a:t>
            </a:r>
          </a:p>
          <a:p>
            <a:pPr marL="571500" indent="-571500">
              <a:buFontTx/>
              <a:buChar char="-"/>
            </a:pPr>
            <a:endParaRPr lang="fa-IR" sz="4000" dirty="0">
              <a:cs typeface="B Koodak" panose="00000700000000000000" pitchFamily="2" charset="-78"/>
            </a:endParaRPr>
          </a:p>
          <a:p>
            <a:pPr marL="571500" indent="-571500">
              <a:buFontTx/>
              <a:buChar char="-"/>
            </a:pPr>
            <a:endParaRPr lang="fa-IR" sz="4000" dirty="0">
              <a:cs typeface="B Koodak" panose="00000700000000000000" pitchFamily="2" charset="-78"/>
            </a:endParaRPr>
          </a:p>
          <a:p>
            <a:pPr marL="571500" indent="-571500">
              <a:buFontTx/>
              <a:buChar char="-"/>
            </a:pPr>
            <a:endParaRPr lang="fa-IR" sz="4000" dirty="0">
              <a:cs typeface="B Koodak" panose="00000700000000000000" pitchFamily="2" charset="-78"/>
            </a:endParaRPr>
          </a:p>
          <a:p>
            <a:r>
              <a:rPr lang="fa-IR" sz="4000" dirty="0">
                <a:solidFill>
                  <a:srgbClr val="CE7E42"/>
                </a:solidFill>
                <a:cs typeface="B Koodak" panose="00000700000000000000" pitchFamily="2" charset="-78"/>
              </a:rPr>
              <a:t>✅ نکته:</a:t>
            </a:r>
            <a:r>
              <a:rPr lang="fa-IR" sz="4000" dirty="0">
                <a:cs typeface="B Koodak" panose="00000700000000000000" pitchFamily="2" charset="-78"/>
              </a:rPr>
              <a:t> می‌توانید متن فارسی را ترجمه و آزمایش کنید — برای یادگیری الگو!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12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1683726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🛠️ </a:t>
            </a:r>
            <a:r>
              <a:rPr lang="en-US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Logically </a:t>
            </a:r>
          </a:p>
          <a:p>
            <a:pPr algn="l"/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https://www.logically.ai</a:t>
            </a: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/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ترکیب هوش مصنوعی + تیم انسانی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رصد و شناسایی اخبار جعلی در شبکه‌های اجتماعی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cs typeface="B Koodak" panose="00000700000000000000" pitchFamily="2" charset="-78"/>
              </a:rPr>
              <a:t>تولید گزارش‌های اعتبارسنجی</a:t>
            </a:r>
          </a:p>
          <a:p>
            <a:endParaRPr lang="fa-IR" sz="4000" dirty="0">
              <a:cs typeface="B Koodak" panose="00000700000000000000" pitchFamily="2" charset="-78"/>
            </a:endParaRPr>
          </a:p>
          <a:p>
            <a:endParaRPr lang="fa-IR" sz="4000" dirty="0">
              <a:cs typeface="B Koodak" panose="00000700000000000000" pitchFamily="2" charset="-78"/>
            </a:endParaRPr>
          </a:p>
          <a:p>
            <a:r>
              <a:rPr lang="fa-IR" sz="4000" dirty="0">
                <a:solidFill>
                  <a:srgbClr val="CE7E42"/>
                </a:solidFill>
                <a:cs typeface="B Koodak" panose="00000700000000000000" pitchFamily="2" charset="-78"/>
              </a:rPr>
              <a:t>📌 کاربرد:</a:t>
            </a:r>
            <a:r>
              <a:rPr lang="fa-IR" sz="4000" dirty="0">
                <a:cs typeface="B Koodak" panose="00000700000000000000" pitchFamily="2" charset="-78"/>
              </a:rPr>
              <a:t> مناسب برای </a:t>
            </a:r>
            <a:r>
              <a:rPr lang="fa-IR" sz="4000" dirty="0" err="1">
                <a:cs typeface="B Koodak" panose="00000700000000000000" pitchFamily="2" charset="-78"/>
              </a:rPr>
              <a:t>خبرگزاری‌هایی</a:t>
            </a:r>
            <a:r>
              <a:rPr lang="fa-IR" sz="4000" dirty="0">
                <a:cs typeface="B Koodak" panose="00000700000000000000" pitchFamily="2" charset="-78"/>
              </a:rPr>
              <a:t> که با اخبار بحرانی سروکار دارند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13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38785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🖼️ تشخیص </a:t>
            </a:r>
            <a:r>
              <a:rPr lang="en-US" sz="6200" dirty="0" err="1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Deepfake</a:t>
            </a:r>
            <a:r>
              <a:rPr lang="en-US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</a:t>
            </a:r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و تصاویر </a:t>
            </a:r>
            <a:r>
              <a:rPr lang="fa-IR" sz="6200" dirty="0" err="1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دستکاری‌شده</a:t>
            </a:r>
            <a:endParaRPr lang="fa-IR" sz="6200" dirty="0">
              <a:solidFill>
                <a:srgbClr val="CE7E42"/>
              </a:solidFill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ابزارهای پیشنهادی:</a:t>
            </a:r>
          </a:p>
          <a:p>
            <a:pPr marL="571500" indent="-571500">
              <a:buFontTx/>
              <a:buChar char="-"/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Google Reverse Image Search —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https://images.google.com</a:t>
            </a: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marL="571500" indent="-571500">
              <a:buFontTx/>
              <a:buChar char="-"/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</a:t>
            </a:r>
            <a:r>
              <a:rPr lang="en-US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InVID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—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https://www.invid-project.eu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افزونه برای بررسی ویدئو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</a:t>
            </a:r>
            <a:r>
              <a:rPr lang="en-US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WeVerify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—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https://weverify.eu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پروژه اتحادیه اروپا</a:t>
            </a:r>
          </a:p>
          <a:p>
            <a:pPr marL="571500" indent="-571500">
              <a:buFontTx/>
              <a:buChar char="-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marL="571500" indent="-571500">
              <a:buFontTx/>
              <a:buChar char="-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marL="571500" indent="-571500">
              <a:buFontTx/>
              <a:buChar char="-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r>
              <a:rPr lang="fa-IR" sz="40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📌 نکته: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همیشه منبع اصلی تصویر/ویدئو را پیدا کنید!</a:t>
            </a:r>
            <a:endParaRPr lang="fa-IR" sz="4000" dirty="0">
              <a:solidFill>
                <a:srgbClr val="CE7E42"/>
              </a:solidFill>
              <a:cs typeface="B Koodak" panose="00000700000000000000" pitchFamily="2" charset="-78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14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1970354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🤖 هوش مصنوعی در تشخیص اخبار جعلی</a:t>
            </a: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چگونه کار می‌کند: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تحلیل منبع خبر  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بررسی سابقه سایت/حساب کاربری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مقایسه با اخبار مشابه در منابع معتبر  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تحلیل لحن و واژه‌های هیجانی/ </a:t>
            </a:r>
            <a:r>
              <a:rPr lang="fa-IR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فریب‌دهنده</a:t>
            </a: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marL="571500" indent="-571500">
              <a:buFontTx/>
              <a:buChar char="-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endParaRPr lang="fa-IR" sz="4000" dirty="0">
              <a:solidFill>
                <a:srgbClr val="CE7E42"/>
              </a:solidFill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r>
              <a:rPr lang="fa-IR" sz="40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ابزار: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Grover (Allen AI) — 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برای تحقیقات — نسخه عمومی محدود</a:t>
            </a:r>
            <a:endParaRPr lang="fa-IR" sz="4000" dirty="0">
              <a:solidFill>
                <a:srgbClr val="CE7E42"/>
              </a:solidFill>
              <a:cs typeface="B Koodak" panose="00000700000000000000" pitchFamily="2" charset="-78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15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109260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🗳️ مطالعه موردی: انتخابات آمریکا ۲۰۲۰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استفاده از هوش مصنوعی برای رصد اخبار جعلی در </a:t>
            </a:r>
            <a:r>
              <a:rPr lang="fa-IR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فیسبوک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و توییتر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هشدار به کاربران درباره محتوای گمراه‌کننده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همکاری </a:t>
            </a:r>
            <a:r>
              <a:rPr lang="fa-IR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خبرگزاری‌ها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با ابزارهای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Fact-Checking</a:t>
            </a:r>
          </a:p>
          <a:p>
            <a:pPr marL="571500" indent="-571500">
              <a:buFontTx/>
              <a:buChar char="-"/>
            </a:pP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marL="571500" indent="-571500">
              <a:buFontTx/>
              <a:buChar char="-"/>
            </a:pP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marL="571500" indent="-571500">
              <a:buFontTx/>
              <a:buChar char="-"/>
            </a:pP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r>
              <a:rPr lang="fa-IR" sz="40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🎯 نتیجه: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کاهش ۴۰٪ی انتشار اخبار جعلی در هفته‌های حساس!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16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593376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⚠️ چالش‌ها: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نرخ خطا — بعضی اخبار واقعی را جعلی تشخیص می‌دهند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سوگیری الگوریتمی — به برخی منابع اعتماد بیشتری می‌کنند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عدم پشتیبانی از زبان فارسی در بسیاری از ابزارها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وابستگی به داده‌های ورودی — اگر منبع اشتباه باشد، خروجی هم اشتباه است!</a:t>
            </a:r>
          </a:p>
          <a:p>
            <a:pPr marL="571500" indent="-571500">
              <a:buFontTx/>
              <a:buChar char="-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marL="571500" indent="-571500">
              <a:buFontTx/>
              <a:buChar char="-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r>
              <a:rPr lang="fa-IR" sz="40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✅ راهکار: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همیشه ترکیب «ابزار + تخصص انسانی»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17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233844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✅ شما مسئول نهایی هستید — نه هوش مصنوعی!</a:t>
            </a:r>
          </a:p>
          <a:p>
            <a:r>
              <a:rPr lang="fa-IR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چک‌لیست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تأیید نهایی: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آیا منبع خبر معتبر است؟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آیا آمار/ </a:t>
            </a:r>
            <a:r>
              <a:rPr lang="fa-IR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نقل‌قول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را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Cross-Check 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کرده‌ام؟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آیا تصویر/ ویدئو اصلی است؟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آیا لحن خبر بی‌طرفانه است؟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آیا ممکن است خبر باعث ترس یا تفرقه شود؟</a:t>
            </a:r>
          </a:p>
          <a:p>
            <a:pPr marL="571500" indent="-571500">
              <a:buFontTx/>
              <a:buChar char="-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r>
              <a:rPr lang="fa-IR" sz="40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📌 نکته: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“انتشار سریع” ≠ “انتشار مسئولانه”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18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1493667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⚖️ ۳ اصل اخلاقی کلیدی:</a:t>
            </a:r>
          </a:p>
          <a:p>
            <a:endParaRPr lang="fa-IR" sz="6200" dirty="0">
              <a:solidFill>
                <a:srgbClr val="CE7E42"/>
              </a:solidFill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۱. شفافیت:</a:t>
            </a: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	- اگر از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AI 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استفاده کردید، به مخاطب یا سردبیر اطلاع دهید.</a:t>
            </a: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۲. مسئولیت:</a:t>
            </a: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	- شما پاسخگوی صحت و لحن خبر هستید — نه ربات!</a:t>
            </a: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۳. اعتبار:</a:t>
            </a: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	- از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AI 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برای تقویت اعتبار خبر استفاده کنید — نه کاهش آن.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19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2296089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🗣️ بحث حرفه‌ای: شفافیت در تولید محتوا</a:t>
            </a:r>
          </a:p>
          <a:p>
            <a:r>
              <a:rPr lang="fa-IR" sz="4000" dirty="0"/>
              <a:t>آیا باید به مخاطب گفت “این خبر با هوش مصنوعی نوشته شده”؟</a:t>
            </a:r>
          </a:p>
          <a:p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موافقان: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افزایش اعتماد مخاطب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رعایت اصول اخلاق رسانه‌ای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جلوگیری از گمراهی</a:t>
            </a:r>
          </a:p>
          <a:p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r>
              <a:rPr lang="fa-IR" sz="40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✅ راهکار پیشنهادی: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 “این خبر با کمک ابزارهای هوشمند تولید و توسط ویراستار انسانی تأیید شده است.”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20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EC464D-3AF5-46EA-AE54-056DF3732BF9}"/>
              </a:ext>
            </a:extLst>
          </p:cNvPr>
          <p:cNvSpPr/>
          <p:nvPr/>
        </p:nvSpPr>
        <p:spPr>
          <a:xfrm>
            <a:off x="2963333" y="4275372"/>
            <a:ext cx="10343092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rtl="1">
              <a:lnSpc>
                <a:spcPct val="150000"/>
              </a:lnSpc>
            </a:pPr>
            <a:endParaRPr lang="fa-IR" sz="4000" b="1" dirty="0">
              <a:solidFill>
                <a:srgbClr val="164193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0" algn="just" rtl="1">
              <a:lnSpc>
                <a:spcPct val="150000"/>
              </a:lnSpc>
            </a:pPr>
            <a:endParaRPr lang="fa-IR" sz="4000" b="1" dirty="0">
              <a:solidFill>
                <a:srgbClr val="164193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lvl="0" algn="just" rtl="1">
              <a:lnSpc>
                <a:spcPct val="150000"/>
              </a:lnSpc>
            </a:pPr>
            <a:r>
              <a:rPr lang="fa-IR" sz="4000" b="1" dirty="0">
                <a:solidFill>
                  <a:srgbClr val="164193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مخالفان:</a:t>
            </a:r>
          </a:p>
          <a:p>
            <a:pPr marL="571500" lvl="0" indent="-571500" algn="just" rtl="1">
              <a:lnSpc>
                <a:spcPct val="150000"/>
              </a:lnSpc>
              <a:buFontTx/>
              <a:buChar char="-"/>
            </a:pPr>
            <a:r>
              <a:rPr lang="fa-IR" sz="4000" b="1" dirty="0">
                <a:solidFill>
                  <a:srgbClr val="164193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مخاطب ممکن است خبر را “غیرواقعی” تصور کند</a:t>
            </a:r>
          </a:p>
          <a:p>
            <a:pPr marL="571500" lvl="0" indent="-571500" algn="just" rtl="1">
              <a:lnSpc>
                <a:spcPct val="150000"/>
              </a:lnSpc>
              <a:buFontTx/>
              <a:buChar char="-"/>
            </a:pPr>
            <a:r>
              <a:rPr lang="fa-IR" sz="4000" b="1" dirty="0">
                <a:solidFill>
                  <a:srgbClr val="164193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کاهش اعتبار رسانه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30269152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🧠 سوگیری الگوریتمی در انتخاب </a:t>
            </a:r>
            <a:r>
              <a:rPr lang="fa-IR" sz="6200" dirty="0" err="1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اخبارچرا</a:t>
            </a:r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اتفاق می‌افتد؟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داده‌های آموزشی ناقص یا </a:t>
            </a:r>
            <a:r>
              <a:rPr lang="fa-IR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سوگیرانه</a:t>
            </a: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طراحی الگوریتم توسط تیم‌های </a:t>
            </a:r>
            <a:r>
              <a:rPr lang="fa-IR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غیرمتنوع</a:t>
            </a: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تمرکز بر اخبار </a:t>
            </a:r>
            <a:r>
              <a:rPr lang="fa-IR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پراستناد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— نه مهم!</a:t>
            </a:r>
          </a:p>
          <a:p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r>
              <a:rPr lang="fa-IR" sz="40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📌 پیامد: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 اخبار حاشیه‌ای پرطرفدار → جایگزین اخبار مهم اما </a:t>
            </a:r>
            <a:r>
              <a:rPr lang="fa-IR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کم‌طرفدار</a:t>
            </a: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r>
              <a:rPr lang="fa-IR" sz="40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✅ راهکار: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شما باید “فیلتر انسانی” باشید — نه تکیه کامل بر هوش مصنوعی!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21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8675364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📜 اصول کلیدی </a:t>
            </a:r>
            <a:r>
              <a:rPr lang="en-US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UNESCO </a:t>
            </a:r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۲۰۲۳: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احترام به حقوق بشر و آزادی بیان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شفافیت در استفاده از الگوریتم‌ها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مسئولیت‌پذیری در برابر آسیب‌های ناشی از هوش مصنوعی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ترویج تنوع و جلوگیری از تبعیض الگوریتمی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حمایت از خودمختاری انسان در تصمیم‌گیری نهایی</a:t>
            </a:r>
          </a:p>
          <a:p>
            <a:pPr marL="571500" indent="-571500">
              <a:buFontTx/>
              <a:buChar char="-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marL="571500" indent="-571500">
              <a:buFontTx/>
              <a:buChar char="-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r>
              <a:rPr lang="fa-IR" sz="40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🌐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https://unesco.org/artificial-intelligence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22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514808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🚨 نمونه‌های واقعی: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خبر جعلی “استعفای وزیر” تولیدشده با </a:t>
            </a:r>
            <a:r>
              <a:rPr lang="en-US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ChatGPT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— 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منتشر شد در چند سایت!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تصویر </a:t>
            </a:r>
            <a:r>
              <a:rPr lang="en-US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Deepfake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از </a:t>
            </a:r>
            <a:r>
              <a:rPr lang="fa-IR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رئیس‌جمهور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امریکا در حال صحبت — منتشر شد در توییتر!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آمار جعلی “کاهش ۵۰٪ی فقر” — بدون منبع — پخش شد در شبکه‌های خبری!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نگاه کنید:</a:t>
            </a:r>
          </a:p>
          <a:p>
            <a:pPr algn="l"/>
            <a:r>
              <a:rPr lang="fa-IR" sz="32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</a:t>
            </a:r>
            <a:r>
              <a:rPr lang="en-US" sz="3200" dirty="0">
                <a:latin typeface="Calibri" panose="020F0502020204030204" pitchFamily="34" charset="0"/>
                <a:ea typeface="Calibri" panose="020F0502020204030204" pitchFamily="34" charset="0"/>
                <a:cs typeface="+mj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https://www.theguardian.com/commentisfree/2023/apr/06/ai-chatgpt-guardian-technology-risks-fake-article</a:t>
            </a:r>
            <a:endParaRPr lang="fa-IR" sz="32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marL="571500" indent="-571500">
              <a:buFontTx/>
              <a:buChar char="-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r>
              <a:rPr lang="fa-IR" sz="40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✅ درس: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بدون تأیید انسانی — هوش مصنوعی می‌تواند ابزار خطرناکی باشد!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23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225050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🔍 فعالیت عملی: بررسی یک خبر مشکوک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یک خبر مشکوک (واقعی یا فرضی) را با هم بررسی می‌کنیم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با استفاده از:    </a:t>
            </a: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	۱.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Google Reverse Image Search</a:t>
            </a:r>
          </a:p>
          <a:p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	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۲.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Grammarly 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برای بررسی لحن</a:t>
            </a: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	۳. جستجوی </a:t>
            </a:r>
            <a:r>
              <a:rPr lang="fa-IR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کلیدواژه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در منابع معتبر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گزارش کوتاه: این خبر قابل انتشار است یا خیر؟ چرا؟</a:t>
            </a:r>
          </a:p>
          <a:p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r>
              <a:rPr lang="en-US" sz="40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⏱️ </a:t>
            </a:r>
            <a:r>
              <a:rPr lang="fa-IR" sz="40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زمان: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۱۰ دقیقه — </a:t>
            </a:r>
            <a:r>
              <a:rPr lang="fa-IR" sz="40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ارائه: 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۵ دقیقه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24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5276803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©️ هوش مصنوعی و حقوق نشر</a:t>
            </a: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ابزارهای تشخیص سرقت ادبی:</a:t>
            </a:r>
          </a:p>
          <a:p>
            <a:pPr marL="571500" indent="-571500">
              <a:buFontTx/>
              <a:buChar char="-"/>
            </a:pPr>
            <a:r>
              <a:rPr lang="en-US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Copyscape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—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https://www.copyscape.com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برای وب</a:t>
            </a:r>
          </a:p>
          <a:p>
            <a:pPr marL="571500" indent="-571500">
              <a:buFontTx/>
              <a:buChar char="-"/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Turnitin —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https://www.turnitin.com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 برای متون آکادمیک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Plagiarism Checker X —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https://plagiarismcheckerx.com</a:t>
            </a: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marL="571500" indent="-571500">
              <a:buFontTx/>
              <a:buChar char="-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marL="571500" indent="-571500">
              <a:buFontTx/>
              <a:buChar char="-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marL="571500" indent="-571500">
              <a:buFontTx/>
              <a:buChar char="-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r>
              <a:rPr lang="fa-IR" sz="40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📌 نکته: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محتوای تولیدشده با هوش مصنوعی هم ممکن است کپی باشد — حتماً بررسی کنید!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25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3441735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🔐 حریم خصوصی در استفاده از هوش مصنوعی </a:t>
            </a: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هیچ‌گاه در ابزارهای عمومی وارد نکنید: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اسناد طبقه‌بندی‌شده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اطلاعات شخصی افراد (شماره ملی، شماره تماس)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مصاحبه‌های محرمانه قبل از انتشار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داده‌های داخلی سازمان</a:t>
            </a:r>
          </a:p>
          <a:p>
            <a:r>
              <a:rPr lang="fa-IR" sz="40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✅ راهکار: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از ابزارهای داخلی یا بومی با حریم خصوصی بالا استفاده کنید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از حساب‌های جداگانه برای کارهای حساس استفاده کنید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26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5186521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👥 فعالیت گروهی (۳ نفره — ۱۰ دقیقه)</a:t>
            </a: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موضوع: تدوین “</a:t>
            </a:r>
            <a:r>
              <a:rPr lang="fa-IR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چک‌لیست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اخلاقی استفاده از هوش مصنوعی در خبرگزاری ایرنا”</a:t>
            </a: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موارد پیشنهادی: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شفافیت در استفاده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تأیید نهایی توسط انسان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رعایت حریم خصوصی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جلوگیری از تولید محتوای </a:t>
            </a:r>
            <a:r>
              <a:rPr lang="fa-IR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تفرقه‌انگیز</a:t>
            </a: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ذکر منابع</a:t>
            </a:r>
          </a:p>
          <a:p>
            <a:r>
              <a:rPr lang="fa-IR" sz="40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ارائه: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۲ دقیقه برای هر گروه — ترکیب بهترین نکات در </a:t>
            </a:r>
            <a:r>
              <a:rPr lang="fa-IR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چک‌لیست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نهایی دوره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27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6417396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🏠 تکلیف: بررسی یک خبر با ۳ ابزار </a:t>
            </a:r>
            <a:r>
              <a:rPr lang="en-US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Fact-Checking</a:t>
            </a:r>
            <a:endParaRPr lang="fa-IR" sz="6200" dirty="0">
              <a:solidFill>
                <a:srgbClr val="CE7E42"/>
              </a:solidFill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۱. یک خبر مشکوک (انگلیسی) پیدا کنید</a:t>
            </a: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۲. با ۳ ابزار زیر بررسی کنید:</a:t>
            </a:r>
          </a:p>
          <a:p>
            <a:pPr marL="571500" indent="-571500">
              <a:buFontTx/>
              <a:buChar char="-"/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Google Reverse Image Search</a:t>
            </a:r>
          </a:p>
          <a:p>
            <a:pPr marL="571500" indent="-571500">
              <a:buFontTx/>
              <a:buChar char="-"/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Grammarly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برای لحن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جستجوی </a:t>
            </a:r>
            <a:r>
              <a:rPr lang="fa-IR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کلیدواژه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در ۲ منبع معتبر</a:t>
            </a: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۳. گزارش ۱۰۰ کلمه‌ای بنویسید: “این خبر قابل اعتماد است یا خیر؟ چرا؟”</a:t>
            </a:r>
          </a:p>
          <a:p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r>
              <a:rPr lang="fa-IR" sz="40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📌 هدف: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تقویت دقت و حس شک‌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healthy skepticism 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در استفاده از هوش مصنوعی!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28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539216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📚 منابع پیشنهادی: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اصول اخلاق رسانه‌ای انجمن روزنامه‌نگاران ایران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منشور اخلاقی روزنامه‌نگاران؛ اصول حرفه‌ای خبرنگار </a:t>
            </a:r>
            <a:r>
              <a:rPr lang="fa-IR" sz="400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(ایرنا)</a:t>
            </a: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کد اخلاق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UNESCO 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در استفاده از هوش مصنوعی  </a:t>
            </a:r>
          </a:p>
          <a:p>
            <a:pPr marL="571500" indent="-571500">
              <a:buFontTx/>
              <a:buChar char="-"/>
            </a:pP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کتاب: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Ethics for the Information Age — Michael Quinn</a:t>
            </a:r>
          </a:p>
          <a:p>
            <a:pPr marL="571500" indent="-571500">
              <a:buFontTx/>
              <a:buChar char="-"/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</a:t>
            </a:r>
            <a:r>
              <a:rPr lang="fa-IR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وبسایت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: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https://spj.org/ethicscode.asp</a:t>
            </a: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r>
              <a:rPr lang="fa-IR" sz="40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🎯 نکته: 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اخلاق = سرمایه‌گذاری برای حفظ اعتبار بلندمدت رسانه!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29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0134777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📌 ۳ نکته کلیدی جلسه چهارم:</a:t>
            </a: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۱. ویرایش هوشمند = افزایش دقت و اعتبار خبر</a:t>
            </a: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۲.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Fact-Checking 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با </a:t>
            </a: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AI = 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ضروری — اما کافی نیست! همیشه تأیید انسانی حیاتی است</a:t>
            </a:r>
          </a:p>
          <a:p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۳. اخلاق = </a:t>
            </a:r>
            <a:r>
              <a:rPr lang="fa-IR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پایه‌ای‌ترین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عنصر در خبرنگاری هوشمند — بدون آن، فناوری خطرناک است!</a:t>
            </a:r>
          </a:p>
          <a:p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+mj-cs"/>
            </a:endParaRPr>
          </a:p>
          <a:p>
            <a:r>
              <a:rPr lang="fa-IR" sz="4000" dirty="0">
                <a:solidFill>
                  <a:srgbClr val="CE7E42"/>
                </a:solidFill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🎯 هدف: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 تبدیل شدن به “خبرنگار </a:t>
            </a:r>
            <a:r>
              <a:rPr lang="fa-IR" sz="4000" dirty="0" err="1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مسئولیت‌پذیر</a:t>
            </a:r>
            <a:r>
              <a:rPr lang="fa-IR" sz="4000" dirty="0">
                <a:latin typeface="Calibri" panose="020F0502020204030204" pitchFamily="34" charset="0"/>
                <a:ea typeface="Calibri" panose="020F0502020204030204" pitchFamily="34" charset="0"/>
                <a:cs typeface="+mj-cs"/>
              </a:rPr>
              <a:t>” در عصر هوش مصنوعی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30</a:t>
            </a:fld>
            <a:endParaRPr lang="fa-IR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B125108D-E923-4990-B2E5-0E5852355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3388" y="928688"/>
            <a:ext cx="21918612" cy="925512"/>
          </a:xfrm>
        </p:spPr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9071425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cs typeface="B Koodak" panose="00000700000000000000" pitchFamily="2" charset="-78"/>
              </a:rPr>
              <a:t>✅</a:t>
            </a:r>
            <a:r>
              <a:rPr lang="ko-KR" altLang="en-US" sz="6200" dirty="0">
                <a:solidFill>
                  <a:srgbClr val="CE7E42"/>
                </a:solidFill>
                <a:cs typeface="B Koodak" panose="00000700000000000000" pitchFamily="2" charset="-78"/>
              </a:rPr>
              <a:t> </a:t>
            </a:r>
            <a:r>
              <a:rPr lang="fa-IR" sz="6200" dirty="0">
                <a:solidFill>
                  <a:srgbClr val="CE7E42"/>
                </a:solidFill>
                <a:cs typeface="B Koodak" panose="00000700000000000000" pitchFamily="2" charset="-78"/>
              </a:rPr>
              <a:t>دسترسی </a:t>
            </a:r>
            <a:r>
              <a:rPr lang="fa-IR" sz="6200">
                <a:solidFill>
                  <a:srgbClr val="CE7E42"/>
                </a:solidFill>
                <a:cs typeface="B Koodak" panose="00000700000000000000" pitchFamily="2" charset="-78"/>
              </a:rPr>
              <a:t>به منابع:</a:t>
            </a:r>
            <a:endParaRPr lang="fa-IR" sz="6200" dirty="0">
              <a:solidFill>
                <a:srgbClr val="CE7E42"/>
              </a:solidFill>
              <a:cs typeface="B Koodak" panose="00000700000000000000" pitchFamily="2" charset="-78"/>
            </a:endParaRPr>
          </a:p>
          <a:p>
            <a:pPr rtl="0"/>
            <a:endParaRPr lang="en-US" sz="6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rtl="0"/>
            <a:endParaRPr lang="en-US" sz="6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rtl="0"/>
            <a:endParaRPr lang="en-US" sz="6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rtl="0"/>
            <a:endParaRPr lang="en-US" sz="6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rtl="0"/>
            <a:r>
              <a:rPr lang="en-US" sz="6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https://github.com/khadem/IrnaAI</a:t>
            </a:r>
            <a:endParaRPr lang="en-US" sz="6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rtl="0"/>
            <a:endParaRPr lang="fa-IR" sz="6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>
              <a:buFontTx/>
              <a:buChar char="-"/>
            </a:pPr>
            <a:endParaRPr lang="fa-IR" sz="4000" dirty="0">
              <a:cs typeface="B Koodak" panose="00000700000000000000" pitchFamily="2" charset="-78"/>
            </a:endParaRPr>
          </a:p>
          <a:p>
            <a:pPr marL="571500" indent="-571500">
              <a:buFontTx/>
              <a:buChar char="-"/>
            </a:pPr>
            <a:endParaRPr lang="fa-IR" sz="4000" dirty="0">
              <a:cs typeface="B Koodak" panose="00000700000000000000" pitchFamily="2" charset="-78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31</a:t>
            </a:fld>
            <a:endParaRPr lang="fa-IR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/>
              <a:t>کاربردهای هوش مصنوعی در خبرنگاری</a:t>
            </a:r>
            <a:endParaRPr lang="fa-IR" dirty="0">
              <a:cs typeface="B Koodak" panose="00000700000000000000" pitchFamily="2" charset="-78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D1633C1-3DA7-4DA7-AC74-527A9ECE8E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12657" y="4687237"/>
            <a:ext cx="4927293" cy="4927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1133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133600" y="2784763"/>
            <a:ext cx="20061382" cy="9305637"/>
          </a:xfrm>
          <a:solidFill>
            <a:schemeClr val="bg2">
              <a:alpha val="75000"/>
            </a:schemeClr>
          </a:solidFill>
        </p:spPr>
        <p:txBody>
          <a:bodyPr>
            <a:noAutofit/>
          </a:bodyPr>
          <a:lstStyle/>
          <a:p>
            <a:r>
              <a:rPr lang="fa-IR" sz="6200" dirty="0">
                <a:solidFill>
                  <a:srgbClr val="CE7E42"/>
                </a:solidFill>
                <a:cs typeface="B Koodak" panose="00000700000000000000" pitchFamily="2" charset="-78"/>
              </a:rPr>
              <a:t>✅ پیوندها: </a:t>
            </a:r>
            <a:endParaRPr lang="fa-IR" sz="6200" dirty="0">
              <a:cs typeface="B Koodak" panose="00000700000000000000" pitchFamily="2" charset="-78"/>
            </a:endParaRPr>
          </a:p>
          <a:p>
            <a:pPr marL="571500" indent="-571500" rtl="0">
              <a:buFont typeface="Courier New" panose="02070309020205020404" pitchFamily="49" charset="0"/>
              <a:buChar char="o"/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https://languagetool.org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rtl="0">
              <a:buFont typeface="Courier New" panose="02070309020205020404" pitchFamily="49" charset="0"/>
              <a:buChar char="o"/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https://github.com/languagetool-org/languagetool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rtl="0">
              <a:buFont typeface="Courier New" panose="02070309020205020404" pitchFamily="49" charset="0"/>
              <a:buChar char="o"/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https://hemingwayapp.com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rtl="0">
              <a:buFont typeface="Courier New" panose="02070309020205020404" pitchFamily="49" charset="0"/>
              <a:buChar char="o"/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https://prowritingaid.com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rtl="0">
              <a:buFont typeface="Courier New" panose="02070309020205020404" pitchFamily="49" charset="0"/>
              <a:buChar char="o"/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https://fullfact.org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rtl="0">
              <a:buFont typeface="Courier New" panose="02070309020205020404" pitchFamily="49" charset="0"/>
              <a:buChar char="o"/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https://claimbuster.io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rtl="0">
              <a:buFont typeface="Courier New" panose="02070309020205020404" pitchFamily="49" charset="0"/>
              <a:buChar char="o"/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https://www.logically.ai</a:t>
            </a: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rtl="0">
              <a:buFont typeface="Courier New" panose="02070309020205020404" pitchFamily="49" charset="0"/>
              <a:buChar char="o"/>
            </a:pPr>
            <a:r>
              <a:rPr lang="en-US" sz="4000" dirty="0">
                <a:latin typeface="Calibri" panose="020F0502020204030204" pitchFamily="34" charset="0"/>
                <a:ea typeface="Calibri" panose="020F0502020204030204" pitchFamily="34" charset="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https://unesco.org/artificial-intelligence</a:t>
            </a:r>
            <a:endParaRPr lang="en-US" sz="4000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571500" indent="-571500" rtl="0">
              <a:buFont typeface="Courier New" panose="02070309020205020404" pitchFamily="49" charset="0"/>
              <a:buChar char="o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571500" indent="-571500" rtl="0">
              <a:buFont typeface="Courier New" panose="02070309020205020404" pitchFamily="49" charset="0"/>
              <a:buChar char="o"/>
            </a:pPr>
            <a:endParaRPr lang="fa-IR" sz="4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7264DD-8205-481D-9B6A-9CE0D2D966EE}" type="slidenum">
              <a:rPr lang="fa-IR" smtClean="0"/>
              <a:t>32</a:t>
            </a:fld>
            <a:endParaRPr lang="fa-IR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a-IR" dirty="0">
                <a:latin typeface="w_Dabestan Pro" panose="02000500000000020004" pitchFamily="2" charset="-78"/>
                <a:cs typeface="+mj-cs"/>
              </a:rPr>
              <a:t>کاربردهای هوش مصنوعی در خبرنگاری</a:t>
            </a:r>
          </a:p>
        </p:txBody>
      </p:sp>
    </p:spTree>
    <p:extLst>
      <p:ext uri="{BB962C8B-B14F-4D97-AF65-F5344CB8AC3E}">
        <p14:creationId xmlns:p14="http://schemas.microsoft.com/office/powerpoint/2010/main" val="668080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" y="5979288"/>
            <a:ext cx="9253538" cy="926021"/>
          </a:xfrm>
        </p:spPr>
        <p:txBody>
          <a:bodyPr/>
          <a:lstStyle/>
          <a:p>
            <a:r>
              <a:rPr lang="fa-IR" dirty="0">
                <a:solidFill>
                  <a:srgbClr val="CE7E42"/>
                </a:solidFill>
              </a:rPr>
              <a:t>با تشکر از توجه شما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6AB109B-1441-4D04-9FAC-1EB6C0AD62E4}"/>
              </a:ext>
            </a:extLst>
          </p:cNvPr>
          <p:cNvSpPr txBox="1">
            <a:spLocks/>
          </p:cNvSpPr>
          <p:nvPr/>
        </p:nvSpPr>
        <p:spPr>
          <a:xfrm>
            <a:off x="10761133" y="5979288"/>
            <a:ext cx="6036205" cy="9260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r" defTabSz="1828709" rtl="1" eaLnBrk="1" latinLnBrk="0" hangingPunct="1">
              <a:lnSpc>
                <a:spcPct val="90000"/>
              </a:lnSpc>
              <a:spcBef>
                <a:spcPct val="0"/>
              </a:spcBef>
              <a:buSzPct val="80000"/>
              <a:buFontTx/>
              <a:buNone/>
              <a:defRPr sz="5200" b="1" kern="1200" baseline="0">
                <a:solidFill>
                  <a:srgbClr val="164193"/>
                </a:solidFill>
                <a:latin typeface="+mj-lt"/>
                <a:ea typeface="+mj-ea"/>
                <a:cs typeface="B Koodak" panose="00000700000000000000" pitchFamily="2" charset="-78"/>
              </a:defRPr>
            </a:lvl1pPr>
          </a:lstStyle>
          <a:p>
            <a:endParaRPr lang="fa-IR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170301F-832D-4961-AD16-5D41E861AB36}"/>
              </a:ext>
            </a:extLst>
          </p:cNvPr>
          <p:cNvSpPr txBox="1">
            <a:spLocks/>
          </p:cNvSpPr>
          <p:nvPr/>
        </p:nvSpPr>
        <p:spPr>
          <a:xfrm>
            <a:off x="10761133" y="6129276"/>
            <a:ext cx="9253538" cy="9260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r" defTabSz="1828709" rtl="1" eaLnBrk="1" latinLnBrk="0" hangingPunct="1">
              <a:lnSpc>
                <a:spcPct val="90000"/>
              </a:lnSpc>
              <a:spcBef>
                <a:spcPct val="0"/>
              </a:spcBef>
              <a:buSzPct val="80000"/>
              <a:buFontTx/>
              <a:buNone/>
              <a:defRPr sz="5200" b="1" kern="1200" baseline="0">
                <a:solidFill>
                  <a:srgbClr val="164193"/>
                </a:solidFill>
                <a:latin typeface="+mj-lt"/>
                <a:ea typeface="+mj-ea"/>
                <a:cs typeface="B Koodak" panose="00000700000000000000" pitchFamily="2" charset="-78"/>
              </a:defRPr>
            </a:lvl1pPr>
          </a:lstStyle>
          <a:p>
            <a:pPr algn="l"/>
            <a:r>
              <a:rPr lang="fa-IR" sz="4800" dirty="0"/>
              <a:t>کاربردهای</a:t>
            </a:r>
          </a:p>
          <a:p>
            <a:pPr algn="l"/>
            <a:r>
              <a:rPr lang="fa-IR" sz="4800" dirty="0"/>
              <a:t> هوش مصنوعی</a:t>
            </a:r>
          </a:p>
          <a:p>
            <a:pPr algn="l"/>
            <a:r>
              <a:rPr lang="fa-IR" sz="4800" dirty="0"/>
              <a:t> در روزنامه نگاری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5FB9BAA-1476-4F60-AEE1-62A744CDF91D}"/>
              </a:ext>
            </a:extLst>
          </p:cNvPr>
          <p:cNvSpPr txBox="1">
            <a:spLocks/>
          </p:cNvSpPr>
          <p:nvPr/>
        </p:nvSpPr>
        <p:spPr>
          <a:xfrm>
            <a:off x="5334001" y="8654756"/>
            <a:ext cx="9253538" cy="9260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r" defTabSz="1828709" rtl="1" eaLnBrk="1" latinLnBrk="0" hangingPunct="1">
              <a:lnSpc>
                <a:spcPct val="90000"/>
              </a:lnSpc>
              <a:spcBef>
                <a:spcPct val="0"/>
              </a:spcBef>
              <a:buSzPct val="80000"/>
              <a:buFontTx/>
              <a:buNone/>
              <a:defRPr sz="5200" b="1" kern="1200" baseline="0">
                <a:solidFill>
                  <a:srgbClr val="164193"/>
                </a:solidFill>
                <a:latin typeface="+mj-lt"/>
                <a:ea typeface="+mj-ea"/>
                <a:cs typeface="B Koodak" panose="00000700000000000000" pitchFamily="2" charset="-78"/>
              </a:defRPr>
            </a:lvl1pPr>
          </a:lstStyle>
          <a:p>
            <a:pPr algn="ctr"/>
            <a:r>
              <a:rPr lang="en-US" sz="3200" dirty="0"/>
              <a:t>mostafa.khadem@live.com</a:t>
            </a:r>
            <a:endParaRPr lang="fa-IR" dirty="0"/>
          </a:p>
        </p:txBody>
      </p:sp>
    </p:spTree>
    <p:extLst>
      <p:ext uri="{BB962C8B-B14F-4D97-AF65-F5344CB8AC3E}">
        <p14:creationId xmlns:p14="http://schemas.microsoft.com/office/powerpoint/2010/main" val="2435290586"/>
      </p:ext>
    </p:extLst>
  </p:cSld>
  <p:clrMapOvr>
    <a:masterClrMapping/>
  </p:clrMapOvr>
</p:sld>
</file>

<file path=ppt/theme/theme1.xml><?xml version="1.0" encoding="utf-8"?>
<a:theme xmlns:a="http://schemas.openxmlformats.org/drawingml/2006/main" name="Kimia inside">
  <a:themeElements>
    <a:clrScheme name="kimia co.">
      <a:dk1>
        <a:sysClr val="windowText" lastClr="000000"/>
      </a:dk1>
      <a:lt1>
        <a:sysClr val="window" lastClr="FFFFFF"/>
      </a:lt1>
      <a:dk2>
        <a:srgbClr val="6E6E6E"/>
      </a:dk2>
      <a:lt2>
        <a:srgbClr val="DDDDDD"/>
      </a:lt2>
      <a:accent1>
        <a:srgbClr val="164193"/>
      </a:accent1>
      <a:accent2>
        <a:srgbClr val="CE7E42"/>
      </a:accent2>
      <a:accent3>
        <a:srgbClr val="A5A5A5"/>
      </a:accent3>
      <a:accent4>
        <a:srgbClr val="DFAB84"/>
      </a:accent4>
      <a:accent5>
        <a:srgbClr val="738DBE"/>
      </a:accent5>
      <a:accent6>
        <a:srgbClr val="EED2BE"/>
      </a:accent6>
      <a:hlink>
        <a:srgbClr val="AAAAAA"/>
      </a:hlink>
      <a:folHlink>
        <a:srgbClr val="ADBCD9"/>
      </a:folHlink>
    </a:clrScheme>
    <a:fontScheme name="Custom 2">
      <a:majorFont>
        <a:latin typeface="Arial"/>
        <a:ea typeface=""/>
        <a:cs typeface="B Koodak"/>
      </a:majorFont>
      <a:minorFont>
        <a:latin typeface="Arial"/>
        <a:ea typeface=""/>
        <a:cs typeface="B Koodak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3100</TotalTime>
  <Words>1900</Words>
  <Application>Microsoft Office PowerPoint</Application>
  <PresentationFormat>Custom</PresentationFormat>
  <Paragraphs>339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1" baseType="lpstr">
      <vt:lpstr>Arial</vt:lpstr>
      <vt:lpstr>B Koodak</vt:lpstr>
      <vt:lpstr>B Yekan</vt:lpstr>
      <vt:lpstr>Calibri</vt:lpstr>
      <vt:lpstr>Courier New</vt:lpstr>
      <vt:lpstr>IRANYekan</vt:lpstr>
      <vt:lpstr>w_Dabestan Pro</vt:lpstr>
      <vt:lpstr>Kimia inside</vt:lpstr>
      <vt:lpstr>کاربردهای هوش مصنوعی در خبرنگاری جلسه چهارم: قوانین و اخلاق در هوش مصنوعی</vt:lpstr>
      <vt:lpstr>PowerPoint Presentation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کاربردهای هوش مصنوعی در خبرنگاری</vt:lpstr>
      <vt:lpstr>با تشکر از توجه شما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user_surface2017@outlook.com</dc:creator>
  <cp:lastModifiedBy>Mostafa Khademolmele</cp:lastModifiedBy>
  <cp:revision>349</cp:revision>
  <dcterms:created xsi:type="dcterms:W3CDTF">2025-05-03T09:57:37Z</dcterms:created>
  <dcterms:modified xsi:type="dcterms:W3CDTF">2025-10-18T06:44:36Z</dcterms:modified>
</cp:coreProperties>
</file>